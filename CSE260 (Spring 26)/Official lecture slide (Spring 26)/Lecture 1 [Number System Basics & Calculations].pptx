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y="5143500" cx="9144000"/>
  <p:notesSz cx="6858000" cy="9144000"/>
  <p:embeddedFontLst>
    <p:embeddedFont>
      <p:font typeface="Roboto Mono Medium"/>
      <p:regular r:id="rId51"/>
      <p:bold r:id="rId52"/>
      <p:italic r:id="rId53"/>
      <p:boldItalic r:id="rId54"/>
    </p:embeddedFont>
    <p:embeddedFont>
      <p:font typeface="Lexend Light"/>
      <p:regular r:id="rId55"/>
      <p:bold r:id="rId56"/>
    </p:embeddedFont>
    <p:embeddedFont>
      <p:font typeface="Tahoma"/>
      <p:regular r:id="rId57"/>
      <p:bold r:id="rId58"/>
    </p:embeddedFont>
    <p:embeddedFont>
      <p:font typeface="Lexend"/>
      <p:regular r:id="rId59"/>
      <p:bold r:id="rId60"/>
    </p:embeddedFont>
    <p:embeddedFont>
      <p:font typeface="Roboto Mono"/>
      <p:regular r:id="rId61"/>
      <p:bold r:id="rId62"/>
      <p:italic r:id="rId63"/>
      <p:boldItalic r:id="rId6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6F2DF35-4588-4131-A6C4-22402FBD9EB5}">
  <a:tblStyle styleId="{66F2DF35-4588-4131-A6C4-22402FBD9EB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RobotoMono-bold.fntdata"/><Relationship Id="rId61" Type="http://schemas.openxmlformats.org/officeDocument/2006/relationships/font" Target="fonts/RobotoMono-regular.fntdata"/><Relationship Id="rId20" Type="http://schemas.openxmlformats.org/officeDocument/2006/relationships/slide" Target="slides/slide14.xml"/><Relationship Id="rId64" Type="http://schemas.openxmlformats.org/officeDocument/2006/relationships/font" Target="fonts/RobotoMono-boldItalic.fntdata"/><Relationship Id="rId63" Type="http://schemas.openxmlformats.org/officeDocument/2006/relationships/font" Target="fonts/RobotoMono-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Lexend-bold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RobotoMonoMedium-regular.fntdata"/><Relationship Id="rId50" Type="http://schemas.openxmlformats.org/officeDocument/2006/relationships/slide" Target="slides/slide44.xml"/><Relationship Id="rId53" Type="http://schemas.openxmlformats.org/officeDocument/2006/relationships/font" Target="fonts/RobotoMonoMedium-italic.fntdata"/><Relationship Id="rId52" Type="http://schemas.openxmlformats.org/officeDocument/2006/relationships/font" Target="fonts/RobotoMonoMedium-bold.fntdata"/><Relationship Id="rId11" Type="http://schemas.openxmlformats.org/officeDocument/2006/relationships/slide" Target="slides/slide5.xml"/><Relationship Id="rId55" Type="http://schemas.openxmlformats.org/officeDocument/2006/relationships/font" Target="fonts/LexendLight-regular.fntdata"/><Relationship Id="rId10" Type="http://schemas.openxmlformats.org/officeDocument/2006/relationships/slide" Target="slides/slide4.xml"/><Relationship Id="rId54" Type="http://schemas.openxmlformats.org/officeDocument/2006/relationships/font" Target="fonts/RobotoMonoMedium-boldItalic.fntdata"/><Relationship Id="rId13" Type="http://schemas.openxmlformats.org/officeDocument/2006/relationships/slide" Target="slides/slide7.xml"/><Relationship Id="rId57" Type="http://schemas.openxmlformats.org/officeDocument/2006/relationships/font" Target="fonts/Tahoma-regular.fntdata"/><Relationship Id="rId12" Type="http://schemas.openxmlformats.org/officeDocument/2006/relationships/slide" Target="slides/slide6.xml"/><Relationship Id="rId56" Type="http://schemas.openxmlformats.org/officeDocument/2006/relationships/font" Target="fonts/LexendLight-bold.fntdata"/><Relationship Id="rId15" Type="http://schemas.openxmlformats.org/officeDocument/2006/relationships/slide" Target="slides/slide9.xml"/><Relationship Id="rId59" Type="http://schemas.openxmlformats.org/officeDocument/2006/relationships/font" Target="fonts/Lexend-regular.fntdata"/><Relationship Id="rId14" Type="http://schemas.openxmlformats.org/officeDocument/2006/relationships/slide" Target="slides/slide8.xml"/><Relationship Id="rId58" Type="http://schemas.openxmlformats.org/officeDocument/2006/relationships/font" Target="fonts/Tahoma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614607bec3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614607bec3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61495c2e2e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61495c2e2e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61495c2e2e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61495c2e2e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61495c2e2e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61495c2e2e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61495c2e2e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61495c2e2e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61495c2e2e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61495c2e2e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61495c2e2e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61495c2e2e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61495c2e2e_0_2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61495c2e2e_0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61495c2e2e_0_3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61495c2e2e_0_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61495c2e2e_0_4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61495c2e2e_0_4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61495c2e2e_0_4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61495c2e2e_0_4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61495c2e2e_0_4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61495c2e2e_0_4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61495c2e2e_0_5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61495c2e2e_0_5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61495c2e2e_0_5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61495c2e2e_0_5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61495c2e2e_0_5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61495c2e2e_0_5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61495c2e2e_0_5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361495c2e2e_0_5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61495c2e2e_0_4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361495c2e2e_0_4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61495c2e2e_0_6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361495c2e2e_0_6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61495c2e2e_0_6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61495c2e2e_0_6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61495c2e2e_0_6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361495c2e2e_0_6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9c685c5dc2_25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39c685c5dc2_25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9c685c5dc2_25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39c685c5dc2_25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9c685c5dc2_25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9c685c5dc2_25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9c685c5dc2_25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g39c685c5dc2_25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61495c2e2e_0_6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361495c2e2e_0_6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61495c2e2e_0_7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361495c2e2e_0_7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361495c2e2e_0_7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9" name="Google Shape;619;g361495c2e2e_0_7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361495c2e2e_0_7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5" name="Google Shape;635;g361495c2e2e_0_7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361495c2e2e_0_7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5" name="Google Shape;655;g361495c2e2e_0_7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61495c2e2e_0_8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2" name="Google Shape;672;g361495c2e2e_0_8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361495c2e2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9" name="Google Shape;689;g361495c2e2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g361495c2e2e_0_8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4" name="Google Shape;704;g361495c2e2e_0_8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361495c2e2e_0_8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0" name="Google Shape;720;g361495c2e2e_0_8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361495c2e2e_0_9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361495c2e2e_0_9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361495c2e2e_0_9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6" name="Google Shape;756;g361495c2e2e_0_9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361495c2e2e_0_9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g361495c2e2e_0_9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g361495c2e2e_0_10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9" name="Google Shape;789;g361495c2e2e_0_10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g361495c2e2e_0_10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1" name="Google Shape;811;g361495c2e2e_0_10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g361495c2e2e_0_1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1" name="Google Shape;831;g361495c2e2e_0_1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361495c2e2e_0_1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8" name="Google Shape;848;g361495c2e2e_0_1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g361495c2e2e_0_1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5" name="Google Shape;865;g361495c2e2e_0_1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g361495c2e2e_0_1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7" name="Google Shape;887;g361495c2e2e_0_1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g361495c2e2e_0_1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6" name="Google Shape;906;g361495c2e2e_0_1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8.jpg"/><Relationship Id="rId5" Type="http://schemas.openxmlformats.org/officeDocument/2006/relationships/image" Target="../media/image7.jpg"/><Relationship Id="rId6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1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.jp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11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4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08725" y="344175"/>
            <a:ext cx="8501100" cy="20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0">
                <a:latin typeface="Lexend"/>
                <a:ea typeface="Lexend"/>
                <a:cs typeface="Lexend"/>
                <a:sym typeface="Lexend"/>
              </a:rPr>
              <a:t>Lecture 1</a:t>
            </a:r>
            <a:endParaRPr sz="6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200">
                <a:latin typeface="Lexend"/>
                <a:ea typeface="Lexend"/>
                <a:cs typeface="Lexend"/>
                <a:sym typeface="Lexend"/>
              </a:rPr>
              <a:t>Number System &amp; Calculations</a:t>
            </a:r>
            <a:endParaRPr sz="6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0" y="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Engineering, BRAC University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321450" y="4484225"/>
            <a:ext cx="8501100" cy="10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>
                <a:latin typeface="Lexend"/>
                <a:ea typeface="Lexend"/>
                <a:cs typeface="Lexend"/>
                <a:sym typeface="Lexend"/>
              </a:rPr>
              <a:t>CSE260 : Digital Logic Design</a:t>
            </a:r>
            <a:endParaRPr sz="50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Close-up of number (Provided by Getty Images)" id="58" name="Google Shape;5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6450" y="2501775"/>
            <a:ext cx="2753818" cy="18300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lculator   accounting   calculation (Provided by Getty Images)" id="59" name="Google Shape;59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56968" y="2501775"/>
            <a:ext cx="1830052" cy="18300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usinesswoman writing make note and thinking about problem with calculation. (Provided by Getty Images)" id="60" name="Google Shape;60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76794" y="2501775"/>
            <a:ext cx="2745743" cy="1830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69" name="Google Shape;69;p14"/>
          <p:cNvSpPr/>
          <p:nvPr/>
        </p:nvSpPr>
        <p:spPr>
          <a:xfrm>
            <a:off x="364825" y="1324925"/>
            <a:ext cx="3873000" cy="3480300"/>
          </a:xfrm>
          <a:prstGeom prst="roundRect">
            <a:avLst>
              <a:gd fmla="val 4803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4"/>
          <p:cNvSpPr/>
          <p:nvPr/>
        </p:nvSpPr>
        <p:spPr>
          <a:xfrm>
            <a:off x="4828700" y="1324925"/>
            <a:ext cx="3873000" cy="3480300"/>
          </a:xfrm>
          <a:prstGeom prst="roundRect">
            <a:avLst>
              <a:gd fmla="val 4803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1" name="Google Shape;71;p14"/>
          <p:cNvGrpSpPr/>
          <p:nvPr/>
        </p:nvGrpSpPr>
        <p:grpSpPr>
          <a:xfrm>
            <a:off x="4922013" y="1426240"/>
            <a:ext cx="277873" cy="68400"/>
            <a:chOff x="5024113" y="2416840"/>
            <a:chExt cx="277873" cy="68400"/>
          </a:xfrm>
        </p:grpSpPr>
        <p:sp>
          <p:nvSpPr>
            <p:cNvPr id="72" name="Google Shape;72;p14"/>
            <p:cNvSpPr/>
            <p:nvPr/>
          </p:nvSpPr>
          <p:spPr>
            <a:xfrm>
              <a:off x="5024113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4"/>
            <p:cNvSpPr/>
            <p:nvPr/>
          </p:nvSpPr>
          <p:spPr>
            <a:xfrm>
              <a:off x="5128849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4"/>
            <p:cNvSpPr/>
            <p:nvPr/>
          </p:nvSpPr>
          <p:spPr>
            <a:xfrm>
              <a:off x="5233585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5" name="Google Shape;75;p14"/>
          <p:cNvGrpSpPr/>
          <p:nvPr/>
        </p:nvGrpSpPr>
        <p:grpSpPr>
          <a:xfrm>
            <a:off x="422950" y="1426240"/>
            <a:ext cx="277873" cy="68400"/>
            <a:chOff x="411700" y="2416840"/>
            <a:chExt cx="277873" cy="68400"/>
          </a:xfrm>
        </p:grpSpPr>
        <p:sp>
          <p:nvSpPr>
            <p:cNvPr id="76" name="Google Shape;76;p1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9" name="Google Shape;79;p14"/>
          <p:cNvSpPr txBox="1"/>
          <p:nvPr/>
        </p:nvSpPr>
        <p:spPr>
          <a:xfrm>
            <a:off x="354925" y="1557600"/>
            <a:ext cx="3891900" cy="3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Lexend Light"/>
              <a:buChar char="➔"/>
            </a:pPr>
            <a:r>
              <a:rPr lang="en" sz="2100">
                <a:latin typeface="Lexend Light"/>
                <a:ea typeface="Lexend Light"/>
                <a:cs typeface="Lexend Light"/>
                <a:sym typeface="Lexend Light"/>
              </a:rPr>
              <a:t>Distinguish between analog and digital system</a:t>
            </a:r>
            <a:endParaRPr sz="21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Lexend Light"/>
              <a:buChar char="➔"/>
            </a:pPr>
            <a:r>
              <a:rPr lang="en" sz="2100">
                <a:latin typeface="Lexend Light"/>
                <a:ea typeface="Lexend Light"/>
                <a:cs typeface="Lexend Light"/>
                <a:sym typeface="Lexend Light"/>
              </a:rPr>
              <a:t>Understand the advantage and limitation of digital system</a:t>
            </a:r>
            <a:endParaRPr sz="21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Lexend Light"/>
              <a:buChar char="➔"/>
            </a:pPr>
            <a:r>
              <a:rPr lang="en" sz="2100">
                <a:latin typeface="Lexend Light"/>
                <a:ea typeface="Lexend Light"/>
                <a:cs typeface="Lexend Light"/>
                <a:sym typeface="Lexend Light"/>
              </a:rPr>
              <a:t>Understand the meaning of digital logic</a:t>
            </a:r>
            <a:endParaRPr sz="21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1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21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80" name="Google Shape;80;p14"/>
          <p:cNvSpPr txBox="1"/>
          <p:nvPr/>
        </p:nvSpPr>
        <p:spPr>
          <a:xfrm>
            <a:off x="4814400" y="1557600"/>
            <a:ext cx="38919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Light"/>
              <a:buChar char="➔"/>
            </a:pPr>
            <a:r>
              <a:rPr lang="en" sz="20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Analog data can vary over a continuous range of values. </a:t>
            </a:r>
            <a:endParaRPr sz="20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Example: speedometer</a:t>
            </a:r>
            <a:endParaRPr i="1" sz="20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Light"/>
              <a:buChar char="➔"/>
            </a:pPr>
            <a:r>
              <a:rPr lang="en" sz="20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Digital quantities can take on only discrete values (0 and 1, high and low).    </a:t>
            </a:r>
            <a:r>
              <a:rPr i="1" lang="en" sz="20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Example: Digital Computer, Decimal Digits, Alphabets</a:t>
            </a:r>
            <a:endParaRPr i="1" sz="20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81" name="Google Shape;81;p14"/>
          <p:cNvSpPr/>
          <p:nvPr/>
        </p:nvSpPr>
        <p:spPr>
          <a:xfrm>
            <a:off x="364825" y="553300"/>
            <a:ext cx="3873000" cy="630300"/>
          </a:xfrm>
          <a:prstGeom prst="roundRect">
            <a:avLst>
              <a:gd fmla="val 50000" name="adj"/>
            </a:avLst>
          </a:prstGeom>
          <a:solidFill>
            <a:srgbClr val="DCDF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Lexend"/>
                <a:ea typeface="Lexend"/>
                <a:cs typeface="Lexend"/>
                <a:sym typeface="Lexend"/>
              </a:rPr>
              <a:t>Objective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" name="Google Shape;82;p14"/>
          <p:cNvSpPr/>
          <p:nvPr/>
        </p:nvSpPr>
        <p:spPr>
          <a:xfrm>
            <a:off x="4828697" y="550550"/>
            <a:ext cx="3891900" cy="630300"/>
          </a:xfrm>
          <a:prstGeom prst="roundRect">
            <a:avLst>
              <a:gd fmla="val 50000" name="adj"/>
            </a:avLst>
          </a:prstGeom>
          <a:solidFill>
            <a:srgbClr val="F6C9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Lexend"/>
                <a:ea typeface="Lexend"/>
                <a:cs typeface="Lexend"/>
                <a:sym typeface="Lexend"/>
              </a:rPr>
              <a:t>Analog vs. Digital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" name="Google Shape;89;p1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" name="Google Shape;90;p1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91" name="Google Shape;91;p15"/>
          <p:cNvSpPr/>
          <p:nvPr/>
        </p:nvSpPr>
        <p:spPr>
          <a:xfrm>
            <a:off x="376395" y="1324925"/>
            <a:ext cx="8399100" cy="3480300"/>
          </a:xfrm>
          <a:prstGeom prst="roundRect">
            <a:avLst>
              <a:gd fmla="val 5139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2" name="Google Shape;92;p15"/>
          <p:cNvGrpSpPr/>
          <p:nvPr/>
        </p:nvGrpSpPr>
        <p:grpSpPr>
          <a:xfrm>
            <a:off x="422950" y="1426240"/>
            <a:ext cx="277873" cy="68400"/>
            <a:chOff x="411700" y="2416840"/>
            <a:chExt cx="277873" cy="68400"/>
          </a:xfrm>
        </p:grpSpPr>
        <p:sp>
          <p:nvSpPr>
            <p:cNvPr id="93" name="Google Shape;93;p1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6" name="Google Shape;96;p15"/>
          <p:cNvSpPr txBox="1"/>
          <p:nvPr/>
        </p:nvSpPr>
        <p:spPr>
          <a:xfrm>
            <a:off x="354925" y="1557600"/>
            <a:ext cx="8440200" cy="25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digital system is a </a:t>
            </a:r>
            <a:r>
              <a:rPr lang="en" sz="24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combination of devices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designed to </a:t>
            </a:r>
            <a:r>
              <a:rPr lang="en" sz="24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manipulate physical quantities 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or information that are represented in </a:t>
            </a:r>
            <a:r>
              <a:rPr lang="en" sz="24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digital form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b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21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“A discreet information processing system”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21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Signals: Discreet information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5"/>
          <p:cNvSpPr txBox="1"/>
          <p:nvPr/>
        </p:nvSpPr>
        <p:spPr>
          <a:xfrm>
            <a:off x="209775" y="316175"/>
            <a:ext cx="7340100" cy="8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Lexend"/>
                <a:ea typeface="Lexend"/>
                <a:cs typeface="Lexend"/>
                <a:sym typeface="Lexend"/>
              </a:rPr>
              <a:t>Digital System</a:t>
            </a:r>
            <a:endParaRPr sz="4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6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" name="Google Shape;104;p16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" name="Google Shape;105;p1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06" name="Google Shape;106;p16"/>
          <p:cNvSpPr/>
          <p:nvPr/>
        </p:nvSpPr>
        <p:spPr>
          <a:xfrm>
            <a:off x="364825" y="1324925"/>
            <a:ext cx="4660200" cy="3480300"/>
          </a:xfrm>
          <a:prstGeom prst="roundRect">
            <a:avLst>
              <a:gd fmla="val 4803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6"/>
          <p:cNvSpPr/>
          <p:nvPr/>
        </p:nvSpPr>
        <p:spPr>
          <a:xfrm>
            <a:off x="5253500" y="1324925"/>
            <a:ext cx="3448200" cy="3480300"/>
          </a:xfrm>
          <a:prstGeom prst="roundRect">
            <a:avLst>
              <a:gd fmla="val 4803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8" name="Google Shape;108;p16"/>
          <p:cNvGrpSpPr/>
          <p:nvPr/>
        </p:nvGrpSpPr>
        <p:grpSpPr>
          <a:xfrm>
            <a:off x="5303013" y="1426240"/>
            <a:ext cx="277873" cy="68400"/>
            <a:chOff x="5024113" y="2416840"/>
            <a:chExt cx="277873" cy="68400"/>
          </a:xfrm>
        </p:grpSpPr>
        <p:sp>
          <p:nvSpPr>
            <p:cNvPr id="109" name="Google Shape;109;p16"/>
            <p:cNvSpPr/>
            <p:nvPr/>
          </p:nvSpPr>
          <p:spPr>
            <a:xfrm>
              <a:off x="5024113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6"/>
            <p:cNvSpPr/>
            <p:nvPr/>
          </p:nvSpPr>
          <p:spPr>
            <a:xfrm>
              <a:off x="5128849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6"/>
            <p:cNvSpPr/>
            <p:nvPr/>
          </p:nvSpPr>
          <p:spPr>
            <a:xfrm>
              <a:off x="5233585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2" name="Google Shape;112;p16"/>
          <p:cNvGrpSpPr/>
          <p:nvPr/>
        </p:nvGrpSpPr>
        <p:grpSpPr>
          <a:xfrm>
            <a:off x="422950" y="1426240"/>
            <a:ext cx="277873" cy="68400"/>
            <a:chOff x="411700" y="2416840"/>
            <a:chExt cx="277873" cy="68400"/>
          </a:xfrm>
        </p:grpSpPr>
        <p:sp>
          <p:nvSpPr>
            <p:cNvPr id="113" name="Google Shape;113;p16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6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6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6" name="Google Shape;116;p16"/>
          <p:cNvSpPr txBox="1"/>
          <p:nvPr/>
        </p:nvSpPr>
        <p:spPr>
          <a:xfrm>
            <a:off x="354925" y="1557600"/>
            <a:ext cx="4507800" cy="30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Font typeface="Lexend Light"/>
              <a:buChar char="➔"/>
            </a:pPr>
            <a:r>
              <a:rPr lang="en" sz="2300">
                <a:latin typeface="Lexend Light"/>
                <a:ea typeface="Lexend Light"/>
                <a:cs typeface="Lexend Light"/>
                <a:sym typeface="Lexend Light"/>
              </a:rPr>
              <a:t>Greater accuracy or precision</a:t>
            </a:r>
            <a:endParaRPr sz="23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Font typeface="Lexend Light"/>
              <a:buChar char="➔"/>
            </a:pPr>
            <a:r>
              <a:rPr lang="en" sz="2300">
                <a:latin typeface="Lexend Light"/>
                <a:ea typeface="Lexend Light"/>
                <a:cs typeface="Lexend Light"/>
                <a:sym typeface="Lexend Light"/>
              </a:rPr>
              <a:t>Easier to design (generality) </a:t>
            </a:r>
            <a:endParaRPr sz="23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Font typeface="Lexend Light"/>
              <a:buChar char="➔"/>
            </a:pPr>
            <a:r>
              <a:rPr lang="en" sz="2300">
                <a:latin typeface="Lexend Light"/>
                <a:ea typeface="Lexend Light"/>
                <a:cs typeface="Lexend Light"/>
                <a:sym typeface="Lexend Light"/>
              </a:rPr>
              <a:t>Easier information storage</a:t>
            </a:r>
            <a:endParaRPr sz="23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Font typeface="Lexend Light"/>
              <a:buChar char="➔"/>
            </a:pPr>
            <a:r>
              <a:rPr lang="en" sz="2300">
                <a:latin typeface="Lexend Light"/>
                <a:ea typeface="Lexend Light"/>
                <a:cs typeface="Lexend Light"/>
                <a:sym typeface="Lexend Light"/>
              </a:rPr>
              <a:t>Programmability (instructions)</a:t>
            </a:r>
            <a:endParaRPr sz="23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Font typeface="Lexend Light"/>
              <a:buChar char="➔"/>
            </a:pPr>
            <a:r>
              <a:rPr lang="en" sz="2300">
                <a:latin typeface="Lexend Light"/>
                <a:ea typeface="Lexend Light"/>
                <a:cs typeface="Lexend Light"/>
                <a:sym typeface="Lexend Light"/>
              </a:rPr>
              <a:t>Speed</a:t>
            </a:r>
            <a:endParaRPr sz="23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Font typeface="Lexend Light"/>
              <a:buChar char="➔"/>
            </a:pPr>
            <a:r>
              <a:rPr lang="en" sz="2300">
                <a:latin typeface="Lexend Light"/>
                <a:ea typeface="Lexend Light"/>
                <a:cs typeface="Lexend Light"/>
                <a:sym typeface="Lexend Light"/>
              </a:rPr>
              <a:t>Economical</a:t>
            </a:r>
            <a:endParaRPr sz="23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7" name="Google Shape;117;p16"/>
          <p:cNvSpPr txBox="1"/>
          <p:nvPr/>
        </p:nvSpPr>
        <p:spPr>
          <a:xfrm>
            <a:off x="5258100" y="1557600"/>
            <a:ext cx="34482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Lexend Light"/>
              <a:buChar char="➔"/>
            </a:pPr>
            <a:r>
              <a:rPr lang="en" sz="2000">
                <a:latin typeface="Lexend Light"/>
                <a:ea typeface="Lexend Light"/>
                <a:cs typeface="Lexend Light"/>
                <a:sym typeface="Lexend Light"/>
              </a:rPr>
              <a:t>The real world is mainly analog</a:t>
            </a:r>
            <a:endParaRPr sz="20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8" name="Google Shape;118;p16"/>
          <p:cNvSpPr/>
          <p:nvPr/>
        </p:nvSpPr>
        <p:spPr>
          <a:xfrm>
            <a:off x="364825" y="553300"/>
            <a:ext cx="4660200" cy="630300"/>
          </a:xfrm>
          <a:prstGeom prst="roundRect">
            <a:avLst>
              <a:gd fmla="val 50000" name="adj"/>
            </a:avLst>
          </a:prstGeom>
          <a:solidFill>
            <a:srgbClr val="DCDF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Lexend"/>
                <a:ea typeface="Lexend"/>
                <a:cs typeface="Lexend"/>
                <a:sym typeface="Lexend"/>
              </a:rPr>
              <a:t>Digital System Advantages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" name="Google Shape;119;p16"/>
          <p:cNvSpPr/>
          <p:nvPr/>
        </p:nvSpPr>
        <p:spPr>
          <a:xfrm>
            <a:off x="5272250" y="550550"/>
            <a:ext cx="3448200" cy="630300"/>
          </a:xfrm>
          <a:prstGeom prst="roundRect">
            <a:avLst>
              <a:gd fmla="val 50000" name="adj"/>
            </a:avLst>
          </a:prstGeom>
          <a:solidFill>
            <a:srgbClr val="F6C9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Lexend"/>
                <a:ea typeface="Lexend"/>
                <a:cs typeface="Lexend"/>
                <a:sym typeface="Lexend"/>
              </a:rPr>
              <a:t>Limitation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7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" name="Google Shape;126;p17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" name="Google Shape;127;p1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28" name="Google Shape;128;p17"/>
          <p:cNvSpPr/>
          <p:nvPr/>
        </p:nvSpPr>
        <p:spPr>
          <a:xfrm>
            <a:off x="376400" y="999575"/>
            <a:ext cx="8399100" cy="3805800"/>
          </a:xfrm>
          <a:prstGeom prst="roundRect">
            <a:avLst>
              <a:gd fmla="val 5139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9" name="Google Shape;129;p17"/>
          <p:cNvGrpSpPr/>
          <p:nvPr/>
        </p:nvGrpSpPr>
        <p:grpSpPr>
          <a:xfrm>
            <a:off x="422950" y="1121440"/>
            <a:ext cx="277873" cy="68400"/>
            <a:chOff x="411700" y="2416840"/>
            <a:chExt cx="277873" cy="68400"/>
          </a:xfrm>
        </p:grpSpPr>
        <p:sp>
          <p:nvSpPr>
            <p:cNvPr id="130" name="Google Shape;130;p17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7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7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3" name="Google Shape;133;p17"/>
          <p:cNvSpPr txBox="1"/>
          <p:nvPr/>
        </p:nvSpPr>
        <p:spPr>
          <a:xfrm>
            <a:off x="355850" y="1259050"/>
            <a:ext cx="8440200" cy="14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Convert the real world analog input data into digital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Process this digital data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Then again convert into analog form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/>
        </p:nvSpPr>
        <p:spPr>
          <a:xfrm>
            <a:off x="209775" y="3161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How to Overcome the Limitations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" name="Google Shape;135;p17"/>
          <p:cNvSpPr/>
          <p:nvPr/>
        </p:nvSpPr>
        <p:spPr>
          <a:xfrm>
            <a:off x="802600" y="3344925"/>
            <a:ext cx="1373400" cy="1085100"/>
          </a:xfrm>
          <a:prstGeom prst="roundRect">
            <a:avLst>
              <a:gd fmla="val 16238" name="adj"/>
            </a:avLst>
          </a:prstGeom>
          <a:solidFill>
            <a:srgbClr val="F6C9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Lexend"/>
                <a:ea typeface="Lexend"/>
                <a:cs typeface="Lexend"/>
                <a:sym typeface="Lexend"/>
              </a:rPr>
              <a:t>Analog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Lexend"/>
                <a:ea typeface="Lexend"/>
                <a:cs typeface="Lexend"/>
                <a:sym typeface="Lexend"/>
              </a:rPr>
              <a:t>Input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" name="Google Shape;136;p17"/>
          <p:cNvSpPr/>
          <p:nvPr/>
        </p:nvSpPr>
        <p:spPr>
          <a:xfrm>
            <a:off x="3885300" y="3344925"/>
            <a:ext cx="1373400" cy="1085100"/>
          </a:xfrm>
          <a:prstGeom prst="roundRect">
            <a:avLst>
              <a:gd fmla="val 16238" name="adj"/>
            </a:avLst>
          </a:prstGeom>
          <a:solidFill>
            <a:srgbClr val="DCDF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Lexend"/>
                <a:ea typeface="Lexend"/>
                <a:cs typeface="Lexend"/>
                <a:sym typeface="Lexend"/>
              </a:rPr>
              <a:t>Digital</a:t>
            </a:r>
            <a:br>
              <a:rPr lang="en" sz="2400">
                <a:latin typeface="Lexend"/>
                <a:ea typeface="Lexend"/>
                <a:cs typeface="Lexend"/>
                <a:sym typeface="Lexend"/>
              </a:rPr>
            </a:br>
            <a:r>
              <a:rPr lang="en" sz="2400">
                <a:latin typeface="Lexend"/>
                <a:ea typeface="Lexend"/>
                <a:cs typeface="Lexend"/>
                <a:sym typeface="Lexend"/>
              </a:rPr>
              <a:t>Data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" name="Google Shape;137;p17"/>
          <p:cNvSpPr/>
          <p:nvPr/>
        </p:nvSpPr>
        <p:spPr>
          <a:xfrm>
            <a:off x="6968000" y="3344925"/>
            <a:ext cx="1373400" cy="1085100"/>
          </a:xfrm>
          <a:prstGeom prst="roundRect">
            <a:avLst>
              <a:gd fmla="val 16238" name="adj"/>
            </a:avLst>
          </a:prstGeom>
          <a:solidFill>
            <a:srgbClr val="F6C9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Lexend"/>
                <a:ea typeface="Lexend"/>
                <a:cs typeface="Lexend"/>
                <a:sym typeface="Lexend"/>
              </a:rPr>
              <a:t>Analog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Lexend"/>
                <a:ea typeface="Lexend"/>
                <a:cs typeface="Lexend"/>
                <a:sym typeface="Lexend"/>
              </a:rPr>
              <a:t>Output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8" name="Google Shape;138;p17"/>
          <p:cNvCxnSpPr>
            <a:stCxn id="135" idx="3"/>
            <a:endCxn id="136" idx="1"/>
          </p:cNvCxnSpPr>
          <p:nvPr/>
        </p:nvCxnSpPr>
        <p:spPr>
          <a:xfrm>
            <a:off x="2176000" y="3887475"/>
            <a:ext cx="1709400" cy="0"/>
          </a:xfrm>
          <a:prstGeom prst="straightConnector1">
            <a:avLst/>
          </a:prstGeom>
          <a:noFill/>
          <a:ln cap="flat" cmpd="sng" w="38100">
            <a:solidFill>
              <a:srgbClr val="22226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9" name="Google Shape;139;p17"/>
          <p:cNvCxnSpPr/>
          <p:nvPr/>
        </p:nvCxnSpPr>
        <p:spPr>
          <a:xfrm>
            <a:off x="5258700" y="3887475"/>
            <a:ext cx="1709400" cy="0"/>
          </a:xfrm>
          <a:prstGeom prst="straightConnector1">
            <a:avLst/>
          </a:prstGeom>
          <a:noFill/>
          <a:ln cap="flat" cmpd="sng" w="38100">
            <a:solidFill>
              <a:srgbClr val="22226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0" name="Google Shape;140;p17"/>
          <p:cNvSpPr txBox="1"/>
          <p:nvPr/>
        </p:nvSpPr>
        <p:spPr>
          <a:xfrm>
            <a:off x="1906450" y="3425775"/>
            <a:ext cx="2248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E06666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" sz="1800">
                <a:latin typeface="Lexend Light"/>
                <a:ea typeface="Lexend Light"/>
                <a:cs typeface="Lexend Light"/>
                <a:sym typeface="Lexend Light"/>
              </a:rPr>
              <a:t>. t</a:t>
            </a:r>
            <a:r>
              <a:rPr lang="en" sz="1800">
                <a:latin typeface="Lexend Light"/>
                <a:ea typeface="Lexend Light"/>
                <a:cs typeface="Lexend Light"/>
                <a:sym typeface="Lexend Light"/>
              </a:rPr>
              <a:t>o </a:t>
            </a:r>
            <a:r>
              <a:rPr b="1" lang="en" sz="1800">
                <a:solidFill>
                  <a:srgbClr val="3D85C6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" sz="1800">
                <a:latin typeface="Lexend Light"/>
                <a:ea typeface="Lexend Light"/>
                <a:cs typeface="Lexend Light"/>
                <a:sym typeface="Lexend Light"/>
              </a:rPr>
              <a:t>. 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exend Light"/>
                <a:ea typeface="Lexend Light"/>
                <a:cs typeface="Lexend Light"/>
                <a:sym typeface="Lexend Light"/>
              </a:rPr>
              <a:t>Conversion</a:t>
            </a:r>
            <a:endParaRPr sz="1800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7"/>
          <p:cNvSpPr txBox="1"/>
          <p:nvPr/>
        </p:nvSpPr>
        <p:spPr>
          <a:xfrm>
            <a:off x="4989150" y="3425775"/>
            <a:ext cx="2248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D85C6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" sz="1800">
                <a:latin typeface="Lexend Light"/>
                <a:ea typeface="Lexend Light"/>
                <a:cs typeface="Lexend Light"/>
                <a:sym typeface="Lexend Light"/>
              </a:rPr>
              <a:t>. to </a:t>
            </a:r>
            <a:r>
              <a:rPr b="1" lang="en" sz="1800">
                <a:solidFill>
                  <a:srgbClr val="E06666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" sz="1800">
                <a:latin typeface="Lexend Light"/>
                <a:ea typeface="Lexend Light"/>
                <a:cs typeface="Lexend Light"/>
                <a:sym typeface="Lexend Light"/>
              </a:rPr>
              <a:t>. 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exend Light"/>
                <a:ea typeface="Lexend Light"/>
                <a:cs typeface="Lexend Light"/>
                <a:sym typeface="Lexend Light"/>
              </a:rPr>
              <a:t>Conversion</a:t>
            </a:r>
            <a:endParaRPr sz="1800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7"/>
          <p:cNvSpPr/>
          <p:nvPr/>
        </p:nvSpPr>
        <p:spPr>
          <a:xfrm rot="420648">
            <a:off x="4205149" y="2832704"/>
            <a:ext cx="646799" cy="539365"/>
          </a:xfrm>
          <a:custGeom>
            <a:rect b="b" l="l" r="r" t="t"/>
            <a:pathLst>
              <a:path extrusionOk="0" h="20681" w="23761">
                <a:moveTo>
                  <a:pt x="5089" y="20682"/>
                </a:moveTo>
                <a:cubicBezTo>
                  <a:pt x="-270" y="19611"/>
                  <a:pt x="-1220" y="9280"/>
                  <a:pt x="1677" y="4646"/>
                </a:cubicBezTo>
                <a:cubicBezTo>
                  <a:pt x="3217" y="2182"/>
                  <a:pt x="6306" y="622"/>
                  <a:pt x="9183" y="211"/>
                </a:cubicBezTo>
                <a:cubicBezTo>
                  <a:pt x="13498" y="-405"/>
                  <a:pt x="18726" y="539"/>
                  <a:pt x="21807" y="3623"/>
                </a:cubicBezTo>
                <a:cubicBezTo>
                  <a:pt x="25687" y="7507"/>
                  <a:pt x="22964" y="17204"/>
                  <a:pt x="18054" y="19659"/>
                </a:cubicBezTo>
              </a:path>
            </a:pathLst>
          </a:custGeom>
          <a:noFill/>
          <a:ln cap="flat" cmpd="sng" w="28575">
            <a:solidFill>
              <a:srgbClr val="222268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143" name="Google Shape;143;p17"/>
          <p:cNvSpPr txBox="1"/>
          <p:nvPr/>
        </p:nvSpPr>
        <p:spPr>
          <a:xfrm>
            <a:off x="4376700" y="2795238"/>
            <a:ext cx="224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222268"/>
                </a:solidFill>
                <a:latin typeface="Lexend Light"/>
                <a:ea typeface="Lexend Light"/>
                <a:cs typeface="Lexend Light"/>
                <a:sym typeface="Lexend Light"/>
              </a:rPr>
              <a:t>Processing</a:t>
            </a:r>
            <a:endParaRPr sz="1800">
              <a:solidFill>
                <a:srgbClr val="222268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52" name="Google Shape;152;p18"/>
          <p:cNvSpPr/>
          <p:nvPr/>
        </p:nvSpPr>
        <p:spPr>
          <a:xfrm>
            <a:off x="376395" y="1324925"/>
            <a:ext cx="8399100" cy="3480300"/>
          </a:xfrm>
          <a:prstGeom prst="roundRect">
            <a:avLst>
              <a:gd fmla="val 5139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3" name="Google Shape;153;p18"/>
          <p:cNvGrpSpPr/>
          <p:nvPr/>
        </p:nvGrpSpPr>
        <p:grpSpPr>
          <a:xfrm>
            <a:off x="422950" y="1426240"/>
            <a:ext cx="277873" cy="68400"/>
            <a:chOff x="411700" y="2416840"/>
            <a:chExt cx="277873" cy="68400"/>
          </a:xfrm>
        </p:grpSpPr>
        <p:sp>
          <p:nvSpPr>
            <p:cNvPr id="154" name="Google Shape;154;p18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8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8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7" name="Google Shape;157;p18"/>
          <p:cNvSpPr txBox="1"/>
          <p:nvPr/>
        </p:nvSpPr>
        <p:spPr>
          <a:xfrm>
            <a:off x="354925" y="1557600"/>
            <a:ext cx="8440200" cy="36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Design logic is a term used to denote the design and analysis of digital system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Digital logic is concerned with the interconnection among digital components and modules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Digital logic design is engineering and engineering means problem solving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" name="Google Shape;158;p18"/>
          <p:cNvSpPr txBox="1"/>
          <p:nvPr/>
        </p:nvSpPr>
        <p:spPr>
          <a:xfrm>
            <a:off x="209775" y="316175"/>
            <a:ext cx="7340100" cy="8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Lexend"/>
                <a:ea typeface="Lexend"/>
                <a:cs typeface="Lexend"/>
                <a:sym typeface="Lexend"/>
              </a:rPr>
              <a:t>Digital Logic</a:t>
            </a:r>
            <a:endParaRPr sz="4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65" name="Google Shape;165;p19"/>
          <p:cNvSpPr/>
          <p:nvPr/>
        </p:nvSpPr>
        <p:spPr>
          <a:xfrm>
            <a:off x="376395" y="1324925"/>
            <a:ext cx="8399100" cy="3480300"/>
          </a:xfrm>
          <a:prstGeom prst="roundRect">
            <a:avLst>
              <a:gd fmla="val 5139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6" name="Google Shape;166;p19"/>
          <p:cNvGrpSpPr/>
          <p:nvPr/>
        </p:nvGrpSpPr>
        <p:grpSpPr>
          <a:xfrm>
            <a:off x="422950" y="1426240"/>
            <a:ext cx="277873" cy="68400"/>
            <a:chOff x="411700" y="2416840"/>
            <a:chExt cx="277873" cy="68400"/>
          </a:xfrm>
        </p:grpSpPr>
        <p:sp>
          <p:nvSpPr>
            <p:cNvPr id="167" name="Google Shape;167;p19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9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9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0" name="Google Shape;170;p19"/>
          <p:cNvSpPr txBox="1"/>
          <p:nvPr/>
        </p:nvSpPr>
        <p:spPr>
          <a:xfrm>
            <a:off x="354925" y="1557600"/>
            <a:ext cx="8440200" cy="3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●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Digital Systems are built from circuits that process binary digits. BUT very few real-life problems are based on binary numbers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●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So, a digital system designer must establish some </a:t>
            </a:r>
            <a:r>
              <a:rPr lang="en" sz="24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correspondence between the binary digits processed by digital circuits and real-life numbers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events and conditions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19"/>
          <p:cNvSpPr txBox="1"/>
          <p:nvPr/>
        </p:nvSpPr>
        <p:spPr>
          <a:xfrm>
            <a:off x="209775" y="316175"/>
            <a:ext cx="8934300" cy="8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Lexend"/>
                <a:ea typeface="Lexend"/>
                <a:cs typeface="Lexend"/>
                <a:sym typeface="Lexend"/>
              </a:rPr>
              <a:t>Number systems and codes</a:t>
            </a:r>
            <a:endParaRPr sz="4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19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19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376400" y="999575"/>
            <a:ext cx="8399100" cy="3805800"/>
          </a:xfrm>
          <a:prstGeom prst="roundRect">
            <a:avLst>
              <a:gd fmla="val 5139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1" name="Google Shape;181;p20"/>
          <p:cNvGrpSpPr/>
          <p:nvPr/>
        </p:nvGrpSpPr>
        <p:grpSpPr>
          <a:xfrm>
            <a:off x="422950" y="1121440"/>
            <a:ext cx="277873" cy="68400"/>
            <a:chOff x="411700" y="2416840"/>
            <a:chExt cx="277873" cy="68400"/>
          </a:xfrm>
        </p:grpSpPr>
        <p:sp>
          <p:nvSpPr>
            <p:cNvPr id="182" name="Google Shape;182;p20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20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20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5" name="Google Shape;185;p20"/>
          <p:cNvSpPr txBox="1"/>
          <p:nvPr/>
        </p:nvSpPr>
        <p:spPr>
          <a:xfrm>
            <a:off x="355850" y="1259050"/>
            <a:ext cx="84402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•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Human decisions tends to be binary i.e.</a:t>
            </a: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Yes or No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•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Elementary storage units inside computer are </a:t>
            </a:r>
            <a:r>
              <a:rPr i="1"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electronic switches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 Each switch holds one of two states: </a:t>
            </a: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on (1) or off (0).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209775" y="3161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Information representation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7" name="Google Shape;187;p20"/>
          <p:cNvGrpSpPr/>
          <p:nvPr/>
        </p:nvGrpSpPr>
        <p:grpSpPr>
          <a:xfrm>
            <a:off x="2695575" y="2888500"/>
            <a:ext cx="3752850" cy="1558925"/>
            <a:chOff x="1632" y="1956"/>
            <a:chExt cx="2364" cy="982"/>
          </a:xfrm>
        </p:grpSpPr>
        <p:grpSp>
          <p:nvGrpSpPr>
            <p:cNvPr id="188" name="Google Shape;188;p20"/>
            <p:cNvGrpSpPr/>
            <p:nvPr/>
          </p:nvGrpSpPr>
          <p:grpSpPr>
            <a:xfrm>
              <a:off x="1632" y="2208"/>
              <a:ext cx="876" cy="24"/>
              <a:chOff x="1392" y="2376"/>
              <a:chExt cx="876" cy="24"/>
            </a:xfrm>
          </p:grpSpPr>
          <p:cxnSp>
            <p:nvCxnSpPr>
              <p:cNvPr id="189" name="Google Shape;189;p20"/>
              <p:cNvCxnSpPr/>
              <p:nvPr/>
            </p:nvCxnSpPr>
            <p:spPr>
              <a:xfrm>
                <a:off x="1392" y="2400"/>
                <a:ext cx="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90" name="Google Shape;190;p20"/>
              <p:cNvCxnSpPr/>
              <p:nvPr/>
            </p:nvCxnSpPr>
            <p:spPr>
              <a:xfrm>
                <a:off x="1968" y="2400"/>
                <a:ext cx="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91" name="Google Shape;191;p20"/>
              <p:cNvSpPr/>
              <p:nvPr/>
            </p:nvSpPr>
            <p:spPr>
              <a:xfrm>
                <a:off x="1680" y="2376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" name="Google Shape;192;p20"/>
              <p:cNvSpPr/>
              <p:nvPr/>
            </p:nvSpPr>
            <p:spPr>
              <a:xfrm>
                <a:off x="1986" y="2377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93" name="Google Shape;193;p20"/>
              <p:cNvCxnSpPr/>
              <p:nvPr/>
            </p:nvCxnSpPr>
            <p:spPr>
              <a:xfrm>
                <a:off x="1692" y="2400"/>
                <a:ext cx="300" cy="0"/>
              </a:xfrm>
              <a:prstGeom prst="straightConnector1">
                <a:avLst/>
              </a:prstGeom>
              <a:noFill/>
              <a:ln cap="flat" cmpd="sng" w="635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grpSp>
          <p:nvGrpSpPr>
            <p:cNvPr id="194" name="Google Shape;194;p20"/>
            <p:cNvGrpSpPr/>
            <p:nvPr/>
          </p:nvGrpSpPr>
          <p:grpSpPr>
            <a:xfrm>
              <a:off x="3120" y="1956"/>
              <a:ext cx="876" cy="300"/>
              <a:chOff x="2688" y="2100"/>
              <a:chExt cx="876" cy="300"/>
            </a:xfrm>
          </p:grpSpPr>
          <p:cxnSp>
            <p:nvCxnSpPr>
              <p:cNvPr id="195" name="Google Shape;195;p20"/>
              <p:cNvCxnSpPr/>
              <p:nvPr/>
            </p:nvCxnSpPr>
            <p:spPr>
              <a:xfrm>
                <a:off x="2688" y="2400"/>
                <a:ext cx="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96" name="Google Shape;196;p20"/>
              <p:cNvCxnSpPr/>
              <p:nvPr/>
            </p:nvCxnSpPr>
            <p:spPr>
              <a:xfrm>
                <a:off x="3264" y="2400"/>
                <a:ext cx="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97" name="Google Shape;197;p20"/>
              <p:cNvSpPr/>
              <p:nvPr/>
            </p:nvSpPr>
            <p:spPr>
              <a:xfrm>
                <a:off x="2976" y="2376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" name="Google Shape;198;p20"/>
              <p:cNvSpPr/>
              <p:nvPr/>
            </p:nvSpPr>
            <p:spPr>
              <a:xfrm>
                <a:off x="3282" y="2377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99" name="Google Shape;199;p20"/>
              <p:cNvCxnSpPr/>
              <p:nvPr/>
            </p:nvCxnSpPr>
            <p:spPr>
              <a:xfrm flipH="1" rot="10800000">
                <a:off x="2988" y="2100"/>
                <a:ext cx="300" cy="300"/>
              </a:xfrm>
              <a:prstGeom prst="straightConnector1">
                <a:avLst/>
              </a:prstGeom>
              <a:noFill/>
              <a:ln cap="flat" cmpd="sng" w="635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sp>
          <p:nvSpPr>
            <p:cNvPr id="200" name="Google Shape;200;p20"/>
            <p:cNvSpPr txBox="1"/>
            <p:nvPr/>
          </p:nvSpPr>
          <p:spPr>
            <a:xfrm>
              <a:off x="1893" y="2338"/>
              <a:ext cx="6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Times New Roman"/>
                <a:buNone/>
              </a:pPr>
              <a:r>
                <a:rPr b="0" i="0" lang="en" sz="24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ON (1)</a:t>
              </a:r>
              <a:endParaRPr/>
            </a:p>
          </p:txBody>
        </p:sp>
        <p:sp>
          <p:nvSpPr>
            <p:cNvPr id="201" name="Google Shape;201;p20"/>
            <p:cNvSpPr txBox="1"/>
            <p:nvPr/>
          </p:nvSpPr>
          <p:spPr>
            <a:xfrm>
              <a:off x="3262" y="2326"/>
              <a:ext cx="6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Times New Roman"/>
                <a:buNone/>
              </a:pPr>
              <a:r>
                <a:rPr b="0" i="0" lang="en" sz="24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OFF </a:t>
              </a:r>
              <a:r>
                <a:rPr lang="en" sz="2400">
                  <a:latin typeface="Times New Roman"/>
                  <a:ea typeface="Times New Roman"/>
                  <a:cs typeface="Times New Roman"/>
                  <a:sym typeface="Times New Roman"/>
                </a:rPr>
                <a:t>(0)</a:t>
              </a:r>
              <a:endParaRPr/>
            </a:p>
          </p:txBody>
        </p:sp>
      </p:grpSp>
      <p:sp>
        <p:nvSpPr>
          <p:cNvPr id="202" name="Google Shape;202;p20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376400" y="999575"/>
            <a:ext cx="8399100" cy="3805800"/>
          </a:xfrm>
          <a:prstGeom prst="roundRect">
            <a:avLst>
              <a:gd fmla="val 5139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1" name="Google Shape;211;p21"/>
          <p:cNvGrpSpPr/>
          <p:nvPr/>
        </p:nvGrpSpPr>
        <p:grpSpPr>
          <a:xfrm>
            <a:off x="422950" y="1121440"/>
            <a:ext cx="277873" cy="68400"/>
            <a:chOff x="411700" y="2416840"/>
            <a:chExt cx="277873" cy="68400"/>
          </a:xfrm>
        </p:grpSpPr>
        <p:sp>
          <p:nvSpPr>
            <p:cNvPr id="212" name="Google Shape;212;p21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21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21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5" name="Google Shape;215;p21"/>
          <p:cNvSpPr txBox="1"/>
          <p:nvPr/>
        </p:nvSpPr>
        <p:spPr>
          <a:xfrm>
            <a:off x="355850" y="1259050"/>
            <a:ext cx="8440200" cy="18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●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 use a </a:t>
            </a:r>
            <a:r>
              <a:rPr b="1"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bit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(</a:t>
            </a:r>
            <a:r>
              <a:rPr b="1"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bi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nary digi</a:t>
            </a:r>
            <a:r>
              <a:rPr b="1"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), </a:t>
            </a: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or </a:t>
            </a: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to represent the state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●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Storage units can be grouped together to cater for larger range of numbers.  Example: 2 switches to represent 4 values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>
            <a:off x="209775" y="3161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Information representation [cont.]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7" name="Google Shape;217;p21"/>
          <p:cNvGrpSpPr/>
          <p:nvPr/>
        </p:nvGrpSpPr>
        <p:grpSpPr>
          <a:xfrm>
            <a:off x="2266950" y="2479075"/>
            <a:ext cx="4610099" cy="2076450"/>
            <a:chOff x="1392" y="1668"/>
            <a:chExt cx="2904" cy="1308"/>
          </a:xfrm>
        </p:grpSpPr>
        <p:grpSp>
          <p:nvGrpSpPr>
            <p:cNvPr id="218" name="Google Shape;218;p21"/>
            <p:cNvGrpSpPr/>
            <p:nvPr/>
          </p:nvGrpSpPr>
          <p:grpSpPr>
            <a:xfrm>
              <a:off x="1392" y="2784"/>
              <a:ext cx="876" cy="24"/>
              <a:chOff x="1392" y="2376"/>
              <a:chExt cx="876" cy="24"/>
            </a:xfrm>
          </p:grpSpPr>
          <p:cxnSp>
            <p:nvCxnSpPr>
              <p:cNvPr id="219" name="Google Shape;219;p21"/>
              <p:cNvCxnSpPr/>
              <p:nvPr/>
            </p:nvCxnSpPr>
            <p:spPr>
              <a:xfrm>
                <a:off x="1392" y="2400"/>
                <a:ext cx="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220" name="Google Shape;220;p21"/>
              <p:cNvCxnSpPr/>
              <p:nvPr/>
            </p:nvCxnSpPr>
            <p:spPr>
              <a:xfrm>
                <a:off x="1968" y="2400"/>
                <a:ext cx="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221" name="Google Shape;221;p21"/>
              <p:cNvSpPr/>
              <p:nvPr/>
            </p:nvSpPr>
            <p:spPr>
              <a:xfrm>
                <a:off x="1680" y="2376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" name="Google Shape;222;p21"/>
              <p:cNvSpPr/>
              <p:nvPr/>
            </p:nvSpPr>
            <p:spPr>
              <a:xfrm>
                <a:off x="1986" y="2377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23" name="Google Shape;223;p21"/>
              <p:cNvCxnSpPr/>
              <p:nvPr/>
            </p:nvCxnSpPr>
            <p:spPr>
              <a:xfrm>
                <a:off x="1692" y="2400"/>
                <a:ext cx="300" cy="0"/>
              </a:xfrm>
              <a:prstGeom prst="straightConnector1">
                <a:avLst/>
              </a:prstGeom>
              <a:noFill/>
              <a:ln cap="flat" cmpd="sng" w="635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grpSp>
          <p:nvGrpSpPr>
            <p:cNvPr id="224" name="Google Shape;224;p21"/>
            <p:cNvGrpSpPr/>
            <p:nvPr/>
          </p:nvGrpSpPr>
          <p:grpSpPr>
            <a:xfrm>
              <a:off x="1392" y="2496"/>
              <a:ext cx="876" cy="24"/>
              <a:chOff x="1392" y="2376"/>
              <a:chExt cx="876" cy="24"/>
            </a:xfrm>
          </p:grpSpPr>
          <p:cxnSp>
            <p:nvCxnSpPr>
              <p:cNvPr id="225" name="Google Shape;225;p21"/>
              <p:cNvCxnSpPr/>
              <p:nvPr/>
            </p:nvCxnSpPr>
            <p:spPr>
              <a:xfrm>
                <a:off x="1392" y="2400"/>
                <a:ext cx="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226" name="Google Shape;226;p21"/>
              <p:cNvCxnSpPr/>
              <p:nvPr/>
            </p:nvCxnSpPr>
            <p:spPr>
              <a:xfrm>
                <a:off x="1968" y="2400"/>
                <a:ext cx="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227" name="Google Shape;227;p21"/>
              <p:cNvSpPr/>
              <p:nvPr/>
            </p:nvSpPr>
            <p:spPr>
              <a:xfrm>
                <a:off x="1680" y="2376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" name="Google Shape;228;p21"/>
              <p:cNvSpPr/>
              <p:nvPr/>
            </p:nvSpPr>
            <p:spPr>
              <a:xfrm>
                <a:off x="1986" y="2377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29" name="Google Shape;229;p21"/>
              <p:cNvCxnSpPr/>
              <p:nvPr/>
            </p:nvCxnSpPr>
            <p:spPr>
              <a:xfrm>
                <a:off x="1692" y="2400"/>
                <a:ext cx="300" cy="0"/>
              </a:xfrm>
              <a:prstGeom prst="straightConnector1">
                <a:avLst/>
              </a:prstGeom>
              <a:noFill/>
              <a:ln cap="flat" cmpd="sng" w="635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grpSp>
          <p:nvGrpSpPr>
            <p:cNvPr id="230" name="Google Shape;230;p21"/>
            <p:cNvGrpSpPr/>
            <p:nvPr/>
          </p:nvGrpSpPr>
          <p:grpSpPr>
            <a:xfrm>
              <a:off x="2496" y="2208"/>
              <a:ext cx="876" cy="24"/>
              <a:chOff x="1392" y="2376"/>
              <a:chExt cx="876" cy="24"/>
            </a:xfrm>
          </p:grpSpPr>
          <p:cxnSp>
            <p:nvCxnSpPr>
              <p:cNvPr id="231" name="Google Shape;231;p21"/>
              <p:cNvCxnSpPr/>
              <p:nvPr/>
            </p:nvCxnSpPr>
            <p:spPr>
              <a:xfrm>
                <a:off x="1392" y="2400"/>
                <a:ext cx="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232" name="Google Shape;232;p21"/>
              <p:cNvCxnSpPr/>
              <p:nvPr/>
            </p:nvCxnSpPr>
            <p:spPr>
              <a:xfrm>
                <a:off x="1968" y="2400"/>
                <a:ext cx="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233" name="Google Shape;233;p21"/>
              <p:cNvSpPr/>
              <p:nvPr/>
            </p:nvSpPr>
            <p:spPr>
              <a:xfrm>
                <a:off x="1680" y="2376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" name="Google Shape;234;p21"/>
              <p:cNvSpPr/>
              <p:nvPr/>
            </p:nvSpPr>
            <p:spPr>
              <a:xfrm>
                <a:off x="1986" y="2377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35" name="Google Shape;235;p21"/>
              <p:cNvCxnSpPr/>
              <p:nvPr/>
            </p:nvCxnSpPr>
            <p:spPr>
              <a:xfrm>
                <a:off x="1692" y="2400"/>
                <a:ext cx="300" cy="0"/>
              </a:xfrm>
              <a:prstGeom prst="straightConnector1">
                <a:avLst/>
              </a:prstGeom>
              <a:noFill/>
              <a:ln cap="flat" cmpd="sng" w="635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grpSp>
          <p:nvGrpSpPr>
            <p:cNvPr id="236" name="Google Shape;236;p21"/>
            <p:cNvGrpSpPr/>
            <p:nvPr/>
          </p:nvGrpSpPr>
          <p:grpSpPr>
            <a:xfrm>
              <a:off x="2496" y="2784"/>
              <a:ext cx="876" cy="24"/>
              <a:chOff x="1392" y="2376"/>
              <a:chExt cx="876" cy="24"/>
            </a:xfrm>
          </p:grpSpPr>
          <p:cxnSp>
            <p:nvCxnSpPr>
              <p:cNvPr id="237" name="Google Shape;237;p21"/>
              <p:cNvCxnSpPr/>
              <p:nvPr/>
            </p:nvCxnSpPr>
            <p:spPr>
              <a:xfrm>
                <a:off x="1392" y="2400"/>
                <a:ext cx="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238" name="Google Shape;238;p21"/>
              <p:cNvCxnSpPr/>
              <p:nvPr/>
            </p:nvCxnSpPr>
            <p:spPr>
              <a:xfrm>
                <a:off x="1968" y="2400"/>
                <a:ext cx="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239" name="Google Shape;239;p21"/>
              <p:cNvSpPr/>
              <p:nvPr/>
            </p:nvSpPr>
            <p:spPr>
              <a:xfrm>
                <a:off x="1680" y="2376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" name="Google Shape;240;p21"/>
              <p:cNvSpPr/>
              <p:nvPr/>
            </p:nvSpPr>
            <p:spPr>
              <a:xfrm>
                <a:off x="1986" y="2377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41" name="Google Shape;241;p21"/>
              <p:cNvCxnSpPr/>
              <p:nvPr/>
            </p:nvCxnSpPr>
            <p:spPr>
              <a:xfrm>
                <a:off x="1692" y="2400"/>
                <a:ext cx="300" cy="0"/>
              </a:xfrm>
              <a:prstGeom prst="straightConnector1">
                <a:avLst/>
              </a:prstGeom>
              <a:noFill/>
              <a:ln cap="flat" cmpd="sng" w="635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grpSp>
          <p:nvGrpSpPr>
            <p:cNvPr id="242" name="Google Shape;242;p21"/>
            <p:cNvGrpSpPr/>
            <p:nvPr/>
          </p:nvGrpSpPr>
          <p:grpSpPr>
            <a:xfrm>
              <a:off x="2496" y="2244"/>
              <a:ext cx="876" cy="300"/>
              <a:chOff x="2688" y="2100"/>
              <a:chExt cx="876" cy="300"/>
            </a:xfrm>
          </p:grpSpPr>
          <p:cxnSp>
            <p:nvCxnSpPr>
              <p:cNvPr id="243" name="Google Shape;243;p21"/>
              <p:cNvCxnSpPr/>
              <p:nvPr/>
            </p:nvCxnSpPr>
            <p:spPr>
              <a:xfrm>
                <a:off x="2688" y="2400"/>
                <a:ext cx="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244" name="Google Shape;244;p21"/>
              <p:cNvCxnSpPr/>
              <p:nvPr/>
            </p:nvCxnSpPr>
            <p:spPr>
              <a:xfrm>
                <a:off x="3264" y="2400"/>
                <a:ext cx="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245" name="Google Shape;245;p21"/>
              <p:cNvSpPr/>
              <p:nvPr/>
            </p:nvSpPr>
            <p:spPr>
              <a:xfrm>
                <a:off x="2976" y="2376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" name="Google Shape;246;p21"/>
              <p:cNvSpPr/>
              <p:nvPr/>
            </p:nvSpPr>
            <p:spPr>
              <a:xfrm>
                <a:off x="3282" y="2377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47" name="Google Shape;247;p21"/>
              <p:cNvCxnSpPr/>
              <p:nvPr/>
            </p:nvCxnSpPr>
            <p:spPr>
              <a:xfrm flipH="1" rot="10800000">
                <a:off x="2988" y="2100"/>
                <a:ext cx="300" cy="300"/>
              </a:xfrm>
              <a:prstGeom prst="straightConnector1">
                <a:avLst/>
              </a:prstGeom>
              <a:noFill/>
              <a:ln cap="flat" cmpd="sng" w="635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grpSp>
          <p:nvGrpSpPr>
            <p:cNvPr id="248" name="Google Shape;248;p21"/>
            <p:cNvGrpSpPr/>
            <p:nvPr/>
          </p:nvGrpSpPr>
          <p:grpSpPr>
            <a:xfrm>
              <a:off x="2496" y="1668"/>
              <a:ext cx="876" cy="300"/>
              <a:chOff x="2688" y="2100"/>
              <a:chExt cx="876" cy="300"/>
            </a:xfrm>
          </p:grpSpPr>
          <p:cxnSp>
            <p:nvCxnSpPr>
              <p:cNvPr id="249" name="Google Shape;249;p21"/>
              <p:cNvCxnSpPr/>
              <p:nvPr/>
            </p:nvCxnSpPr>
            <p:spPr>
              <a:xfrm>
                <a:off x="2688" y="2400"/>
                <a:ext cx="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250" name="Google Shape;250;p21"/>
              <p:cNvCxnSpPr/>
              <p:nvPr/>
            </p:nvCxnSpPr>
            <p:spPr>
              <a:xfrm>
                <a:off x="3264" y="2400"/>
                <a:ext cx="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251" name="Google Shape;251;p21"/>
              <p:cNvSpPr/>
              <p:nvPr/>
            </p:nvSpPr>
            <p:spPr>
              <a:xfrm>
                <a:off x="2976" y="2376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" name="Google Shape;252;p21"/>
              <p:cNvSpPr/>
              <p:nvPr/>
            </p:nvSpPr>
            <p:spPr>
              <a:xfrm>
                <a:off x="3282" y="2377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53" name="Google Shape;253;p21"/>
              <p:cNvCxnSpPr/>
              <p:nvPr/>
            </p:nvCxnSpPr>
            <p:spPr>
              <a:xfrm flipH="1" rot="10800000">
                <a:off x="2988" y="2100"/>
                <a:ext cx="300" cy="300"/>
              </a:xfrm>
              <a:prstGeom prst="straightConnector1">
                <a:avLst/>
              </a:prstGeom>
              <a:noFill/>
              <a:ln cap="flat" cmpd="sng" w="635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grpSp>
          <p:nvGrpSpPr>
            <p:cNvPr id="254" name="Google Shape;254;p21"/>
            <p:cNvGrpSpPr/>
            <p:nvPr/>
          </p:nvGrpSpPr>
          <p:grpSpPr>
            <a:xfrm>
              <a:off x="1392" y="1668"/>
              <a:ext cx="876" cy="300"/>
              <a:chOff x="2688" y="2100"/>
              <a:chExt cx="876" cy="300"/>
            </a:xfrm>
          </p:grpSpPr>
          <p:cxnSp>
            <p:nvCxnSpPr>
              <p:cNvPr id="255" name="Google Shape;255;p21"/>
              <p:cNvCxnSpPr/>
              <p:nvPr/>
            </p:nvCxnSpPr>
            <p:spPr>
              <a:xfrm>
                <a:off x="2688" y="2400"/>
                <a:ext cx="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256" name="Google Shape;256;p21"/>
              <p:cNvCxnSpPr/>
              <p:nvPr/>
            </p:nvCxnSpPr>
            <p:spPr>
              <a:xfrm>
                <a:off x="3264" y="2400"/>
                <a:ext cx="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257" name="Google Shape;257;p21"/>
              <p:cNvSpPr/>
              <p:nvPr/>
            </p:nvSpPr>
            <p:spPr>
              <a:xfrm>
                <a:off x="2976" y="2376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" name="Google Shape;258;p21"/>
              <p:cNvSpPr/>
              <p:nvPr/>
            </p:nvSpPr>
            <p:spPr>
              <a:xfrm>
                <a:off x="3282" y="2377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59" name="Google Shape;259;p21"/>
              <p:cNvCxnSpPr/>
              <p:nvPr/>
            </p:nvCxnSpPr>
            <p:spPr>
              <a:xfrm flipH="1" rot="10800000">
                <a:off x="2988" y="2100"/>
                <a:ext cx="300" cy="300"/>
              </a:xfrm>
              <a:prstGeom prst="straightConnector1">
                <a:avLst/>
              </a:prstGeom>
              <a:noFill/>
              <a:ln cap="flat" cmpd="sng" w="635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grpSp>
          <p:nvGrpSpPr>
            <p:cNvPr id="260" name="Google Shape;260;p21"/>
            <p:cNvGrpSpPr/>
            <p:nvPr/>
          </p:nvGrpSpPr>
          <p:grpSpPr>
            <a:xfrm>
              <a:off x="1392" y="1956"/>
              <a:ext cx="876" cy="300"/>
              <a:chOff x="2688" y="2100"/>
              <a:chExt cx="876" cy="300"/>
            </a:xfrm>
          </p:grpSpPr>
          <p:cxnSp>
            <p:nvCxnSpPr>
              <p:cNvPr id="261" name="Google Shape;261;p21"/>
              <p:cNvCxnSpPr/>
              <p:nvPr/>
            </p:nvCxnSpPr>
            <p:spPr>
              <a:xfrm>
                <a:off x="2688" y="2400"/>
                <a:ext cx="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262" name="Google Shape;262;p21"/>
              <p:cNvCxnSpPr/>
              <p:nvPr/>
            </p:nvCxnSpPr>
            <p:spPr>
              <a:xfrm>
                <a:off x="3264" y="2400"/>
                <a:ext cx="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263" name="Google Shape;263;p21"/>
              <p:cNvSpPr/>
              <p:nvPr/>
            </p:nvSpPr>
            <p:spPr>
              <a:xfrm>
                <a:off x="2976" y="2376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" name="Google Shape;264;p21"/>
              <p:cNvSpPr/>
              <p:nvPr/>
            </p:nvSpPr>
            <p:spPr>
              <a:xfrm>
                <a:off x="3282" y="2377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65" name="Google Shape;265;p21"/>
              <p:cNvCxnSpPr/>
              <p:nvPr/>
            </p:nvCxnSpPr>
            <p:spPr>
              <a:xfrm flipH="1" rot="10800000">
                <a:off x="2988" y="2100"/>
                <a:ext cx="300" cy="300"/>
              </a:xfrm>
              <a:prstGeom prst="straightConnector1">
                <a:avLst/>
              </a:prstGeom>
              <a:noFill/>
              <a:ln cap="flat" cmpd="sng" w="635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sp>
          <p:nvSpPr>
            <p:cNvPr id="266" name="Google Shape;266;p21"/>
            <p:cNvSpPr txBox="1"/>
            <p:nvPr/>
          </p:nvSpPr>
          <p:spPr>
            <a:xfrm>
              <a:off x="3696" y="1776"/>
              <a:ext cx="600" cy="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b="0" i="0" lang="en" sz="20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 (00)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b="0" i="0" lang="en" sz="20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 (01)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b="0" i="0" lang="en" sz="20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 (10)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b="0" i="0" lang="en" sz="20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 (11)</a:t>
              </a:r>
              <a:endParaRPr/>
            </a:p>
          </p:txBody>
        </p:sp>
      </p:grpSp>
      <p:sp>
        <p:nvSpPr>
          <p:cNvPr id="267" name="Google Shape;267;p21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" name="Google Shape;268;p21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75" name="Google Shape;275;p22"/>
          <p:cNvSpPr/>
          <p:nvPr/>
        </p:nvSpPr>
        <p:spPr>
          <a:xfrm>
            <a:off x="376400" y="999575"/>
            <a:ext cx="8399100" cy="3805800"/>
          </a:xfrm>
          <a:prstGeom prst="roundRect">
            <a:avLst>
              <a:gd fmla="val 5139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2"/>
          <p:cNvSpPr txBox="1"/>
          <p:nvPr/>
        </p:nvSpPr>
        <p:spPr>
          <a:xfrm>
            <a:off x="355850" y="1259050"/>
            <a:ext cx="8440200" cy="21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80"/>
              <a:buFont typeface="Lexend"/>
              <a:buChar char="▪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 general, </a:t>
            </a:r>
            <a:r>
              <a:rPr i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bits can represent 2</a:t>
            </a:r>
            <a:r>
              <a:rPr baseline="30000" i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different values.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17500" lvl="0" marL="3429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80"/>
              <a:buFont typeface="Lexend"/>
              <a:buChar char="▪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 </a:t>
            </a:r>
            <a:r>
              <a:rPr i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values,                  bits are needed.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" name="Google Shape;277;p22"/>
          <p:cNvSpPr txBox="1"/>
          <p:nvPr/>
        </p:nvSpPr>
        <p:spPr>
          <a:xfrm>
            <a:off x="1160100" y="1709050"/>
            <a:ext cx="68238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latin typeface="Lexend Light"/>
                <a:ea typeface="Lexend Light"/>
                <a:cs typeface="Lexend Light"/>
                <a:sym typeface="Lexend Light"/>
              </a:rPr>
              <a:t>1 bit  → represents up to 2 values (0 or 1)</a:t>
            </a:r>
            <a:endParaRPr sz="17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latin typeface="Lexend Light"/>
                <a:ea typeface="Lexend Light"/>
                <a:cs typeface="Lexend Light"/>
                <a:sym typeface="Lexend Light"/>
              </a:rPr>
              <a:t>2 bits → rep. up to 4 values (00, 01, 10 or 11)</a:t>
            </a:r>
            <a:endParaRPr sz="17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latin typeface="Lexend Light"/>
                <a:ea typeface="Lexend Light"/>
                <a:cs typeface="Lexend Light"/>
                <a:sym typeface="Lexend Light"/>
              </a:rPr>
              <a:t>3 bits → rep. up to 8 values (000, 001, 010. …, 110, 111)</a:t>
            </a:r>
            <a:endParaRPr sz="17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latin typeface="Lexend Light"/>
                <a:ea typeface="Lexend Light"/>
                <a:cs typeface="Lexend Light"/>
                <a:sym typeface="Lexend Light"/>
              </a:rPr>
              <a:t>4 bits → rep. up to 16 values (0000, 0001, 0010, …, 1111)</a:t>
            </a:r>
            <a:endParaRPr sz="17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278" name="Google Shape;278;p22"/>
          <p:cNvGrpSpPr/>
          <p:nvPr/>
        </p:nvGrpSpPr>
        <p:grpSpPr>
          <a:xfrm>
            <a:off x="422950" y="1121440"/>
            <a:ext cx="277873" cy="68400"/>
            <a:chOff x="411700" y="2416840"/>
            <a:chExt cx="277873" cy="68400"/>
          </a:xfrm>
        </p:grpSpPr>
        <p:sp>
          <p:nvSpPr>
            <p:cNvPr id="279" name="Google Shape;279;p22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22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22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2" name="Google Shape;282;p22"/>
          <p:cNvSpPr txBox="1"/>
          <p:nvPr/>
        </p:nvSpPr>
        <p:spPr>
          <a:xfrm>
            <a:off x="209775" y="3161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Information representation </a:t>
            </a: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[cont.]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83" name="Google Shape;28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20840" y="2952606"/>
            <a:ext cx="1031862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2"/>
          <p:cNvSpPr txBox="1"/>
          <p:nvPr/>
        </p:nvSpPr>
        <p:spPr>
          <a:xfrm>
            <a:off x="2217450" y="3312650"/>
            <a:ext cx="47091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latin typeface="Lexend Light"/>
                <a:ea typeface="Lexend Light"/>
                <a:cs typeface="Lexend Light"/>
                <a:sym typeface="Lexend Light"/>
              </a:rPr>
              <a:t>32 values     → requires 5 bits</a:t>
            </a:r>
            <a:endParaRPr sz="17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latin typeface="Lexend Light"/>
                <a:ea typeface="Lexend Light"/>
                <a:cs typeface="Lexend Light"/>
                <a:sym typeface="Lexend Light"/>
              </a:rPr>
              <a:t>64 values     → requires 6 bits</a:t>
            </a:r>
            <a:endParaRPr sz="17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latin typeface="Lexend Light"/>
                <a:ea typeface="Lexend Light"/>
                <a:cs typeface="Lexend Light"/>
                <a:sym typeface="Lexend Light"/>
              </a:rPr>
              <a:t>1024 values → requires 10 bits</a:t>
            </a:r>
            <a:endParaRPr sz="17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latin typeface="Lexend Light"/>
                <a:ea typeface="Lexend Light"/>
                <a:cs typeface="Lexend Light"/>
                <a:sym typeface="Lexend Light"/>
              </a:rPr>
              <a:t>40 values     → requires 6 bits</a:t>
            </a:r>
            <a:endParaRPr sz="17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Lexend Light"/>
                <a:ea typeface="Lexend Light"/>
                <a:cs typeface="Lexend Light"/>
                <a:sym typeface="Lexend Light"/>
              </a:rPr>
              <a:t>100 values   → requires 7 bits</a:t>
            </a:r>
            <a:endParaRPr sz="17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85" name="Google Shape;285;p22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" name="Google Shape;286;p22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3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2" name="Google Shape;29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94" name="Google Shape;294;p23"/>
          <p:cNvSpPr txBox="1"/>
          <p:nvPr/>
        </p:nvSpPr>
        <p:spPr>
          <a:xfrm>
            <a:off x="351900" y="791050"/>
            <a:ext cx="8440200" cy="4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•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Decimal number system, symbols = { 0, 1, 2, 3, …, 9 }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2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•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Position is important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Example: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(7594)</a:t>
            </a:r>
            <a:r>
              <a:rPr b="1" baseline="-25000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(7x10</a:t>
            </a:r>
            <a:r>
              <a:rPr b="1" baseline="30000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+ (5x10</a:t>
            </a:r>
            <a:r>
              <a:rPr b="1" baseline="30000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+ (9x10</a:t>
            </a:r>
            <a:r>
              <a:rPr b="1" baseline="30000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+ (4x10</a:t>
            </a:r>
            <a:r>
              <a:rPr b="1" baseline="30000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2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•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 general, 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4290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(a</a:t>
            </a:r>
            <a:r>
              <a:rPr baseline="-25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aseline="-25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n-1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… a</a:t>
            </a:r>
            <a:r>
              <a:rPr baseline="-25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r>
              <a:rPr baseline="-25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 = (a</a:t>
            </a:r>
            <a:r>
              <a:rPr baseline="-25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n 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x 10</a:t>
            </a:r>
            <a:r>
              <a:rPr baseline="30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) + (a</a:t>
            </a:r>
            <a:r>
              <a:rPr baseline="-25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n-1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 x 10</a:t>
            </a:r>
            <a:r>
              <a:rPr baseline="30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n-1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) + … + (a</a:t>
            </a:r>
            <a:r>
              <a:rPr baseline="-25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0 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x 10</a:t>
            </a:r>
            <a:r>
              <a:rPr baseline="30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000">
              <a:solidFill>
                <a:srgbClr val="222268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(2.75)</a:t>
            </a:r>
            <a:r>
              <a:rPr b="1" baseline="-25000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(2 x 10</a:t>
            </a:r>
            <a:r>
              <a:rPr b="1" baseline="30000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+ (7 x 10</a:t>
            </a:r>
            <a:r>
              <a:rPr b="1" baseline="30000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-1</a:t>
            </a: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+ (5 x 10</a:t>
            </a:r>
            <a:r>
              <a:rPr b="1" baseline="30000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-2</a:t>
            </a: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2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 general, 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2100" lvl="0" marL="342900" rtl="0" algn="l">
              <a:spcBef>
                <a:spcPts val="560"/>
              </a:spcBef>
              <a:spcAft>
                <a:spcPts val="0"/>
              </a:spcAft>
              <a:buClr>
                <a:srgbClr val="222268"/>
              </a:buClr>
              <a:buSzPts val="2000"/>
              <a:buChar char="•"/>
            </a:pP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(a</a:t>
            </a:r>
            <a:r>
              <a:rPr baseline="-25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aseline="-25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n-1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… a</a:t>
            </a:r>
            <a:r>
              <a:rPr baseline="-25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 . f</a:t>
            </a:r>
            <a:r>
              <a:rPr baseline="-25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r>
              <a:rPr baseline="-25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 … f</a:t>
            </a:r>
            <a:r>
              <a:rPr baseline="-25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r>
              <a:rPr baseline="-25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 = (a</a:t>
            </a:r>
            <a:r>
              <a:rPr baseline="-25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n 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x 10</a:t>
            </a:r>
            <a:r>
              <a:rPr baseline="30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) + (a</a:t>
            </a:r>
            <a:r>
              <a:rPr baseline="-25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n-1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x10</a:t>
            </a:r>
            <a:r>
              <a:rPr baseline="30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n-1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) + … + (a</a:t>
            </a:r>
            <a:r>
              <a:rPr baseline="-25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0 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x 10</a:t>
            </a:r>
            <a:r>
              <a:rPr baseline="30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) + (f</a:t>
            </a:r>
            <a:r>
              <a:rPr baseline="-25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1 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x 10</a:t>
            </a:r>
            <a:r>
              <a:rPr baseline="30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-1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) + (f</a:t>
            </a:r>
            <a:r>
              <a:rPr baseline="-25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 x 10</a:t>
            </a:r>
            <a:r>
              <a:rPr baseline="30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-2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) + … + (f</a:t>
            </a:r>
            <a:r>
              <a:rPr baseline="-25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m 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x 10</a:t>
            </a:r>
            <a:r>
              <a:rPr baseline="30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-m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95" name="Google Shape;295;p23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296" name="Google Shape;296;p23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23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23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9" name="Google Shape;299;p23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Positional Notations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3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3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308" name="Google Shape;308;p24"/>
          <p:cNvSpPr/>
          <p:nvPr/>
        </p:nvSpPr>
        <p:spPr>
          <a:xfrm>
            <a:off x="376400" y="999575"/>
            <a:ext cx="8399100" cy="3805800"/>
          </a:xfrm>
          <a:prstGeom prst="roundRect">
            <a:avLst>
              <a:gd fmla="val 5139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9" name="Google Shape;309;p24"/>
          <p:cNvGrpSpPr/>
          <p:nvPr/>
        </p:nvGrpSpPr>
        <p:grpSpPr>
          <a:xfrm>
            <a:off x="422950" y="1121440"/>
            <a:ext cx="277873" cy="68400"/>
            <a:chOff x="411700" y="2416840"/>
            <a:chExt cx="277873" cy="68400"/>
          </a:xfrm>
        </p:grpSpPr>
        <p:sp>
          <p:nvSpPr>
            <p:cNvPr id="310" name="Google Shape;310;p2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2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2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3" name="Google Shape;313;p24"/>
          <p:cNvSpPr txBox="1"/>
          <p:nvPr/>
        </p:nvSpPr>
        <p:spPr>
          <a:xfrm>
            <a:off x="355850" y="1259050"/>
            <a:ext cx="8440200" cy="3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51459" lvl="0" marL="3429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Noto Sans Symbols"/>
              <a:buChar char="▪"/>
            </a:pPr>
            <a:r>
              <a:rPr lang="en" sz="24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Binary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(base 2): weights in powers-of-2. Binary digits (bits): </a:t>
            </a:r>
            <a:r>
              <a:rPr b="1" i="1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0,1</a:t>
            </a:r>
            <a:endParaRPr b="1"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51459" lvl="0" marL="342900" rtl="0" algn="l">
              <a:spcBef>
                <a:spcPts val="64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Noto Sans Symbols"/>
              <a:buChar char="▪"/>
            </a:pPr>
            <a:r>
              <a:rPr lang="en" sz="24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Octal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(base 8): weights in powers-of-8. Octal digits: </a:t>
            </a:r>
            <a:r>
              <a:rPr b="1" i="1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0,1,2,3,4,5,6,7</a:t>
            </a:r>
            <a:endParaRPr b="1"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51459" lvl="0" marL="342900" rtl="0" algn="l">
              <a:spcBef>
                <a:spcPts val="64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Noto Sans Symbols"/>
              <a:buChar char="▪"/>
            </a:pPr>
            <a:r>
              <a:rPr lang="en" sz="24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Hexadecimal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(base 16): weights in powers-of-16. Hexadecimal digits: </a:t>
            </a:r>
            <a:r>
              <a:rPr b="1" i="1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0,1,2,3,4,5,6,7,8,9,A,B,C,D,E,F</a:t>
            </a:r>
            <a:endParaRPr b="1"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Note: when base is r, coefficient values range from 0 to r-1.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4"/>
          <p:cNvSpPr txBox="1"/>
          <p:nvPr/>
        </p:nvSpPr>
        <p:spPr>
          <a:xfrm>
            <a:off x="209775" y="3161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Other Number Systems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24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24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1" name="Google Shape;32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25"/>
          <p:cNvSpPr txBox="1"/>
          <p:nvPr/>
        </p:nvSpPr>
        <p:spPr>
          <a:xfrm>
            <a:off x="209775" y="316175"/>
            <a:ext cx="9045900" cy="11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Other Number 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Systems [cont]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3" name="Google Shape;323;p2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324" name="Google Shape;324;p25"/>
          <p:cNvSpPr/>
          <p:nvPr/>
        </p:nvSpPr>
        <p:spPr>
          <a:xfrm>
            <a:off x="376400" y="1538275"/>
            <a:ext cx="3087600" cy="3267000"/>
          </a:xfrm>
          <a:prstGeom prst="roundRect">
            <a:avLst>
              <a:gd fmla="val 3306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5" name="Google Shape;325;p25"/>
          <p:cNvGrpSpPr/>
          <p:nvPr/>
        </p:nvGrpSpPr>
        <p:grpSpPr>
          <a:xfrm>
            <a:off x="422950" y="1620721"/>
            <a:ext cx="277873" cy="68400"/>
            <a:chOff x="411700" y="2416840"/>
            <a:chExt cx="277873" cy="68400"/>
          </a:xfrm>
        </p:grpSpPr>
        <p:sp>
          <p:nvSpPr>
            <p:cNvPr id="326" name="Google Shape;326;p2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2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2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9" name="Google Shape;329;p25"/>
          <p:cNvSpPr txBox="1"/>
          <p:nvPr/>
        </p:nvSpPr>
        <p:spPr>
          <a:xfrm>
            <a:off x="342275" y="1612925"/>
            <a:ext cx="3087600" cy="32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07009" lvl="0" marL="3429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700"/>
              <a:buFont typeface="Noto Sans Symbols"/>
              <a:buChar char="▪"/>
            </a:pPr>
            <a:r>
              <a:rPr lang="en" sz="17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Binary</a:t>
            </a: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(base 2): weights in powers-of-2. Binary digits (bits): </a:t>
            </a:r>
            <a:r>
              <a:rPr b="1" i="1"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0,1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07009" lvl="0" marL="342900" rtl="0" algn="l">
              <a:spcBef>
                <a:spcPts val="640"/>
              </a:spcBef>
              <a:spcAft>
                <a:spcPts val="0"/>
              </a:spcAft>
              <a:buClr>
                <a:srgbClr val="0000FF"/>
              </a:buClr>
              <a:buSzPts val="1700"/>
              <a:buFont typeface="Noto Sans Symbols"/>
              <a:buChar char="▪"/>
            </a:pPr>
            <a:r>
              <a:rPr lang="en" sz="17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Octal</a:t>
            </a: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(base 8): weights in powers-of-8. Octal digits: </a:t>
            </a:r>
            <a:r>
              <a:rPr b="1" i="1"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0,1,2,3,4,5,6,7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07009" lvl="0" marL="342900" rtl="0" algn="l">
              <a:spcBef>
                <a:spcPts val="640"/>
              </a:spcBef>
              <a:spcAft>
                <a:spcPts val="0"/>
              </a:spcAft>
              <a:buClr>
                <a:srgbClr val="0000FF"/>
              </a:buClr>
              <a:buSzPts val="1700"/>
              <a:buFont typeface="Noto Sans Symbols"/>
              <a:buChar char="▪"/>
            </a:pPr>
            <a:r>
              <a:rPr lang="en" sz="17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Hexadecimal</a:t>
            </a: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(base 16): weights in powers-of-16. Hexadecimal digits: </a:t>
            </a:r>
            <a:r>
              <a:rPr b="1" i="1"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0,1,2,3,4,5,6,7,8,9,A,B,C,D,E,F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30" name="Google Shape;330;p25"/>
          <p:cNvGraphicFramePr/>
          <p:nvPr/>
        </p:nvGraphicFramePr>
        <p:xfrm>
          <a:off x="3973225" y="356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{66F2DF35-4588-4131-A6C4-22402FBD9EB5}</a:tableStyleId>
              </a:tblPr>
              <a:tblGrid>
                <a:gridCol w="1124800"/>
                <a:gridCol w="1007225"/>
                <a:gridCol w="939875"/>
                <a:gridCol w="1427325"/>
              </a:tblGrid>
              <a:tr h="25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i="0" lang="en" sz="12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Binary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i="0" lang="en" sz="12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Octal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i="0" lang="en" sz="12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Decimal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i="0" lang="en" sz="12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Hexadecimal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E0E3"/>
                    </a:solidFill>
                  </a:tcPr>
                </a:tc>
              </a:tr>
              <a:tr h="25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i="0" lang="en" sz="12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0000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</a:tr>
              <a:tr h="244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0001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</a:tr>
              <a:tr h="244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0010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2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2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2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</a:tr>
              <a:tr h="244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0011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3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3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3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</a:tr>
              <a:tr h="244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0100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4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4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4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</a:tr>
              <a:tr h="244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0101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5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5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5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</a:tr>
              <a:tr h="244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0110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6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6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6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</a:tr>
              <a:tr h="244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0111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7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7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7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</a:tr>
              <a:tr h="25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i="0" lang="en" sz="12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1000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10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8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8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</a:tr>
              <a:tr h="244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1001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11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9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9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</a:tr>
              <a:tr h="244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1010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12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10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A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</a:tr>
              <a:tr h="244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1011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13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11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B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</a:tr>
              <a:tr h="244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1100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14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12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C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</a:tr>
              <a:tr h="244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1101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15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13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D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</a:tr>
              <a:tr h="244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1110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16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14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E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</a:tr>
              <a:tr h="244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1111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17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15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F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</a:tr>
            </a:tbl>
          </a:graphicData>
        </a:graphic>
      </p:graphicFrame>
      <p:sp>
        <p:nvSpPr>
          <p:cNvPr id="331" name="Google Shape;331;p2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2" name="Google Shape;332;p2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6"/>
          <p:cNvSpPr/>
          <p:nvPr/>
        </p:nvSpPr>
        <p:spPr>
          <a:xfrm>
            <a:off x="0" y="25350"/>
            <a:ext cx="9144000" cy="49323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8" name="Google Shape;33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2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340" name="Google Shape;340;p26"/>
          <p:cNvSpPr txBox="1"/>
          <p:nvPr/>
        </p:nvSpPr>
        <p:spPr>
          <a:xfrm>
            <a:off x="351900" y="809940"/>
            <a:ext cx="8155500" cy="20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rgbClr val="009999"/>
              </a:buClr>
              <a:buSzPts val="2520"/>
              <a:buFont typeface="Lexend"/>
              <a:buChar char="❖"/>
            </a:pPr>
            <a:r>
              <a:rPr lang="en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Whole numbers: repeated </a:t>
            </a:r>
            <a:r>
              <a:rPr b="1" lang="en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division</a:t>
            </a:r>
            <a:r>
              <a:rPr lang="en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-by-R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rgbClr val="009999"/>
              </a:buClr>
              <a:buSzPts val="2520"/>
              <a:buFont typeface="Lexend"/>
              <a:buChar char="❖"/>
            </a:pPr>
            <a:r>
              <a:rPr lang="en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Fractions: repeated </a:t>
            </a:r>
            <a:r>
              <a:rPr b="1" lang="en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multiplication</a:t>
            </a:r>
            <a:r>
              <a:rPr lang="en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-by-R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aseline="-25000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41" name="Google Shape;341;p26"/>
          <p:cNvGrpSpPr/>
          <p:nvPr/>
        </p:nvGrpSpPr>
        <p:grpSpPr>
          <a:xfrm>
            <a:off x="50480" y="125357"/>
            <a:ext cx="277873" cy="70089"/>
            <a:chOff x="411700" y="2416840"/>
            <a:chExt cx="277873" cy="68400"/>
          </a:xfrm>
        </p:grpSpPr>
        <p:sp>
          <p:nvSpPr>
            <p:cNvPr id="342" name="Google Shape;342;p26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26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26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5" name="Google Shape;345;p26"/>
          <p:cNvSpPr txBox="1"/>
          <p:nvPr/>
        </p:nvSpPr>
        <p:spPr>
          <a:xfrm>
            <a:off x="209775" y="167190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Decimal to Base-R Conversion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6" name="Google Shape;346;p26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7" name="Google Shape;347;p26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7"/>
          <p:cNvSpPr/>
          <p:nvPr/>
        </p:nvSpPr>
        <p:spPr>
          <a:xfrm>
            <a:off x="0" y="25350"/>
            <a:ext cx="9144000" cy="49152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3" name="Google Shape;35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2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355" name="Google Shape;355;p27"/>
          <p:cNvSpPr txBox="1"/>
          <p:nvPr/>
        </p:nvSpPr>
        <p:spPr>
          <a:xfrm>
            <a:off x="351900" y="791050"/>
            <a:ext cx="4903200" cy="33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6924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▪"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To convert a </a:t>
            </a:r>
            <a:r>
              <a:rPr lang="en" sz="22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whole number</a:t>
            </a: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to </a:t>
            </a:r>
            <a:r>
              <a:rPr b="1"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binary</a:t>
            </a: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use </a:t>
            </a:r>
            <a:r>
              <a:rPr lang="en" sz="22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successive division by 2</a:t>
            </a: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until the quotient is 0. The remainders form the answer, with the first remainder as the </a:t>
            </a:r>
            <a:r>
              <a:rPr i="1"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least significant bit (LSB)</a:t>
            </a: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and the last as the </a:t>
            </a:r>
            <a:r>
              <a:rPr i="1"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most significant bit (MSB)</a:t>
            </a: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(43)</a:t>
            </a:r>
            <a:r>
              <a:rPr baseline="-25000"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 </a:t>
            </a: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(101011)</a:t>
            </a:r>
            <a:r>
              <a:rPr baseline="-25000"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-25000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56" name="Google Shape;356;p27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357" name="Google Shape;357;p27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27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27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0" name="Google Shape;360;p27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Repeated Division-by-2 Method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61" name="Google Shape;361;p27"/>
          <p:cNvCxnSpPr/>
          <p:nvPr/>
        </p:nvCxnSpPr>
        <p:spPr>
          <a:xfrm>
            <a:off x="5211025" y="985600"/>
            <a:ext cx="0" cy="3868500"/>
          </a:xfrm>
          <a:prstGeom prst="straightConnector1">
            <a:avLst/>
          </a:prstGeom>
          <a:noFill/>
          <a:ln cap="flat" cmpd="sng" w="9525">
            <a:solidFill>
              <a:srgbClr val="A9B0FE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62" name="Google Shape;362;p27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54950" y="1196475"/>
            <a:ext cx="3250800" cy="30522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27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27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8"/>
          <p:cNvSpPr/>
          <p:nvPr/>
        </p:nvSpPr>
        <p:spPr>
          <a:xfrm>
            <a:off x="0" y="25350"/>
            <a:ext cx="9144000" cy="48135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0" name="Google Shape;37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2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372" name="Google Shape;372;p28"/>
          <p:cNvSpPr txBox="1"/>
          <p:nvPr/>
        </p:nvSpPr>
        <p:spPr>
          <a:xfrm>
            <a:off x="351900" y="791050"/>
            <a:ext cx="4903200" cy="40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972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▪"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To convert </a:t>
            </a:r>
            <a:r>
              <a:rPr lang="en" sz="22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decimal fractions</a:t>
            </a: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to binary, </a:t>
            </a:r>
            <a:r>
              <a:rPr lang="en" sz="22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repeated multiplication by 2</a:t>
            </a: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 used, until the fractional product is 0 (or until the desired number of decimal places). The carried digits, or </a:t>
            </a:r>
            <a:r>
              <a:rPr i="1"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carries</a:t>
            </a: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produce the answer, with the first carry as the MSB, and the last as the LSB.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96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(0.3125)</a:t>
            </a:r>
            <a:r>
              <a:rPr baseline="-25000"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 </a:t>
            </a: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(.0101)</a:t>
            </a:r>
            <a:r>
              <a:rPr baseline="-25000"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73" name="Google Shape;373;p28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374" name="Google Shape;374;p28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28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28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7" name="Google Shape;377;p28"/>
          <p:cNvSpPr txBox="1"/>
          <p:nvPr/>
        </p:nvSpPr>
        <p:spPr>
          <a:xfrm>
            <a:off x="209775" y="163775"/>
            <a:ext cx="90459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latin typeface="Lexend"/>
                <a:ea typeface="Lexend"/>
                <a:cs typeface="Lexend"/>
                <a:sym typeface="Lexend"/>
              </a:rPr>
              <a:t>Repeated Multiplication-by-2 Method</a:t>
            </a:r>
            <a:endParaRPr sz="35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78" name="Google Shape;378;p28"/>
          <p:cNvCxnSpPr/>
          <p:nvPr/>
        </p:nvCxnSpPr>
        <p:spPr>
          <a:xfrm>
            <a:off x="5211025" y="985600"/>
            <a:ext cx="0" cy="3868500"/>
          </a:xfrm>
          <a:prstGeom prst="straightConnector1">
            <a:avLst/>
          </a:prstGeom>
          <a:noFill/>
          <a:ln cap="flat" cmpd="sng" w="9525">
            <a:solidFill>
              <a:srgbClr val="A9B0FE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79" name="Google Shape;379;p28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11025" y="1773250"/>
            <a:ext cx="3889800" cy="1860900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28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1" name="Google Shape;381;p28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2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388" name="Google Shape;388;p29"/>
          <p:cNvSpPr txBox="1"/>
          <p:nvPr/>
        </p:nvSpPr>
        <p:spPr>
          <a:xfrm>
            <a:off x="209775" y="316175"/>
            <a:ext cx="90459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latin typeface="Lexend"/>
                <a:ea typeface="Lexend"/>
                <a:cs typeface="Lexend"/>
                <a:sym typeface="Lexend"/>
              </a:rPr>
              <a:t>Repeated Multiplication-by-2 Method</a:t>
            </a:r>
            <a:endParaRPr sz="3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9" name="Google Shape;389;p29"/>
          <p:cNvSpPr/>
          <p:nvPr/>
        </p:nvSpPr>
        <p:spPr>
          <a:xfrm>
            <a:off x="364825" y="1324925"/>
            <a:ext cx="3873000" cy="3480300"/>
          </a:xfrm>
          <a:prstGeom prst="roundRect">
            <a:avLst>
              <a:gd fmla="val 4803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29"/>
          <p:cNvSpPr/>
          <p:nvPr/>
        </p:nvSpPr>
        <p:spPr>
          <a:xfrm>
            <a:off x="4828700" y="1324925"/>
            <a:ext cx="3873000" cy="3480300"/>
          </a:xfrm>
          <a:prstGeom prst="roundRect">
            <a:avLst>
              <a:gd fmla="val 4803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1" name="Google Shape;391;p29"/>
          <p:cNvGrpSpPr/>
          <p:nvPr/>
        </p:nvGrpSpPr>
        <p:grpSpPr>
          <a:xfrm>
            <a:off x="4922013" y="1426240"/>
            <a:ext cx="277873" cy="68400"/>
            <a:chOff x="5024113" y="2416840"/>
            <a:chExt cx="277873" cy="68400"/>
          </a:xfrm>
        </p:grpSpPr>
        <p:sp>
          <p:nvSpPr>
            <p:cNvPr id="392" name="Google Shape;392;p29"/>
            <p:cNvSpPr/>
            <p:nvPr/>
          </p:nvSpPr>
          <p:spPr>
            <a:xfrm>
              <a:off x="5024113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29"/>
            <p:cNvSpPr/>
            <p:nvPr/>
          </p:nvSpPr>
          <p:spPr>
            <a:xfrm>
              <a:off x="5128849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29"/>
            <p:cNvSpPr/>
            <p:nvPr/>
          </p:nvSpPr>
          <p:spPr>
            <a:xfrm>
              <a:off x="5233585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5" name="Google Shape;395;p29"/>
          <p:cNvGrpSpPr/>
          <p:nvPr/>
        </p:nvGrpSpPr>
        <p:grpSpPr>
          <a:xfrm>
            <a:off x="422950" y="1426240"/>
            <a:ext cx="277873" cy="68400"/>
            <a:chOff x="411700" y="2416840"/>
            <a:chExt cx="277873" cy="68400"/>
          </a:xfrm>
        </p:grpSpPr>
        <p:sp>
          <p:nvSpPr>
            <p:cNvPr id="396" name="Google Shape;396;p29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29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29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9" name="Google Shape;399;p29"/>
          <p:cNvSpPr txBox="1"/>
          <p:nvPr/>
        </p:nvSpPr>
        <p:spPr>
          <a:xfrm>
            <a:off x="355375" y="1956875"/>
            <a:ext cx="38919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Lexend Light"/>
              <a:buChar char="➔"/>
            </a:pPr>
            <a:r>
              <a:rPr lang="en" sz="2200">
                <a:latin typeface="Lexend Light"/>
                <a:ea typeface="Lexend Light"/>
                <a:cs typeface="Lexend Light"/>
                <a:sym typeface="Lexend Light"/>
              </a:rPr>
              <a:t>Division by base of target no. system </a:t>
            </a:r>
            <a:endParaRPr sz="22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Lexend Light"/>
              <a:buChar char="➔"/>
            </a:pPr>
            <a:r>
              <a:rPr lang="en" sz="2200">
                <a:latin typeface="Lexend Light"/>
                <a:ea typeface="Lexend Light"/>
                <a:cs typeface="Lexend Light"/>
                <a:sym typeface="Lexend Light"/>
              </a:rPr>
              <a:t>Remainders are accumulated</a:t>
            </a:r>
            <a:endParaRPr sz="22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Lexend Light"/>
              <a:buChar char="➔"/>
            </a:pPr>
            <a:r>
              <a:rPr lang="en" sz="2200">
                <a:latin typeface="Lexend Light"/>
                <a:ea typeface="Lexend Light"/>
                <a:cs typeface="Lexend Light"/>
                <a:sym typeface="Lexend Light"/>
              </a:rPr>
              <a:t>By division we obtain LSB to MSB</a:t>
            </a:r>
            <a:endParaRPr sz="22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00" name="Google Shape;400;p29"/>
          <p:cNvSpPr txBox="1"/>
          <p:nvPr/>
        </p:nvSpPr>
        <p:spPr>
          <a:xfrm>
            <a:off x="4819250" y="1956875"/>
            <a:ext cx="38919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 Light"/>
              <a:buChar char="➔"/>
            </a:pPr>
            <a:r>
              <a:rPr lang="en" sz="22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Multiplication by base of target no. system </a:t>
            </a:r>
            <a:endParaRPr sz="22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 Light"/>
              <a:buChar char="➔"/>
            </a:pPr>
            <a:r>
              <a:rPr lang="en" sz="22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Integers are accumulated</a:t>
            </a:r>
            <a:endParaRPr sz="22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 Light"/>
              <a:buChar char="➔"/>
            </a:pPr>
            <a:r>
              <a:rPr lang="en" sz="22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By multiplication we obtain MSB to LSB</a:t>
            </a:r>
            <a:endParaRPr sz="22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01" name="Google Shape;401;p29"/>
          <p:cNvSpPr txBox="1"/>
          <p:nvPr/>
        </p:nvSpPr>
        <p:spPr>
          <a:xfrm>
            <a:off x="787975" y="1324925"/>
            <a:ext cx="302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Integer</a:t>
            </a:r>
            <a:endParaRPr b="1" baseline="-25000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29"/>
          <p:cNvSpPr txBox="1"/>
          <p:nvPr/>
        </p:nvSpPr>
        <p:spPr>
          <a:xfrm>
            <a:off x="5251850" y="1324925"/>
            <a:ext cx="302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Fraction</a:t>
            </a:r>
            <a:endParaRPr b="1" baseline="-25000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3" name="Google Shape;403;p29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4" name="Google Shape;404;p29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0"/>
          <p:cNvSpPr/>
          <p:nvPr/>
        </p:nvSpPr>
        <p:spPr>
          <a:xfrm>
            <a:off x="0" y="25350"/>
            <a:ext cx="9144000" cy="49236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10" name="Google Shape;41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3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412" name="Google Shape;412;p30"/>
          <p:cNvSpPr txBox="1"/>
          <p:nvPr/>
        </p:nvSpPr>
        <p:spPr>
          <a:xfrm>
            <a:off x="351900" y="791050"/>
            <a:ext cx="4510800" cy="40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***Formula= ∑ digit * source_base</a:t>
            </a:r>
            <a:r>
              <a:rPr baseline="30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position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(1101.101)</a:t>
            </a:r>
            <a:r>
              <a:rPr b="1" baseline="-25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endParaRPr b="1" baseline="-25000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1×</a:t>
            </a:r>
            <a:r>
              <a:rPr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3 </a:t>
            </a:r>
            <a:r>
              <a:rPr baseline="30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 1×</a:t>
            </a:r>
            <a:r>
              <a:rPr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 1×</a:t>
            </a:r>
            <a:r>
              <a:rPr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0 </a:t>
            </a:r>
            <a:r>
              <a:rPr baseline="30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+ 1×</a:t>
            </a:r>
            <a:r>
              <a:rPr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-1</a:t>
            </a:r>
            <a:r>
              <a:rPr baseline="30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+ 1×</a:t>
            </a:r>
            <a:r>
              <a:rPr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-3</a:t>
            </a:r>
            <a:endParaRPr baseline="30000" sz="18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8 + 4 + 1 + 0.5 + 0.125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(13.625)</a:t>
            </a:r>
            <a:r>
              <a:rPr baseline="-25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(572.6)</a:t>
            </a:r>
            <a:r>
              <a:rPr b="1" baseline="-25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 </a:t>
            </a:r>
            <a:endParaRPr b="1" baseline="-25000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5×</a:t>
            </a:r>
            <a:r>
              <a:rPr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r>
              <a:rPr baseline="30000"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 7×</a:t>
            </a:r>
            <a:r>
              <a:rPr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r>
              <a:rPr baseline="30000"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baseline="30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 2×</a:t>
            </a:r>
            <a:r>
              <a:rPr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r>
              <a:rPr baseline="30000"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baseline="30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+ 6×</a:t>
            </a:r>
            <a:r>
              <a:rPr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r>
              <a:rPr baseline="30000"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-1</a:t>
            </a:r>
            <a:r>
              <a:rPr baseline="30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	</a:t>
            </a: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	     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320 + 56 + 2 + 0.75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(378.75)</a:t>
            </a:r>
            <a:r>
              <a:rPr baseline="-25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baseline="-25000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13" name="Google Shape;413;p30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414" name="Google Shape;414;p30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30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30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7" name="Google Shape;417;p30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Base-R to Decimal Conversion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8" name="Google Shape;418;p30"/>
          <p:cNvSpPr txBox="1"/>
          <p:nvPr/>
        </p:nvSpPr>
        <p:spPr>
          <a:xfrm>
            <a:off x="5195725" y="791050"/>
            <a:ext cx="3872100" cy="39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2A</a:t>
            </a: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.8)</a:t>
            </a:r>
            <a:r>
              <a:rPr b="1" baseline="-25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16 </a:t>
            </a:r>
            <a:endParaRPr b="1" baseline="-25000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2×</a:t>
            </a:r>
            <a:r>
              <a:rPr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16</a:t>
            </a:r>
            <a:r>
              <a:rPr baseline="30000"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baseline="30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+ 10×</a:t>
            </a:r>
            <a:r>
              <a:rPr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16</a:t>
            </a:r>
            <a:r>
              <a:rPr baseline="30000"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baseline="30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+ 8×</a:t>
            </a:r>
            <a:r>
              <a:rPr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16</a:t>
            </a:r>
            <a:r>
              <a:rPr baseline="30000"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-1</a:t>
            </a:r>
            <a:r>
              <a:rPr baseline="30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	</a:t>
            </a: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	     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32 + 10 + 0.5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(42.5)</a:t>
            </a:r>
            <a:r>
              <a:rPr baseline="-25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baseline="-25000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(341.24)</a:t>
            </a:r>
            <a:r>
              <a:rPr b="1" baseline="-25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 </a:t>
            </a:r>
            <a:endParaRPr b="1" baseline="-25000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3×</a:t>
            </a:r>
            <a:r>
              <a:rPr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baseline="30000"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 4×</a:t>
            </a:r>
            <a:r>
              <a:rPr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baseline="30000"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baseline="30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+ 1×</a:t>
            </a:r>
            <a:r>
              <a:rPr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baseline="30000"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baseline="30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+ 2×</a:t>
            </a:r>
            <a:r>
              <a:rPr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baseline="30000"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-1</a:t>
            </a:r>
            <a:r>
              <a:rPr baseline="30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+ 4×</a:t>
            </a:r>
            <a:r>
              <a:rPr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baseline="30000"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-2</a:t>
            </a:r>
            <a:endParaRPr baseline="30000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75 + 20 + 1 + 0.4 + 0.16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(96.56)</a:t>
            </a:r>
            <a:r>
              <a:rPr baseline="-25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baseline="-25000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19" name="Google Shape;419;p30"/>
          <p:cNvCxnSpPr/>
          <p:nvPr/>
        </p:nvCxnSpPr>
        <p:spPr>
          <a:xfrm>
            <a:off x="4870950" y="978550"/>
            <a:ext cx="0" cy="3868500"/>
          </a:xfrm>
          <a:prstGeom prst="straightConnector1">
            <a:avLst/>
          </a:prstGeom>
          <a:noFill/>
          <a:ln cap="flat" cmpd="sng" w="9525">
            <a:solidFill>
              <a:srgbClr val="A9B0F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0" name="Google Shape;420;p30"/>
          <p:cNvCxnSpPr/>
          <p:nvPr/>
        </p:nvCxnSpPr>
        <p:spPr>
          <a:xfrm>
            <a:off x="129300" y="2733125"/>
            <a:ext cx="8885400" cy="0"/>
          </a:xfrm>
          <a:prstGeom prst="straightConnector1">
            <a:avLst/>
          </a:prstGeom>
          <a:noFill/>
          <a:ln cap="flat" cmpd="sng" w="9525">
            <a:solidFill>
              <a:srgbClr val="A9B0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1" name="Google Shape;421;p30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2" name="Google Shape;422;p30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1"/>
          <p:cNvSpPr/>
          <p:nvPr/>
        </p:nvSpPr>
        <p:spPr>
          <a:xfrm>
            <a:off x="0" y="25350"/>
            <a:ext cx="9144000" cy="49236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8" name="Google Shape;42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3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430" name="Google Shape;430;p31"/>
          <p:cNvSpPr txBox="1"/>
          <p:nvPr/>
        </p:nvSpPr>
        <p:spPr>
          <a:xfrm>
            <a:off x="351900" y="791050"/>
            <a:ext cx="8494200" cy="37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51459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Lexend"/>
              <a:buChar char="▪"/>
            </a:pPr>
            <a:r>
              <a:rPr lang="en" sz="24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Binary → Octal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 Partition in groups of 3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(10 111 011 001 . 101 110)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(2731.56)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51459" lvl="0" marL="3429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Lexend"/>
              <a:buChar char="▪"/>
            </a:pPr>
            <a:r>
              <a:rPr lang="en" sz="24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Octal → Binary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 reverse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(2731.56)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 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(10 111 011 001 . 101 110)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51459" lvl="0" marL="3429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Lexend"/>
              <a:buChar char="▪"/>
            </a:pPr>
            <a:r>
              <a:rPr lang="en" sz="24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Binary → Hexadecimal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 Partition in groups of 4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(101 1101 1001 . 1011 1000)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(5D9.B8)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16 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51459" lvl="0" marL="3429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Lexend"/>
              <a:buChar char="▪"/>
            </a:pPr>
            <a:r>
              <a:rPr lang="en" sz="24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Hexadecimal → Binary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 reverse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(5D9.B8)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16 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(101 1101 1001 . 1011 1000)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31" name="Google Shape;431;p31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432" name="Google Shape;432;p31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31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31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5" name="Google Shape;435;p31"/>
          <p:cNvSpPr txBox="1"/>
          <p:nvPr/>
        </p:nvSpPr>
        <p:spPr>
          <a:xfrm>
            <a:off x="209775" y="163775"/>
            <a:ext cx="90459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latin typeface="Lexend"/>
                <a:ea typeface="Lexend"/>
                <a:cs typeface="Lexend"/>
                <a:sym typeface="Lexend"/>
              </a:rPr>
              <a:t>Binary-Octal/Hexadecimal Conversion</a:t>
            </a:r>
            <a:endParaRPr sz="34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6" name="Google Shape;436;p31"/>
          <p:cNvSpPr/>
          <p:nvPr/>
        </p:nvSpPr>
        <p:spPr>
          <a:xfrm rot="-5400000">
            <a:off x="1348875" y="1472825"/>
            <a:ext cx="152400" cy="381000"/>
          </a:xfrm>
          <a:prstGeom prst="leftBrace">
            <a:avLst>
              <a:gd fmla="val 720" name="adj1"/>
              <a:gd fmla="val 50000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31"/>
          <p:cNvSpPr/>
          <p:nvPr/>
        </p:nvSpPr>
        <p:spPr>
          <a:xfrm rot="-5400000">
            <a:off x="1882275" y="1472825"/>
            <a:ext cx="152400" cy="381000"/>
          </a:xfrm>
          <a:prstGeom prst="leftBrace">
            <a:avLst>
              <a:gd fmla="val 720" name="adj1"/>
              <a:gd fmla="val 50000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31"/>
          <p:cNvSpPr/>
          <p:nvPr/>
        </p:nvSpPr>
        <p:spPr>
          <a:xfrm rot="-5400000">
            <a:off x="2415675" y="1472825"/>
            <a:ext cx="152400" cy="381000"/>
          </a:xfrm>
          <a:prstGeom prst="leftBrace">
            <a:avLst>
              <a:gd fmla="val 720" name="adj1"/>
              <a:gd fmla="val 50000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31"/>
          <p:cNvSpPr/>
          <p:nvPr/>
        </p:nvSpPr>
        <p:spPr>
          <a:xfrm rot="-5400000">
            <a:off x="3010987" y="1487112"/>
            <a:ext cx="152400" cy="381000"/>
          </a:xfrm>
          <a:prstGeom prst="leftBrace">
            <a:avLst>
              <a:gd fmla="val 720" name="adj1"/>
              <a:gd fmla="val 50000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31"/>
          <p:cNvSpPr/>
          <p:nvPr/>
        </p:nvSpPr>
        <p:spPr>
          <a:xfrm rot="-5400000">
            <a:off x="3755525" y="1472825"/>
            <a:ext cx="152400" cy="381000"/>
          </a:xfrm>
          <a:prstGeom prst="leftBrace">
            <a:avLst>
              <a:gd fmla="val 720" name="adj1"/>
              <a:gd fmla="val 50000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31"/>
          <p:cNvSpPr/>
          <p:nvPr/>
        </p:nvSpPr>
        <p:spPr>
          <a:xfrm rot="-5400000">
            <a:off x="4393700" y="1472825"/>
            <a:ext cx="152400" cy="381000"/>
          </a:xfrm>
          <a:prstGeom prst="leftBrace">
            <a:avLst>
              <a:gd fmla="val 720" name="adj1"/>
              <a:gd fmla="val 50000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31"/>
          <p:cNvSpPr/>
          <p:nvPr/>
        </p:nvSpPr>
        <p:spPr>
          <a:xfrm rot="-5400000">
            <a:off x="1476825" y="3320400"/>
            <a:ext cx="152400" cy="381000"/>
          </a:xfrm>
          <a:prstGeom prst="leftBrace">
            <a:avLst>
              <a:gd fmla="val 720" name="adj1"/>
              <a:gd fmla="val 50000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31"/>
          <p:cNvSpPr/>
          <p:nvPr/>
        </p:nvSpPr>
        <p:spPr>
          <a:xfrm rot="-5400000">
            <a:off x="2080912" y="3225949"/>
            <a:ext cx="158700" cy="576300"/>
          </a:xfrm>
          <a:prstGeom prst="leftBrace">
            <a:avLst>
              <a:gd fmla="val 496" name="adj1"/>
              <a:gd fmla="val 50000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31"/>
          <p:cNvSpPr/>
          <p:nvPr/>
        </p:nvSpPr>
        <p:spPr>
          <a:xfrm rot="-5400000">
            <a:off x="2843662" y="3206100"/>
            <a:ext cx="152400" cy="609600"/>
          </a:xfrm>
          <a:prstGeom prst="leftBrace">
            <a:avLst>
              <a:gd fmla="val 450" name="adj1"/>
              <a:gd fmla="val 50000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31"/>
          <p:cNvSpPr/>
          <p:nvPr/>
        </p:nvSpPr>
        <p:spPr>
          <a:xfrm rot="-5400000">
            <a:off x="3773125" y="3189450"/>
            <a:ext cx="152400" cy="642900"/>
          </a:xfrm>
          <a:prstGeom prst="leftBrace">
            <a:avLst>
              <a:gd fmla="val 427" name="adj1"/>
              <a:gd fmla="val 50000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31"/>
          <p:cNvSpPr/>
          <p:nvPr/>
        </p:nvSpPr>
        <p:spPr>
          <a:xfrm rot="-5400000">
            <a:off x="4550962" y="3175199"/>
            <a:ext cx="152400" cy="671400"/>
          </a:xfrm>
          <a:prstGeom prst="leftBrace">
            <a:avLst>
              <a:gd fmla="val 408" name="adj1"/>
              <a:gd fmla="val 50000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31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8" name="Google Shape;448;p31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32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4" name="Google Shape;454;p32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99838" y="2930820"/>
            <a:ext cx="779088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455" name="Google Shape;455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32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91888" y="905264"/>
            <a:ext cx="779088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457" name="Google Shape;457;p3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458" name="Google Shape;458;p32"/>
          <p:cNvSpPr txBox="1"/>
          <p:nvPr/>
        </p:nvSpPr>
        <p:spPr>
          <a:xfrm>
            <a:off x="351900" y="791050"/>
            <a:ext cx="8494200" cy="34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(1) 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Try converting this to 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         (10110001101011.111100000110)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2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3429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a) 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octal 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3429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b) hexadecimal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b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</a:b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(2) Try converting these to binary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	a) (673.124)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8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	b) (306.D)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16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59" name="Google Shape;459;p32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460" name="Google Shape;460;p32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32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32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3" name="Google Shape;463;p32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Exercise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4" name="Google Shape;464;p32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5" name="Google Shape;465;p32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33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71" name="Google Shape;471;p33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404638" y="2321220"/>
            <a:ext cx="779088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472" name="Google Shape;472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33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396688" y="905264"/>
            <a:ext cx="779088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474" name="Google Shape;474;p3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475" name="Google Shape;475;p33"/>
          <p:cNvSpPr txBox="1"/>
          <p:nvPr/>
        </p:nvSpPr>
        <p:spPr>
          <a:xfrm>
            <a:off x="351900" y="791050"/>
            <a:ext cx="84942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1. 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a) (26153.7406)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8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   b) (2C6B.F06)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16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2. a) (110 111 011 . 001 010 100)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2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   b) (0011 0000 0110 . 1101)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2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76" name="Google Shape;476;p33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477" name="Google Shape;477;p33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33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33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0" name="Google Shape;480;p33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Exercise Answers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1" name="Google Shape;481;p33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33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34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88" name="Google Shape;48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89" name="Google Shape;489;p34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91888" y="905264"/>
            <a:ext cx="779088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490" name="Google Shape;490;p3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491" name="Google Shape;491;p34"/>
          <p:cNvSpPr txBox="1"/>
          <p:nvPr/>
        </p:nvSpPr>
        <p:spPr>
          <a:xfrm>
            <a:off x="351900" y="791050"/>
            <a:ext cx="8494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(1054)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6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=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(?)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15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92" name="Google Shape;492;p34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493" name="Google Shape;493;p3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3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3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6" name="Google Shape;496;p34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Exercise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7" name="Google Shape;497;p34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8" name="Google Shape;498;p34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9" name="Google Shape;499;p34"/>
          <p:cNvSpPr txBox="1"/>
          <p:nvPr/>
        </p:nvSpPr>
        <p:spPr>
          <a:xfrm>
            <a:off x="351900" y="1544450"/>
            <a:ext cx="84942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Solution: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Step 1: 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(1054)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6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= (?)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10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=&gt; 1 x 6</a:t>
            </a:r>
            <a:r>
              <a:rPr baseline="30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3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+ 0 x 6</a:t>
            </a:r>
            <a:r>
              <a:rPr baseline="30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2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+ 5 x 6</a:t>
            </a:r>
            <a:r>
              <a:rPr baseline="30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+ 4 x 6</a:t>
            </a:r>
            <a:r>
              <a:rPr baseline="30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0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 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=&gt; 250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So, (1054)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6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= (250)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10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35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05" name="Google Shape;50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Google Shape;506;p3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507" name="Google Shape;507;p35"/>
          <p:cNvSpPr txBox="1"/>
          <p:nvPr/>
        </p:nvSpPr>
        <p:spPr>
          <a:xfrm>
            <a:off x="269700" y="4242863"/>
            <a:ext cx="8494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(1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054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6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= (11A)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15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508" name="Google Shape;508;p35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509" name="Google Shape;509;p3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3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3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2" name="Google Shape;512;p35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Exercise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3" name="Google Shape;513;p3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4" name="Google Shape;514;p3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5" name="Google Shape;515;p35"/>
          <p:cNvSpPr txBox="1"/>
          <p:nvPr/>
        </p:nvSpPr>
        <p:spPr>
          <a:xfrm>
            <a:off x="230955" y="905891"/>
            <a:ext cx="84942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Step 2: (250)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10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= (?)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15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So, (250)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10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= (11A)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15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6" name="Google Shape;516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52238" y="1254288"/>
            <a:ext cx="3650625" cy="20737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36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22" name="Google Shape;52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23" name="Google Shape;523;p36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91888" y="905264"/>
            <a:ext cx="779088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524" name="Google Shape;524;p3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525" name="Google Shape;525;p36"/>
          <p:cNvSpPr txBox="1"/>
          <p:nvPr/>
        </p:nvSpPr>
        <p:spPr>
          <a:xfrm>
            <a:off x="351900" y="791050"/>
            <a:ext cx="8494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(10A1B)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13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= (?)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18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526" name="Google Shape;526;p36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527" name="Google Shape;527;p36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36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36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0" name="Google Shape;530;p36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Exercise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36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2" name="Google Shape;532;p36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3" name="Google Shape;533;p36"/>
          <p:cNvSpPr txBox="1"/>
          <p:nvPr/>
        </p:nvSpPr>
        <p:spPr>
          <a:xfrm>
            <a:off x="351900" y="1544450"/>
            <a:ext cx="84942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Solution: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Step 1: (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10A1B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13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= (?)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10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=&gt; 1 x 13</a:t>
            </a:r>
            <a:r>
              <a:rPr baseline="30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4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+ 0 x 13</a:t>
            </a:r>
            <a:r>
              <a:rPr baseline="30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3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+ A x 13</a:t>
            </a:r>
            <a:r>
              <a:rPr baseline="30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2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+ A x 13</a:t>
            </a:r>
            <a:r>
              <a:rPr baseline="30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+ B x 13</a:t>
            </a:r>
            <a:r>
              <a:rPr baseline="30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0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=&gt; 30275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So, (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10A1B)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13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= (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30275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10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37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39" name="Google Shape;539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3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541" name="Google Shape;541;p37"/>
          <p:cNvSpPr txBox="1"/>
          <p:nvPr/>
        </p:nvSpPr>
        <p:spPr>
          <a:xfrm>
            <a:off x="269700" y="4242863"/>
            <a:ext cx="8494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10A1B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6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= (537H)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18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542" name="Google Shape;542;p37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543" name="Google Shape;543;p37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37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37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46" name="Google Shape;546;p37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Exercise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7" name="Google Shape;547;p37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8" name="Google Shape;548;p37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9" name="Google Shape;549;p37"/>
          <p:cNvSpPr txBox="1"/>
          <p:nvPr/>
        </p:nvSpPr>
        <p:spPr>
          <a:xfrm>
            <a:off x="230955" y="905891"/>
            <a:ext cx="84942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Step 2: (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30275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10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= (?)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18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So, (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30275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10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= (537H)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18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50" name="Google Shape;550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38075" y="1522675"/>
            <a:ext cx="3250800" cy="2044706"/>
          </a:xfrm>
          <a:prstGeom prst="rect">
            <a:avLst/>
          </a:prstGeom>
          <a:noFill/>
          <a:ln>
            <a:noFill/>
          </a:ln>
        </p:spPr>
      </p:pic>
      <p:pic>
        <p:nvPicPr>
          <p:cNvPr id="551" name="Google Shape;551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11100" y="1108000"/>
            <a:ext cx="1352550" cy="304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6" name="Google Shape;556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3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558" name="Google Shape;558;p38"/>
          <p:cNvSpPr txBox="1"/>
          <p:nvPr/>
        </p:nvSpPr>
        <p:spPr>
          <a:xfrm>
            <a:off x="209775" y="316175"/>
            <a:ext cx="90459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latin typeface="Lexend"/>
                <a:ea typeface="Lexend"/>
                <a:cs typeface="Lexend"/>
                <a:sym typeface="Lexend"/>
              </a:rPr>
              <a:t>Binary Addition: Addition Rules w/Carries</a:t>
            </a:r>
            <a:endParaRPr sz="3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9" name="Google Shape;559;p38"/>
          <p:cNvSpPr/>
          <p:nvPr/>
        </p:nvSpPr>
        <p:spPr>
          <a:xfrm>
            <a:off x="364825" y="1324925"/>
            <a:ext cx="3873000" cy="3480300"/>
          </a:xfrm>
          <a:prstGeom prst="roundRect">
            <a:avLst>
              <a:gd fmla="val 4803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38"/>
          <p:cNvSpPr/>
          <p:nvPr/>
        </p:nvSpPr>
        <p:spPr>
          <a:xfrm>
            <a:off x="4828700" y="1324925"/>
            <a:ext cx="3873000" cy="3480300"/>
          </a:xfrm>
          <a:prstGeom prst="roundRect">
            <a:avLst>
              <a:gd fmla="val 4803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61" name="Google Shape;561;p38"/>
          <p:cNvGrpSpPr/>
          <p:nvPr/>
        </p:nvGrpSpPr>
        <p:grpSpPr>
          <a:xfrm>
            <a:off x="4922013" y="1426240"/>
            <a:ext cx="277873" cy="68400"/>
            <a:chOff x="5024113" y="2416840"/>
            <a:chExt cx="277873" cy="68400"/>
          </a:xfrm>
        </p:grpSpPr>
        <p:sp>
          <p:nvSpPr>
            <p:cNvPr id="562" name="Google Shape;562;p38"/>
            <p:cNvSpPr/>
            <p:nvPr/>
          </p:nvSpPr>
          <p:spPr>
            <a:xfrm>
              <a:off x="5024113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38"/>
            <p:cNvSpPr/>
            <p:nvPr/>
          </p:nvSpPr>
          <p:spPr>
            <a:xfrm>
              <a:off x="5128849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38"/>
            <p:cNvSpPr/>
            <p:nvPr/>
          </p:nvSpPr>
          <p:spPr>
            <a:xfrm>
              <a:off x="5233585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5" name="Google Shape;565;p38"/>
          <p:cNvGrpSpPr/>
          <p:nvPr/>
        </p:nvGrpSpPr>
        <p:grpSpPr>
          <a:xfrm>
            <a:off x="422950" y="1426240"/>
            <a:ext cx="277873" cy="68400"/>
            <a:chOff x="411700" y="2416840"/>
            <a:chExt cx="277873" cy="68400"/>
          </a:xfrm>
        </p:grpSpPr>
        <p:sp>
          <p:nvSpPr>
            <p:cNvPr id="566" name="Google Shape;566;p38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38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38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9" name="Google Shape;569;p38"/>
          <p:cNvSpPr txBox="1"/>
          <p:nvPr/>
        </p:nvSpPr>
        <p:spPr>
          <a:xfrm>
            <a:off x="355375" y="1728275"/>
            <a:ext cx="3891900" cy="28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Lexend Light"/>
              <a:buChar char="➔"/>
            </a:pPr>
            <a:r>
              <a:rPr lang="en" sz="2200">
                <a:latin typeface="Lexend Light"/>
                <a:ea typeface="Lexend Light"/>
                <a:cs typeface="Lexend Light"/>
                <a:sym typeface="Lexend Light"/>
              </a:rPr>
              <a:t>0 + 0 = 0 0 </a:t>
            </a:r>
            <a:endParaRPr sz="22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rgbClr val="222268"/>
              </a:buClr>
              <a:buSzPts val="2200"/>
              <a:buFont typeface="Lexend Light"/>
              <a:buChar char="◆"/>
            </a:pPr>
            <a:r>
              <a:rPr lang="en" sz="2200">
                <a:solidFill>
                  <a:srgbClr val="222268"/>
                </a:solidFill>
                <a:latin typeface="Lexend Light"/>
                <a:ea typeface="Lexend Light"/>
                <a:cs typeface="Lexend Light"/>
                <a:sym typeface="Lexend Light"/>
              </a:rPr>
              <a:t>( 0 with a 0 carry )</a:t>
            </a:r>
            <a:endParaRPr sz="2200">
              <a:solidFill>
                <a:srgbClr val="222268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Lexend Light"/>
              <a:buChar char="➔"/>
            </a:pPr>
            <a:r>
              <a:rPr lang="en" sz="2200">
                <a:latin typeface="Lexend Light"/>
                <a:ea typeface="Lexend Light"/>
                <a:cs typeface="Lexend Light"/>
                <a:sym typeface="Lexend Light"/>
              </a:rPr>
              <a:t>0 + 1 = 0 1 </a:t>
            </a:r>
            <a:endParaRPr sz="22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rgbClr val="222268"/>
              </a:buClr>
              <a:buSzPts val="2200"/>
              <a:buFont typeface="Lexend Light"/>
              <a:buChar char="◆"/>
            </a:pPr>
            <a:r>
              <a:rPr lang="en" sz="2200">
                <a:solidFill>
                  <a:srgbClr val="222268"/>
                </a:solidFill>
                <a:latin typeface="Lexend Light"/>
                <a:ea typeface="Lexend Light"/>
                <a:cs typeface="Lexend Light"/>
                <a:sym typeface="Lexend Light"/>
              </a:rPr>
              <a:t>( 1 with a 0 carry )</a:t>
            </a:r>
            <a:endParaRPr sz="2200">
              <a:solidFill>
                <a:srgbClr val="222268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Lexend Light"/>
              <a:buChar char="➔"/>
            </a:pPr>
            <a:r>
              <a:rPr lang="en" sz="2200">
                <a:latin typeface="Lexend Light"/>
                <a:ea typeface="Lexend Light"/>
                <a:cs typeface="Lexend Light"/>
                <a:sym typeface="Lexend Light"/>
              </a:rPr>
              <a:t>1 + 0 = 0 1 </a:t>
            </a:r>
            <a:endParaRPr sz="22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rgbClr val="222268"/>
              </a:buClr>
              <a:buSzPts val="2200"/>
              <a:buFont typeface="Lexend Light"/>
              <a:buChar char="◆"/>
            </a:pPr>
            <a:r>
              <a:rPr lang="en" sz="2200">
                <a:solidFill>
                  <a:srgbClr val="222268"/>
                </a:solidFill>
                <a:latin typeface="Lexend Light"/>
                <a:ea typeface="Lexend Light"/>
                <a:cs typeface="Lexend Light"/>
                <a:sym typeface="Lexend Light"/>
              </a:rPr>
              <a:t>( 1 with a 0 carry )</a:t>
            </a:r>
            <a:endParaRPr sz="2200">
              <a:solidFill>
                <a:srgbClr val="222268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Lexend Light"/>
              <a:buChar char="➔"/>
            </a:pPr>
            <a:r>
              <a:rPr lang="en" sz="2200">
                <a:latin typeface="Lexend Light"/>
                <a:ea typeface="Lexend Light"/>
                <a:cs typeface="Lexend Light"/>
                <a:sym typeface="Lexend Light"/>
              </a:rPr>
              <a:t>1 + 1 = 1 0 </a:t>
            </a:r>
            <a:endParaRPr sz="22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rgbClr val="222268"/>
              </a:buClr>
              <a:buSzPts val="2200"/>
              <a:buFont typeface="Lexend Light"/>
              <a:buChar char="◆"/>
            </a:pPr>
            <a:r>
              <a:rPr lang="en" sz="2200">
                <a:solidFill>
                  <a:srgbClr val="222268"/>
                </a:solidFill>
                <a:latin typeface="Lexend Light"/>
                <a:ea typeface="Lexend Light"/>
                <a:cs typeface="Lexend Light"/>
                <a:sym typeface="Lexend Light"/>
              </a:rPr>
              <a:t>( 0 with a 1 carry )</a:t>
            </a:r>
            <a:endParaRPr sz="2200">
              <a:solidFill>
                <a:srgbClr val="222268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70" name="Google Shape;570;p38"/>
          <p:cNvSpPr txBox="1"/>
          <p:nvPr/>
        </p:nvSpPr>
        <p:spPr>
          <a:xfrm>
            <a:off x="4819250" y="1786625"/>
            <a:ext cx="38919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 Light"/>
              <a:buChar char="➔"/>
            </a:pPr>
            <a:r>
              <a:rPr lang="en" sz="22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0+0+0 = 0 0 </a:t>
            </a:r>
            <a:endParaRPr sz="22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rgbClr val="222268"/>
              </a:buClr>
              <a:buSzPts val="2200"/>
              <a:buFont typeface="Lexend Light"/>
              <a:buChar char="◆"/>
            </a:pPr>
            <a:r>
              <a:rPr lang="en" sz="2200">
                <a:solidFill>
                  <a:srgbClr val="222268"/>
                </a:solidFill>
                <a:latin typeface="Lexend Light"/>
                <a:ea typeface="Lexend Light"/>
                <a:cs typeface="Lexend Light"/>
                <a:sym typeface="Lexend Light"/>
              </a:rPr>
              <a:t>(0 with 0 carry)</a:t>
            </a:r>
            <a:endParaRPr sz="2200">
              <a:solidFill>
                <a:srgbClr val="222268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 Light"/>
              <a:buChar char="➔"/>
            </a:pPr>
            <a:r>
              <a:rPr lang="en" sz="22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0+0+1 = 0 1 </a:t>
            </a:r>
            <a:endParaRPr sz="22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rgbClr val="222268"/>
              </a:buClr>
              <a:buSzPts val="2200"/>
              <a:buFont typeface="Lexend Light"/>
              <a:buChar char="◆"/>
            </a:pPr>
            <a:r>
              <a:rPr lang="en" sz="2200">
                <a:solidFill>
                  <a:srgbClr val="222268"/>
                </a:solidFill>
                <a:latin typeface="Lexend Light"/>
                <a:ea typeface="Lexend Light"/>
                <a:cs typeface="Lexend Light"/>
                <a:sym typeface="Lexend Light"/>
              </a:rPr>
              <a:t>(1 with 0 carry)</a:t>
            </a:r>
            <a:endParaRPr sz="2200">
              <a:solidFill>
                <a:srgbClr val="222268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 Light"/>
              <a:buChar char="➔"/>
            </a:pPr>
            <a:r>
              <a:rPr lang="en" sz="22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0+1+1 = 1 0 </a:t>
            </a:r>
            <a:endParaRPr sz="22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rgbClr val="222268"/>
              </a:buClr>
              <a:buSzPts val="2200"/>
              <a:buFont typeface="Lexend Light"/>
              <a:buChar char="◆"/>
            </a:pPr>
            <a:r>
              <a:rPr lang="en" sz="2200">
                <a:solidFill>
                  <a:srgbClr val="222268"/>
                </a:solidFill>
                <a:latin typeface="Lexend Light"/>
                <a:ea typeface="Lexend Light"/>
                <a:cs typeface="Lexend Light"/>
                <a:sym typeface="Lexend Light"/>
              </a:rPr>
              <a:t>(0 with 1 carry)</a:t>
            </a:r>
            <a:endParaRPr sz="2200">
              <a:solidFill>
                <a:srgbClr val="222268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 Light"/>
              <a:buChar char="➔"/>
            </a:pPr>
            <a:r>
              <a:rPr lang="en" sz="22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1+1+1 = 1 1 </a:t>
            </a:r>
            <a:endParaRPr sz="22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rgbClr val="222268"/>
              </a:buClr>
              <a:buSzPts val="2200"/>
              <a:buFont typeface="Lexend Light"/>
              <a:buChar char="◆"/>
            </a:pPr>
            <a:r>
              <a:rPr lang="en" sz="2200">
                <a:solidFill>
                  <a:srgbClr val="222268"/>
                </a:solidFill>
                <a:latin typeface="Lexend Light"/>
                <a:ea typeface="Lexend Light"/>
                <a:cs typeface="Lexend Light"/>
                <a:sym typeface="Lexend Light"/>
              </a:rPr>
              <a:t>(1 with 1 carry)</a:t>
            </a:r>
            <a:endParaRPr sz="2200">
              <a:solidFill>
                <a:srgbClr val="222268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71" name="Google Shape;571;p38"/>
          <p:cNvSpPr txBox="1"/>
          <p:nvPr/>
        </p:nvSpPr>
        <p:spPr>
          <a:xfrm>
            <a:off x="787975" y="1324925"/>
            <a:ext cx="302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 2 bit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2" name="Google Shape;572;p38"/>
          <p:cNvSpPr txBox="1"/>
          <p:nvPr/>
        </p:nvSpPr>
        <p:spPr>
          <a:xfrm>
            <a:off x="5251850" y="1324925"/>
            <a:ext cx="302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 3 bit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38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4" name="Google Shape;574;p38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39"/>
          <p:cNvSpPr/>
          <p:nvPr/>
        </p:nvSpPr>
        <p:spPr>
          <a:xfrm>
            <a:off x="0" y="25350"/>
            <a:ext cx="9144000" cy="49152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80" name="Google Shape;580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p3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582" name="Google Shape;582;p39"/>
          <p:cNvSpPr txBox="1"/>
          <p:nvPr/>
        </p:nvSpPr>
        <p:spPr>
          <a:xfrm>
            <a:off x="351900" y="791050"/>
            <a:ext cx="815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aseline="-25000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583" name="Google Shape;583;p39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584" name="Google Shape;584;p39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39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39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87" name="Google Shape;587;p39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Adding Binary Numbers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588" name="Google Shape;588;p39"/>
          <p:cNvGrpSpPr/>
          <p:nvPr/>
        </p:nvGrpSpPr>
        <p:grpSpPr>
          <a:xfrm>
            <a:off x="1751475" y="1905000"/>
            <a:ext cx="1195125" cy="1428750"/>
            <a:chOff x="241" y="1680"/>
            <a:chExt cx="743" cy="900"/>
          </a:xfrm>
        </p:grpSpPr>
        <p:sp>
          <p:nvSpPr>
            <p:cNvPr id="589" name="Google Shape;589;p39"/>
            <p:cNvSpPr txBox="1"/>
            <p:nvPr/>
          </p:nvSpPr>
          <p:spPr>
            <a:xfrm>
              <a:off x="241" y="1680"/>
              <a:ext cx="600" cy="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i="0" lang="en" sz="3200" u="non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   28</a:t>
              </a:r>
              <a:endParaRPr i="0" sz="3200" u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-43180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Lexend"/>
                <a:buChar char="+"/>
              </a:pPr>
              <a:r>
                <a:rPr i="0" lang="en" sz="3200" u="non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43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r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i="0" lang="en" sz="3200" u="non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71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590" name="Google Shape;590;p39"/>
            <p:cNvCxnSpPr/>
            <p:nvPr/>
          </p:nvCxnSpPr>
          <p:spPr>
            <a:xfrm>
              <a:off x="384" y="2352"/>
              <a:ext cx="6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  <p:sp>
        <p:nvSpPr>
          <p:cNvPr id="591" name="Google Shape;591;p39"/>
          <p:cNvSpPr txBox="1"/>
          <p:nvPr/>
        </p:nvSpPr>
        <p:spPr>
          <a:xfrm>
            <a:off x="3276600" y="1906587"/>
            <a:ext cx="37338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ahoma"/>
              <a:buNone/>
            </a:pPr>
            <a:r>
              <a:rPr b="0" i="0" lang="en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⎯→ </a:t>
            </a:r>
            <a:r>
              <a:rPr b="0" i="0" lang="en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    </a:t>
            </a:r>
            <a:r>
              <a:rPr b="0" i="0" lang="en" sz="3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00011100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ahoma"/>
              <a:buNone/>
            </a:pPr>
            <a:r>
              <a:rPr b="0" i="0" lang="en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⎯→</a:t>
            </a:r>
            <a:r>
              <a:rPr b="0" i="0" lang="en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 </a:t>
            </a:r>
            <a:r>
              <a:rPr b="0" i="0" lang="en" sz="3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  00101011</a:t>
            </a:r>
            <a:endParaRPr/>
          </a:p>
        </p:txBody>
      </p:sp>
      <p:cxnSp>
        <p:nvCxnSpPr>
          <p:cNvPr id="592" name="Google Shape;592;p39"/>
          <p:cNvCxnSpPr/>
          <p:nvPr/>
        </p:nvCxnSpPr>
        <p:spPr>
          <a:xfrm>
            <a:off x="4746625" y="2973387"/>
            <a:ext cx="21939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grpSp>
        <p:nvGrpSpPr>
          <p:cNvPr id="593" name="Google Shape;593;p39"/>
          <p:cNvGrpSpPr/>
          <p:nvPr/>
        </p:nvGrpSpPr>
        <p:grpSpPr>
          <a:xfrm>
            <a:off x="6426200" y="1725612"/>
            <a:ext cx="647700" cy="1762125"/>
            <a:chOff x="3252" y="1182"/>
            <a:chExt cx="408" cy="1110"/>
          </a:xfrm>
        </p:grpSpPr>
        <p:sp>
          <p:nvSpPr>
            <p:cNvPr id="594" name="Google Shape;594;p39"/>
            <p:cNvSpPr txBox="1"/>
            <p:nvPr/>
          </p:nvSpPr>
          <p:spPr>
            <a:xfrm>
              <a:off x="3360" y="199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" sz="3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595" name="Google Shape;595;p39"/>
            <p:cNvSpPr txBox="1"/>
            <p:nvPr/>
          </p:nvSpPr>
          <p:spPr>
            <a:xfrm>
              <a:off x="3252" y="118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Arial"/>
                <a:buNone/>
              </a:pPr>
              <a:r>
                <a:rPr b="0" i="0" lang="en" sz="1800" u="non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</p:grpSp>
      <p:grpSp>
        <p:nvGrpSpPr>
          <p:cNvPr id="596" name="Google Shape;596;p39"/>
          <p:cNvGrpSpPr/>
          <p:nvPr/>
        </p:nvGrpSpPr>
        <p:grpSpPr>
          <a:xfrm>
            <a:off x="5753100" y="1725612"/>
            <a:ext cx="649287" cy="1762125"/>
            <a:chOff x="2828" y="1182"/>
            <a:chExt cx="409" cy="1110"/>
          </a:xfrm>
        </p:grpSpPr>
        <p:sp>
          <p:nvSpPr>
            <p:cNvPr id="597" name="Google Shape;597;p39"/>
            <p:cNvSpPr txBox="1"/>
            <p:nvPr/>
          </p:nvSpPr>
          <p:spPr>
            <a:xfrm>
              <a:off x="2937" y="199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" sz="3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598" name="Google Shape;598;p39"/>
            <p:cNvSpPr txBox="1"/>
            <p:nvPr/>
          </p:nvSpPr>
          <p:spPr>
            <a:xfrm>
              <a:off x="2828" y="118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Arial"/>
                <a:buNone/>
              </a:pPr>
              <a:r>
                <a:rPr b="0" i="0" lang="en" sz="1800" u="non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599" name="Google Shape;599;p39"/>
          <p:cNvGrpSpPr/>
          <p:nvPr/>
        </p:nvGrpSpPr>
        <p:grpSpPr>
          <a:xfrm>
            <a:off x="6202362" y="1725612"/>
            <a:ext cx="647700" cy="1762125"/>
            <a:chOff x="3111" y="1182"/>
            <a:chExt cx="408" cy="1110"/>
          </a:xfrm>
        </p:grpSpPr>
        <p:sp>
          <p:nvSpPr>
            <p:cNvPr id="600" name="Google Shape;600;p39"/>
            <p:cNvSpPr txBox="1"/>
            <p:nvPr/>
          </p:nvSpPr>
          <p:spPr>
            <a:xfrm>
              <a:off x="3219" y="199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" sz="3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601" name="Google Shape;601;p39"/>
            <p:cNvSpPr txBox="1"/>
            <p:nvPr/>
          </p:nvSpPr>
          <p:spPr>
            <a:xfrm>
              <a:off x="3111" y="118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Arial"/>
                <a:buNone/>
              </a:pPr>
              <a:r>
                <a:rPr b="0" i="0" lang="en" sz="1800" u="non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</p:grpSp>
      <p:grpSp>
        <p:nvGrpSpPr>
          <p:cNvPr id="602" name="Google Shape;602;p39"/>
          <p:cNvGrpSpPr/>
          <p:nvPr/>
        </p:nvGrpSpPr>
        <p:grpSpPr>
          <a:xfrm>
            <a:off x="5976937" y="1725612"/>
            <a:ext cx="649287" cy="1762125"/>
            <a:chOff x="2969" y="1182"/>
            <a:chExt cx="409" cy="1110"/>
          </a:xfrm>
        </p:grpSpPr>
        <p:sp>
          <p:nvSpPr>
            <p:cNvPr id="603" name="Google Shape;603;p39"/>
            <p:cNvSpPr txBox="1"/>
            <p:nvPr/>
          </p:nvSpPr>
          <p:spPr>
            <a:xfrm>
              <a:off x="2969" y="118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Arial"/>
                <a:buNone/>
              </a:pPr>
              <a:r>
                <a:rPr b="0" i="0" lang="en" sz="1800" u="non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604" name="Google Shape;604;p39"/>
            <p:cNvSpPr txBox="1"/>
            <p:nvPr/>
          </p:nvSpPr>
          <p:spPr>
            <a:xfrm>
              <a:off x="3078" y="199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" sz="3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605" name="Google Shape;605;p39"/>
          <p:cNvGrpSpPr/>
          <p:nvPr/>
        </p:nvGrpSpPr>
        <p:grpSpPr>
          <a:xfrm>
            <a:off x="5527675" y="1725612"/>
            <a:ext cx="650875" cy="1762125"/>
            <a:chOff x="2686" y="1182"/>
            <a:chExt cx="410" cy="1110"/>
          </a:xfrm>
        </p:grpSpPr>
        <p:sp>
          <p:nvSpPr>
            <p:cNvPr id="606" name="Google Shape;606;p39"/>
            <p:cNvSpPr txBox="1"/>
            <p:nvPr/>
          </p:nvSpPr>
          <p:spPr>
            <a:xfrm>
              <a:off x="2796" y="199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" sz="3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607" name="Google Shape;607;p39"/>
            <p:cNvSpPr txBox="1"/>
            <p:nvPr/>
          </p:nvSpPr>
          <p:spPr>
            <a:xfrm>
              <a:off x="2686" y="118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Arial"/>
                <a:buNone/>
              </a:pPr>
              <a:r>
                <a:rPr b="0" i="0" lang="en" sz="1800" u="non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608" name="Google Shape;608;p39"/>
          <p:cNvGrpSpPr/>
          <p:nvPr/>
        </p:nvGrpSpPr>
        <p:grpSpPr>
          <a:xfrm>
            <a:off x="5302250" y="1725612"/>
            <a:ext cx="652462" cy="1762125"/>
            <a:chOff x="2544" y="1182"/>
            <a:chExt cx="411" cy="1110"/>
          </a:xfrm>
        </p:grpSpPr>
        <p:sp>
          <p:nvSpPr>
            <p:cNvPr id="609" name="Google Shape;609;p39"/>
            <p:cNvSpPr txBox="1"/>
            <p:nvPr/>
          </p:nvSpPr>
          <p:spPr>
            <a:xfrm>
              <a:off x="2655" y="199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" sz="3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610" name="Google Shape;610;p39"/>
            <p:cNvSpPr txBox="1"/>
            <p:nvPr/>
          </p:nvSpPr>
          <p:spPr>
            <a:xfrm>
              <a:off x="2544" y="118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Arial"/>
                <a:buNone/>
              </a:pPr>
              <a:r>
                <a:rPr b="0" i="0" lang="en" sz="1800" u="non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sp>
        <p:nvSpPr>
          <p:cNvPr id="611" name="Google Shape;611;p39"/>
          <p:cNvSpPr txBox="1"/>
          <p:nvPr/>
        </p:nvSpPr>
        <p:spPr>
          <a:xfrm>
            <a:off x="5029200" y="3011487"/>
            <a:ext cx="409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" sz="3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grpSp>
        <p:nvGrpSpPr>
          <p:cNvPr id="612" name="Google Shape;612;p39"/>
          <p:cNvGrpSpPr/>
          <p:nvPr/>
        </p:nvGrpSpPr>
        <p:grpSpPr>
          <a:xfrm>
            <a:off x="5083175" y="1725612"/>
            <a:ext cx="652462" cy="1762125"/>
            <a:chOff x="2544" y="1182"/>
            <a:chExt cx="411" cy="1110"/>
          </a:xfrm>
        </p:grpSpPr>
        <p:sp>
          <p:nvSpPr>
            <p:cNvPr id="613" name="Google Shape;613;p39"/>
            <p:cNvSpPr txBox="1"/>
            <p:nvPr/>
          </p:nvSpPr>
          <p:spPr>
            <a:xfrm>
              <a:off x="2655" y="199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" sz="3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614" name="Google Shape;614;p39"/>
            <p:cNvSpPr txBox="1"/>
            <p:nvPr/>
          </p:nvSpPr>
          <p:spPr>
            <a:xfrm>
              <a:off x="2544" y="118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Arial"/>
                <a:buNone/>
              </a:pPr>
              <a:r>
                <a:rPr b="0" i="0" lang="en" sz="1800" u="non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</p:grpSp>
      <p:sp>
        <p:nvSpPr>
          <p:cNvPr id="615" name="Google Shape;615;p39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6" name="Google Shape;616;p39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40"/>
          <p:cNvSpPr/>
          <p:nvPr/>
        </p:nvSpPr>
        <p:spPr>
          <a:xfrm>
            <a:off x="0" y="25350"/>
            <a:ext cx="9144000" cy="49152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22" name="Google Shape;62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23" name="Google Shape;623;p40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91888" y="926972"/>
            <a:ext cx="779088" cy="40331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624" name="Google Shape;624;p4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625" name="Google Shape;625;p40"/>
          <p:cNvSpPr txBox="1"/>
          <p:nvPr/>
        </p:nvSpPr>
        <p:spPr>
          <a:xfrm>
            <a:off x="351900" y="809940"/>
            <a:ext cx="8494200" cy="18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(3) 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Add (101101)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2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with (100111)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2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1270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1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626" name="Google Shape;626;p40"/>
          <p:cNvGrpSpPr/>
          <p:nvPr/>
        </p:nvGrpSpPr>
        <p:grpSpPr>
          <a:xfrm>
            <a:off x="50480" y="125357"/>
            <a:ext cx="277873" cy="70089"/>
            <a:chOff x="411700" y="2416840"/>
            <a:chExt cx="277873" cy="68400"/>
          </a:xfrm>
        </p:grpSpPr>
        <p:sp>
          <p:nvSpPr>
            <p:cNvPr id="627" name="Google Shape;627;p40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40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40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0" name="Google Shape;630;p40"/>
          <p:cNvSpPr txBox="1"/>
          <p:nvPr/>
        </p:nvSpPr>
        <p:spPr>
          <a:xfrm>
            <a:off x="209775" y="167190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Exercise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1" name="Google Shape;631;p40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2" name="Google Shape;632;p40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41"/>
          <p:cNvSpPr/>
          <p:nvPr/>
        </p:nvSpPr>
        <p:spPr>
          <a:xfrm>
            <a:off x="0" y="25350"/>
            <a:ext cx="9144000" cy="49152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38" name="Google Shape;638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39" name="Google Shape;639;p41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91888" y="905264"/>
            <a:ext cx="779088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640" name="Google Shape;640;p4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641" name="Google Shape;641;p41"/>
          <p:cNvSpPr txBox="1"/>
          <p:nvPr/>
        </p:nvSpPr>
        <p:spPr>
          <a:xfrm>
            <a:off x="351900" y="791050"/>
            <a:ext cx="8494200" cy="13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(3)  (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1010100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2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1270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1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Working: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642" name="Google Shape;642;p41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643" name="Google Shape;643;p41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41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41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46" name="Google Shape;646;p41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Exercise Solution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647" name="Google Shape;647;p41"/>
          <p:cNvGrpSpPr/>
          <p:nvPr/>
        </p:nvGrpSpPr>
        <p:grpSpPr>
          <a:xfrm>
            <a:off x="2440000" y="2266962"/>
            <a:ext cx="3358787" cy="1759145"/>
            <a:chOff x="261" y="890"/>
            <a:chExt cx="2292" cy="1200"/>
          </a:xfrm>
        </p:grpSpPr>
        <p:sp>
          <p:nvSpPr>
            <p:cNvPr id="648" name="Google Shape;648;p41"/>
            <p:cNvSpPr txBox="1"/>
            <p:nvPr/>
          </p:nvSpPr>
          <p:spPr>
            <a:xfrm>
              <a:off x="467" y="890"/>
              <a:ext cx="1800" cy="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2000" u="non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Augend:    101101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2000" u="non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Addend:  +100111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i="0" sz="2000" u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2000" u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649" name="Google Shape;649;p41"/>
            <p:cNvSpPr txBox="1"/>
            <p:nvPr/>
          </p:nvSpPr>
          <p:spPr>
            <a:xfrm>
              <a:off x="453" y="1498"/>
              <a:ext cx="21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2000" u="non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Sum:        1010100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650" name="Google Shape;650;p41"/>
            <p:cNvCxnSpPr/>
            <p:nvPr/>
          </p:nvCxnSpPr>
          <p:spPr>
            <a:xfrm>
              <a:off x="261" y="1468"/>
              <a:ext cx="2100" cy="0"/>
            </a:xfrm>
            <a:prstGeom prst="straightConnector1">
              <a:avLst/>
            </a:prstGeom>
            <a:noFill/>
            <a:ln cap="flat" cmpd="sng" w="28575">
              <a:solidFill>
                <a:srgbClr val="333399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  <p:sp>
        <p:nvSpPr>
          <p:cNvPr id="651" name="Google Shape;651;p41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2" name="Google Shape;652;p41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42"/>
          <p:cNvSpPr/>
          <p:nvPr/>
        </p:nvSpPr>
        <p:spPr>
          <a:xfrm>
            <a:off x="0" y="25350"/>
            <a:ext cx="9144000" cy="49152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58" name="Google Shape;658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9" name="Google Shape;659;p42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-9" y="847175"/>
            <a:ext cx="1836649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660" name="Google Shape;660;p4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661" name="Google Shape;661;p42"/>
          <p:cNvSpPr txBox="1"/>
          <p:nvPr/>
        </p:nvSpPr>
        <p:spPr>
          <a:xfrm>
            <a:off x="351900" y="791050"/>
            <a:ext cx="3250800" cy="37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Example: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(34)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5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+(41)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5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+ (24)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5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   </a:t>
            </a:r>
            <a:r>
              <a:rPr lang="en" sz="2400">
                <a:solidFill>
                  <a:srgbClr val="990000"/>
                </a:solidFill>
                <a:latin typeface="Lexend Light"/>
                <a:ea typeface="Lexend Light"/>
                <a:cs typeface="Lexend Light"/>
                <a:sym typeface="Lexend Light"/>
              </a:rPr>
              <a:t>2</a:t>
            </a:r>
            <a:r>
              <a:rPr lang="en" sz="2400">
                <a:solidFill>
                  <a:srgbClr val="FF0000"/>
                </a:solidFill>
                <a:latin typeface="Lexend Light"/>
                <a:ea typeface="Lexend Light"/>
                <a:cs typeface="Lexend Light"/>
                <a:sym typeface="Lexend Light"/>
              </a:rPr>
              <a:t> 1 </a:t>
            </a:r>
            <a:endParaRPr sz="2400">
              <a:solidFill>
                <a:srgbClr val="FF0000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    ( </a:t>
            </a:r>
            <a:r>
              <a:rPr lang="en" sz="2400">
                <a:solidFill>
                  <a:srgbClr val="222268"/>
                </a:solidFill>
                <a:latin typeface="Lexend Light"/>
                <a:ea typeface="Lexend Light"/>
                <a:cs typeface="Lexend Light"/>
                <a:sym typeface="Lexend Light"/>
              </a:rPr>
              <a:t>3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r>
              <a:rPr lang="en" sz="2400">
                <a:solidFill>
                  <a:srgbClr val="0000FF"/>
                </a:solidFill>
                <a:latin typeface="Lexend Light"/>
                <a:ea typeface="Lexend Light"/>
                <a:cs typeface="Lexend Light"/>
                <a:sym typeface="Lexend Light"/>
              </a:rPr>
              <a:t>4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5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       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    ( </a:t>
            </a:r>
            <a:r>
              <a:rPr lang="en" sz="2400">
                <a:solidFill>
                  <a:srgbClr val="222268"/>
                </a:solidFill>
                <a:latin typeface="Lexend Light"/>
                <a:ea typeface="Lexend Light"/>
                <a:cs typeface="Lexend Light"/>
                <a:sym typeface="Lexend Light"/>
              </a:rPr>
              <a:t>4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r>
              <a:rPr lang="en" sz="2400">
                <a:solidFill>
                  <a:srgbClr val="0000FF"/>
                </a:solidFill>
                <a:latin typeface="Lexend Light"/>
                <a:ea typeface="Lexend Light"/>
                <a:cs typeface="Lexend Light"/>
                <a:sym typeface="Lexend Light"/>
              </a:rPr>
              <a:t>1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5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+   ( </a:t>
            </a:r>
            <a:r>
              <a:rPr lang="en" sz="2400">
                <a:solidFill>
                  <a:srgbClr val="222268"/>
                </a:solidFill>
                <a:latin typeface="Lexend Light"/>
                <a:ea typeface="Lexend Light"/>
                <a:cs typeface="Lexend Light"/>
                <a:sym typeface="Lexend Light"/>
              </a:rPr>
              <a:t>2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r>
              <a:rPr lang="en" sz="2400">
                <a:solidFill>
                  <a:srgbClr val="0000FF"/>
                </a:solidFill>
                <a:latin typeface="Lexend Light"/>
                <a:ea typeface="Lexend Light"/>
                <a:cs typeface="Lexend Light"/>
                <a:sym typeface="Lexend Light"/>
              </a:rPr>
              <a:t>4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5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________________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  (</a:t>
            </a:r>
            <a:r>
              <a:rPr lang="en" sz="2400">
                <a:solidFill>
                  <a:srgbClr val="274E13"/>
                </a:solidFill>
                <a:latin typeface="Lexend Light"/>
                <a:ea typeface="Lexend Light"/>
                <a:cs typeface="Lexend Light"/>
                <a:sym typeface="Lexend Light"/>
              </a:rPr>
              <a:t>2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r>
              <a:rPr lang="en" sz="2400">
                <a:solidFill>
                  <a:srgbClr val="38761D"/>
                </a:solidFill>
                <a:latin typeface="Lexend Light"/>
                <a:ea typeface="Lexend Light"/>
                <a:cs typeface="Lexend Light"/>
                <a:sym typeface="Lexend Light"/>
              </a:rPr>
              <a:t>0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r>
              <a:rPr lang="en" sz="2400">
                <a:solidFill>
                  <a:srgbClr val="6AA84F"/>
                </a:solidFill>
                <a:latin typeface="Lexend Light"/>
                <a:ea typeface="Lexend Light"/>
                <a:cs typeface="Lexend Light"/>
                <a:sym typeface="Lexend Light"/>
              </a:rPr>
              <a:t>4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5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   (Ans)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662" name="Google Shape;662;p42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663" name="Google Shape;663;p42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42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42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6" name="Google Shape;666;p42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Addition of base-r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7" name="Google Shape;667;p42"/>
          <p:cNvSpPr txBox="1"/>
          <p:nvPr/>
        </p:nvSpPr>
        <p:spPr>
          <a:xfrm>
            <a:off x="4112425" y="847175"/>
            <a:ext cx="3250800" cy="37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0000FF"/>
                </a:solidFill>
                <a:latin typeface="Lexend Light"/>
                <a:ea typeface="Lexend Light"/>
                <a:cs typeface="Lexend Light"/>
                <a:sym typeface="Lexend Light"/>
              </a:rPr>
              <a:t>4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+</a:t>
            </a:r>
            <a:r>
              <a:rPr lang="en" sz="2400">
                <a:solidFill>
                  <a:srgbClr val="0000FF"/>
                </a:solidFill>
                <a:latin typeface="Lexend Light"/>
                <a:ea typeface="Lexend Light"/>
                <a:cs typeface="Lexend Light"/>
                <a:sym typeface="Lexend Light"/>
              </a:rPr>
              <a:t>1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+</a:t>
            </a:r>
            <a:r>
              <a:rPr lang="en" sz="2400">
                <a:solidFill>
                  <a:srgbClr val="0000FF"/>
                </a:solidFill>
                <a:latin typeface="Lexend Light"/>
                <a:ea typeface="Lexend Light"/>
                <a:cs typeface="Lexend Light"/>
                <a:sym typeface="Lexend Light"/>
              </a:rPr>
              <a:t>4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= 9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9%5=</a:t>
            </a:r>
            <a:r>
              <a:rPr lang="en" sz="2400">
                <a:solidFill>
                  <a:srgbClr val="6AA84F"/>
                </a:solidFill>
                <a:latin typeface="Lexend Light"/>
                <a:ea typeface="Lexend Light"/>
                <a:cs typeface="Lexend Light"/>
                <a:sym typeface="Lexend Light"/>
              </a:rPr>
              <a:t>4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(sum)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9/5=</a:t>
            </a:r>
            <a:r>
              <a:rPr lang="en" sz="2400">
                <a:solidFill>
                  <a:srgbClr val="FF0000"/>
                </a:solidFill>
                <a:latin typeface="Lexend Light"/>
                <a:ea typeface="Lexend Light"/>
                <a:cs typeface="Lexend Light"/>
                <a:sym typeface="Lexend Light"/>
              </a:rPr>
              <a:t>1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(carry)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222268"/>
                </a:solidFill>
                <a:latin typeface="Lexend Light"/>
                <a:ea typeface="Lexend Light"/>
                <a:cs typeface="Lexend Light"/>
                <a:sym typeface="Lexend Light"/>
              </a:rPr>
              <a:t>1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+</a:t>
            </a:r>
            <a:r>
              <a:rPr lang="en" sz="2400">
                <a:solidFill>
                  <a:srgbClr val="222268"/>
                </a:solidFill>
                <a:latin typeface="Lexend Light"/>
                <a:ea typeface="Lexend Light"/>
                <a:cs typeface="Lexend Light"/>
                <a:sym typeface="Lexend Light"/>
              </a:rPr>
              <a:t>3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+</a:t>
            </a:r>
            <a:r>
              <a:rPr lang="en" sz="2400">
                <a:solidFill>
                  <a:srgbClr val="222268"/>
                </a:solidFill>
                <a:latin typeface="Lexend Light"/>
                <a:ea typeface="Lexend Light"/>
                <a:cs typeface="Lexend Light"/>
                <a:sym typeface="Lexend Light"/>
              </a:rPr>
              <a:t>4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+</a:t>
            </a:r>
            <a:r>
              <a:rPr lang="en" sz="2400">
                <a:solidFill>
                  <a:srgbClr val="FF0000"/>
                </a:solidFill>
                <a:latin typeface="Lexend Light"/>
                <a:ea typeface="Lexend Light"/>
                <a:cs typeface="Lexend Light"/>
                <a:sym typeface="Lexend Light"/>
              </a:rPr>
              <a:t>2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= 10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10%5=</a:t>
            </a:r>
            <a:r>
              <a:rPr lang="en" sz="2400">
                <a:solidFill>
                  <a:srgbClr val="38761D"/>
                </a:solidFill>
                <a:latin typeface="Lexend Light"/>
                <a:ea typeface="Lexend Light"/>
                <a:cs typeface="Lexend Light"/>
                <a:sym typeface="Lexend Light"/>
              </a:rPr>
              <a:t>0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(sum)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10/5=</a:t>
            </a:r>
            <a:r>
              <a:rPr lang="en" sz="2400">
                <a:solidFill>
                  <a:srgbClr val="CC0000"/>
                </a:solidFill>
                <a:latin typeface="Lexend Light"/>
                <a:ea typeface="Lexend Light"/>
                <a:cs typeface="Lexend Light"/>
                <a:sym typeface="Lexend Light"/>
              </a:rPr>
              <a:t>2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(carry)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68" name="Google Shape;668;p42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9" name="Google Shape;669;p42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43"/>
          <p:cNvSpPr/>
          <p:nvPr/>
        </p:nvSpPr>
        <p:spPr>
          <a:xfrm>
            <a:off x="0" y="25350"/>
            <a:ext cx="9144000" cy="49236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75" name="Google Shape;675;p43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0" y="2433963"/>
            <a:ext cx="1689702" cy="401218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676" name="Google Shape;676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77" name="Google Shape;677;p43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91889" y="922297"/>
            <a:ext cx="779088" cy="401218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678" name="Google Shape;678;p4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679" name="Google Shape;679;p43"/>
          <p:cNvSpPr txBox="1"/>
          <p:nvPr/>
        </p:nvSpPr>
        <p:spPr>
          <a:xfrm>
            <a:off x="351901" y="805872"/>
            <a:ext cx="8494200" cy="33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(4) 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(a) (FF)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16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+(F1)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16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     (b) (66)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7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+ (55)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7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Solution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(a) (1F0)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16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(b) (154)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7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1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680" name="Google Shape;680;p43"/>
          <p:cNvGrpSpPr/>
          <p:nvPr/>
        </p:nvGrpSpPr>
        <p:grpSpPr>
          <a:xfrm>
            <a:off x="50481" y="124871"/>
            <a:ext cx="277873" cy="69727"/>
            <a:chOff x="411700" y="2416840"/>
            <a:chExt cx="277873" cy="68400"/>
          </a:xfrm>
        </p:grpSpPr>
        <p:sp>
          <p:nvSpPr>
            <p:cNvPr id="681" name="Google Shape;681;p43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43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43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84" name="Google Shape;684;p43"/>
          <p:cNvSpPr txBox="1"/>
          <p:nvPr/>
        </p:nvSpPr>
        <p:spPr>
          <a:xfrm>
            <a:off x="209776" y="166454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Exercise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5" name="Google Shape;685;p43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6" name="Google Shape;686;p43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1" name="Google Shape;691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692" name="Google Shape;692;p4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693" name="Google Shape;693;p44"/>
          <p:cNvSpPr/>
          <p:nvPr/>
        </p:nvSpPr>
        <p:spPr>
          <a:xfrm>
            <a:off x="376400" y="999575"/>
            <a:ext cx="8399100" cy="3805800"/>
          </a:xfrm>
          <a:prstGeom prst="roundRect">
            <a:avLst>
              <a:gd fmla="val 5139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94" name="Google Shape;694;p44"/>
          <p:cNvGrpSpPr/>
          <p:nvPr/>
        </p:nvGrpSpPr>
        <p:grpSpPr>
          <a:xfrm>
            <a:off x="422950" y="1121440"/>
            <a:ext cx="277873" cy="68400"/>
            <a:chOff x="411700" y="2416840"/>
            <a:chExt cx="277873" cy="68400"/>
          </a:xfrm>
        </p:grpSpPr>
        <p:sp>
          <p:nvSpPr>
            <p:cNvPr id="695" name="Google Shape;695;p4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4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4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98" name="Google Shape;698;p44"/>
          <p:cNvSpPr txBox="1"/>
          <p:nvPr/>
        </p:nvSpPr>
        <p:spPr>
          <a:xfrm>
            <a:off x="355850" y="1259050"/>
            <a:ext cx="8440200" cy="3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•"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multiplication of two binary numbers can be carried out in the same manner as the decimal multiplication.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302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•"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Unlike decimal multiplication, only two values are generated as the outcome of multiplying the multiplication bit by 0 or 1 in the binary multiplication. These values are either 0 or 1.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302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•"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binary multiplication can also be considered as repeated binary addition. Therefore, the binary multiplication is performed in conjunction with the binary addition operation.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9" name="Google Shape;699;p44"/>
          <p:cNvSpPr txBox="1"/>
          <p:nvPr/>
        </p:nvSpPr>
        <p:spPr>
          <a:xfrm>
            <a:off x="209775" y="3161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Binary Multiplication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0" name="Google Shape;700;p44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1" name="Google Shape;701;p44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45"/>
          <p:cNvSpPr/>
          <p:nvPr/>
        </p:nvSpPr>
        <p:spPr>
          <a:xfrm>
            <a:off x="0" y="25350"/>
            <a:ext cx="9144000" cy="49152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07" name="Google Shape;707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08" name="Google Shape;708;p45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91888" y="905264"/>
            <a:ext cx="779088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709" name="Google Shape;709;p4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710" name="Google Shape;710;p45"/>
          <p:cNvSpPr txBox="1"/>
          <p:nvPr/>
        </p:nvSpPr>
        <p:spPr>
          <a:xfrm>
            <a:off x="351900" y="791050"/>
            <a:ext cx="84942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(5) 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Multiply 1011 with 101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Multiplicand                              </a:t>
            </a: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1011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Multiplier                                 </a:t>
            </a:r>
            <a:r>
              <a:rPr lang="en" sz="2400" u="sng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x 101</a:t>
            </a:r>
            <a:endParaRPr sz="2400" u="sng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Partial Product                         </a:t>
            </a: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1011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                                               </a:t>
            </a: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0000X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                                           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r>
              <a:rPr lang="en" sz="24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r>
              <a:rPr lang="en" sz="2400" u="sng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1011XX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                        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Product                               </a:t>
            </a: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110111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     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11" name="Google Shape;711;p45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712" name="Google Shape;712;p4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4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4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15" name="Google Shape;715;p45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Exercise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6" name="Google Shape;716;p4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7" name="Google Shape;717;p4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46"/>
          <p:cNvSpPr/>
          <p:nvPr/>
        </p:nvSpPr>
        <p:spPr>
          <a:xfrm>
            <a:off x="0" y="25350"/>
            <a:ext cx="9144000" cy="49236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3" name="Google Shape;723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724" name="Google Shape;724;p4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725" name="Google Shape;725;p46"/>
          <p:cNvSpPr txBox="1"/>
          <p:nvPr/>
        </p:nvSpPr>
        <p:spPr>
          <a:xfrm>
            <a:off x="351900" y="791050"/>
            <a:ext cx="20715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2A3C 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u="sng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xB7 </a:t>
            </a:r>
            <a:endParaRPr sz="2400" u="sng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127A4 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u="sng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1D094X</a:t>
            </a: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1E30E4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grpSp>
        <p:nvGrpSpPr>
          <p:cNvPr id="726" name="Google Shape;726;p46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727" name="Google Shape;727;p46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46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46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30" name="Google Shape;730;p46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Multiplication with base-r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1" name="Google Shape;731;p46"/>
          <p:cNvSpPr txBox="1"/>
          <p:nvPr/>
        </p:nvSpPr>
        <p:spPr>
          <a:xfrm>
            <a:off x="2653575" y="847175"/>
            <a:ext cx="60648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7*C = 7*12 = 84 =(write 4, carry 5) 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7*3+5 = 26 = 1A (write A, carry 1) 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7*A+1 = 71 = 0x47 (write 7, carry 4) 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7*2+4 = 18 = 0x12 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This completes the 7*2A3C = 127A4 partial product. </a:t>
            </a:r>
            <a:br>
              <a:rPr lang="en" sz="1200">
                <a:solidFill>
                  <a:schemeClr val="dk1"/>
                </a:solidFill>
              </a:rPr>
            </a:b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B*C = 11*12 = 132 = (write 4, carry 8) 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B*3+8 = 11*3+8 = 41 = (write 9, carry 2) 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B*A+2 = 11*10+2 = 112 = (write 0, carry 7) 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B*2+7 = 11*2+7 = 29 = 1D 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This completes the B[0]*2A3C = 1D094[0] partial product, where I'm noting the [0] digits to remind us this is in the 16s column. </a:t>
            </a:r>
            <a:br>
              <a:rPr lang="en" sz="1200">
                <a:solidFill>
                  <a:schemeClr val="dk1"/>
                </a:solidFill>
              </a:rPr>
            </a:b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Adding the partial products: 127A4 + 1D0940 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4+0 = 4 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A+4 = E 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7+9 = 16 = 0x10 (write 0, carry 1) 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2+0+1 = 3 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1+D = E 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1 = 1 </a:t>
            </a:r>
            <a:endParaRPr sz="12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32" name="Google Shape;732;p46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-1" y="3167950"/>
            <a:ext cx="1689702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733" name="Google Shape;733;p46"/>
          <p:cNvSpPr txBox="1"/>
          <p:nvPr/>
        </p:nvSpPr>
        <p:spPr>
          <a:xfrm>
            <a:off x="328350" y="3106150"/>
            <a:ext cx="32508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Working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cxnSp>
        <p:nvCxnSpPr>
          <p:cNvPr id="734" name="Google Shape;734;p46"/>
          <p:cNvCxnSpPr/>
          <p:nvPr/>
        </p:nvCxnSpPr>
        <p:spPr>
          <a:xfrm>
            <a:off x="2423400" y="978550"/>
            <a:ext cx="0" cy="3868500"/>
          </a:xfrm>
          <a:prstGeom prst="straightConnector1">
            <a:avLst/>
          </a:prstGeom>
          <a:noFill/>
          <a:ln cap="flat" cmpd="sng" w="9525">
            <a:solidFill>
              <a:srgbClr val="A9B0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5" name="Google Shape;735;p46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46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47"/>
          <p:cNvSpPr/>
          <p:nvPr/>
        </p:nvSpPr>
        <p:spPr>
          <a:xfrm>
            <a:off x="0" y="25350"/>
            <a:ext cx="9144000" cy="49152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2" name="Google Shape;742;p47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-1" y="2388225"/>
            <a:ext cx="1689702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743" name="Google Shape;743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44" name="Google Shape;744;p47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91888" y="905264"/>
            <a:ext cx="779088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745" name="Google Shape;745;p4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746" name="Google Shape;746;p47"/>
          <p:cNvSpPr txBox="1"/>
          <p:nvPr/>
        </p:nvSpPr>
        <p:spPr>
          <a:xfrm>
            <a:off x="351900" y="791050"/>
            <a:ext cx="8494200" cy="33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(6) (a) Multiply (34)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5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with (42)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5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     (b) Multiply (25)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9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with (36)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9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Solution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(a) (3133)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5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(b) (1033)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9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1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47" name="Google Shape;747;p47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748" name="Google Shape;748;p47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47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47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51" name="Google Shape;751;p47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Exercise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2" name="Google Shape;752;p47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3" name="Google Shape;753;p47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48"/>
          <p:cNvSpPr/>
          <p:nvPr/>
        </p:nvSpPr>
        <p:spPr>
          <a:xfrm>
            <a:off x="0" y="25350"/>
            <a:ext cx="9144000" cy="49152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59" name="Google Shape;759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760" name="Google Shape;760;p4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761" name="Google Shape;761;p48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762" name="Google Shape;762;p48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48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48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5" name="Google Shape;765;p48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Binary Subtraction: Rules w/Carries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6" name="Google Shape;766;p48"/>
          <p:cNvSpPr txBox="1"/>
          <p:nvPr/>
        </p:nvSpPr>
        <p:spPr>
          <a:xfrm>
            <a:off x="351900" y="791050"/>
            <a:ext cx="8494200" cy="3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For 2 bit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2921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0 - 0 = 0 0 ( 0 with a 0 carry )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73050" lvl="0" marL="342900" rtl="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21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1 - 1 = 0 0 ( 0 with a 0 carry )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73050" lvl="0" marL="342900" rtl="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21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1 - 0 = 0 1 ( 1 with a 0 carry )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73050" lvl="0" marL="342900" rtl="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21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0 - 1 = ? ( ???)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767" name="Google Shape;767;p48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8" name="Google Shape;768;p48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49"/>
          <p:cNvSpPr/>
          <p:nvPr/>
        </p:nvSpPr>
        <p:spPr>
          <a:xfrm>
            <a:off x="0" y="25350"/>
            <a:ext cx="9144000" cy="49323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74" name="Google Shape;774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775" name="Google Shape;775;p4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776" name="Google Shape;776;p49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777" name="Google Shape;777;p49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49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49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80" name="Google Shape;780;p49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Binary Subtraction: Rules w/Carries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1" name="Google Shape;781;p49"/>
          <p:cNvSpPr txBox="1"/>
          <p:nvPr/>
        </p:nvSpPr>
        <p:spPr>
          <a:xfrm>
            <a:off x="351900" y="791050"/>
            <a:ext cx="73392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    </a:t>
            </a:r>
            <a:r>
              <a:rPr lang="en" sz="1900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endParaRPr sz="1900">
              <a:solidFill>
                <a:srgbClr val="FF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2    →    10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u="sng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- 1</a:t>
            </a: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→ </a:t>
            </a:r>
            <a:r>
              <a:rPr lang="en" sz="2400" u="sng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- 01 </a:t>
            </a:r>
            <a:endParaRPr sz="2400" u="sng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1    →    01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4    →   100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u="sng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- 1</a:t>
            </a: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→ </a:t>
            </a:r>
            <a:r>
              <a:rPr lang="en" sz="2400" u="sng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- 001 </a:t>
            </a:r>
            <a:endParaRPr sz="2400" u="sng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3    →   011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782" name="Google Shape;782;p49"/>
          <p:cNvCxnSpPr/>
          <p:nvPr/>
        </p:nvCxnSpPr>
        <p:spPr>
          <a:xfrm>
            <a:off x="3089112" y="1318325"/>
            <a:ext cx="258900" cy="2160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83" name="Google Shape;783;p49"/>
          <p:cNvCxnSpPr/>
          <p:nvPr/>
        </p:nvCxnSpPr>
        <p:spPr>
          <a:xfrm>
            <a:off x="3306187" y="1688250"/>
            <a:ext cx="258900" cy="2160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784" name="Google Shape;784;p49"/>
          <p:cNvSpPr txBox="1"/>
          <p:nvPr/>
        </p:nvSpPr>
        <p:spPr>
          <a:xfrm>
            <a:off x="3036175" y="921200"/>
            <a:ext cx="223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endParaRPr sz="1800">
              <a:solidFill>
                <a:srgbClr val="FF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785" name="Google Shape;785;p49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6" name="Google Shape;786;p49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50"/>
          <p:cNvSpPr/>
          <p:nvPr/>
        </p:nvSpPr>
        <p:spPr>
          <a:xfrm>
            <a:off x="0" y="25350"/>
            <a:ext cx="9144000" cy="49236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92" name="Google Shape;792;p50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-1" y="1662320"/>
            <a:ext cx="1689702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793" name="Google Shape;793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94" name="Google Shape;794;p50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91888" y="905264"/>
            <a:ext cx="779088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795" name="Google Shape;795;p5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796" name="Google Shape;796;p50"/>
          <p:cNvSpPr txBox="1"/>
          <p:nvPr/>
        </p:nvSpPr>
        <p:spPr>
          <a:xfrm>
            <a:off x="351900" y="791050"/>
            <a:ext cx="8494200" cy="30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(7) 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(b) Subtract (100111)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2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from (101101)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2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Solution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(000110)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2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1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97" name="Google Shape;797;p50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798" name="Google Shape;798;p50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50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50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01" name="Google Shape;801;p50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Exercise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02" name="Google Shape;802;p50"/>
          <p:cNvGrpSpPr/>
          <p:nvPr/>
        </p:nvGrpSpPr>
        <p:grpSpPr>
          <a:xfrm>
            <a:off x="1689700" y="2590237"/>
            <a:ext cx="3794183" cy="1768177"/>
            <a:chOff x="2192" y="550"/>
            <a:chExt cx="2590" cy="1207"/>
          </a:xfrm>
        </p:grpSpPr>
        <p:sp>
          <p:nvSpPr>
            <p:cNvPr id="803" name="Google Shape;803;p50"/>
            <p:cNvSpPr txBox="1"/>
            <p:nvPr/>
          </p:nvSpPr>
          <p:spPr>
            <a:xfrm>
              <a:off x="2192" y="550"/>
              <a:ext cx="21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lang="en">
                  <a:latin typeface="Lexend"/>
                  <a:ea typeface="Lexend"/>
                  <a:cs typeface="Lexend"/>
                  <a:sym typeface="Lexend"/>
                </a:rPr>
                <a:t>Working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04" name="Google Shape;804;p50"/>
            <p:cNvSpPr txBox="1"/>
            <p:nvPr/>
          </p:nvSpPr>
          <p:spPr>
            <a:xfrm>
              <a:off x="2382" y="839"/>
              <a:ext cx="2400" cy="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1800" u="non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Minuend:           </a:t>
              </a:r>
              <a:r>
                <a:rPr i="0" lang="en" sz="1800" u="none">
                  <a:solidFill>
                    <a:srgbClr val="00000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101101</a:t>
              </a:r>
              <a:endParaRPr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1800" u="non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Subtrahend: </a:t>
              </a:r>
              <a:r>
                <a:rPr i="0" lang="en" sz="1800" u="none">
                  <a:solidFill>
                    <a:srgbClr val="00000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−100111</a:t>
              </a:r>
              <a:endParaRPr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i="0" sz="1800" u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1800" u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05" name="Google Shape;805;p50"/>
            <p:cNvSpPr txBox="1"/>
            <p:nvPr/>
          </p:nvSpPr>
          <p:spPr>
            <a:xfrm>
              <a:off x="2372" y="1457"/>
              <a:ext cx="21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1800" u="non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Difference:        </a:t>
              </a:r>
              <a:r>
                <a:rPr i="0" lang="en" sz="1800" u="none">
                  <a:solidFill>
                    <a:srgbClr val="00000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000110</a:t>
              </a:r>
              <a:endParaRPr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cxnSp>
          <p:nvCxnSpPr>
            <p:cNvPr id="806" name="Google Shape;806;p50"/>
            <p:cNvCxnSpPr/>
            <p:nvPr/>
          </p:nvCxnSpPr>
          <p:spPr>
            <a:xfrm>
              <a:off x="2213" y="1434"/>
              <a:ext cx="2100" cy="0"/>
            </a:xfrm>
            <a:prstGeom prst="straightConnector1">
              <a:avLst/>
            </a:prstGeom>
            <a:noFill/>
            <a:ln cap="flat" cmpd="sng" w="28575">
              <a:solidFill>
                <a:srgbClr val="333399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  <p:sp>
        <p:nvSpPr>
          <p:cNvPr id="807" name="Google Shape;807;p50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8" name="Google Shape;808;p50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51"/>
          <p:cNvSpPr/>
          <p:nvPr/>
        </p:nvSpPr>
        <p:spPr>
          <a:xfrm>
            <a:off x="0" y="25350"/>
            <a:ext cx="9144000" cy="49152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14" name="Google Shape;814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815" name="Google Shape;815;p5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816" name="Google Shape;816;p51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817" name="Google Shape;817;p51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51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51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20" name="Google Shape;820;p51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Binary Subtraction: Rules w/Carries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1" name="Google Shape;821;p51"/>
          <p:cNvSpPr txBox="1"/>
          <p:nvPr/>
        </p:nvSpPr>
        <p:spPr>
          <a:xfrm>
            <a:off x="351900" y="791050"/>
            <a:ext cx="36597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b="1" lang="en" sz="1500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1500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16</a:t>
            </a:r>
            <a:endParaRPr b="1" sz="1500">
              <a:solidFill>
                <a:srgbClr val="FF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(4 A 6)</a:t>
            </a:r>
            <a:r>
              <a:rPr baseline="-25000"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16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u="sng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-(1 B 3)</a:t>
            </a:r>
            <a:r>
              <a:rPr baseline="-25000"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16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(2 F 3)</a:t>
            </a:r>
            <a:r>
              <a:rPr baseline="-25000"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16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822" name="Google Shape;822;p51"/>
          <p:cNvCxnSpPr/>
          <p:nvPr/>
        </p:nvCxnSpPr>
        <p:spPr>
          <a:xfrm>
            <a:off x="769512" y="1337325"/>
            <a:ext cx="258900" cy="2160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823" name="Google Shape;823;p51"/>
          <p:cNvSpPr txBox="1"/>
          <p:nvPr/>
        </p:nvSpPr>
        <p:spPr>
          <a:xfrm>
            <a:off x="4572000" y="913250"/>
            <a:ext cx="36597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b="1" lang="en" sz="1500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4</a:t>
            </a: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1500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6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(5 4)</a:t>
            </a:r>
            <a:r>
              <a:rPr baseline="-25000"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6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u="sng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-(3 5)</a:t>
            </a:r>
            <a:r>
              <a:rPr baseline="-25000"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6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(1 5)</a:t>
            </a:r>
            <a:r>
              <a:rPr baseline="-25000"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6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824" name="Google Shape;824;p51"/>
          <p:cNvCxnSpPr/>
          <p:nvPr/>
        </p:nvCxnSpPr>
        <p:spPr>
          <a:xfrm>
            <a:off x="1152537" y="1690250"/>
            <a:ext cx="258900" cy="2160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25" name="Google Shape;825;p51"/>
          <p:cNvCxnSpPr/>
          <p:nvPr/>
        </p:nvCxnSpPr>
        <p:spPr>
          <a:xfrm>
            <a:off x="5002637" y="1409525"/>
            <a:ext cx="258900" cy="2160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26" name="Google Shape;826;p51"/>
          <p:cNvCxnSpPr/>
          <p:nvPr/>
        </p:nvCxnSpPr>
        <p:spPr>
          <a:xfrm>
            <a:off x="5415712" y="1832625"/>
            <a:ext cx="258900" cy="2160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827" name="Google Shape;827;p51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8" name="Google Shape;828;p51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52"/>
          <p:cNvSpPr/>
          <p:nvPr/>
        </p:nvSpPr>
        <p:spPr>
          <a:xfrm>
            <a:off x="0" y="25350"/>
            <a:ext cx="9144000" cy="49152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34" name="Google Shape;834;p52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-1" y="2759199"/>
            <a:ext cx="1689702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835" name="Google Shape;835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36" name="Google Shape;836;p52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91888" y="905264"/>
            <a:ext cx="779088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837" name="Google Shape;837;p5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838" name="Google Shape;838;p52"/>
          <p:cNvSpPr txBox="1"/>
          <p:nvPr/>
        </p:nvSpPr>
        <p:spPr>
          <a:xfrm>
            <a:off x="351900" y="791050"/>
            <a:ext cx="8494200" cy="36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(8) (a) 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(71)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8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-(56)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8                                        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(b) (21)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3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-(12)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3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Solution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a) (13)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8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b) (2)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3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1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839" name="Google Shape;839;p52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840" name="Google Shape;840;p52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52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52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3" name="Google Shape;843;p52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Exercise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4" name="Google Shape;844;p52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5" name="Google Shape;845;p52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53"/>
          <p:cNvSpPr/>
          <p:nvPr/>
        </p:nvSpPr>
        <p:spPr>
          <a:xfrm>
            <a:off x="0" y="25350"/>
            <a:ext cx="9144000" cy="49236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1" name="Google Shape;851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852" name="Google Shape;852;p5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853" name="Google Shape;853;p53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854" name="Google Shape;854;p53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53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53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57" name="Google Shape;857;p53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Division of </a:t>
            </a:r>
            <a:r>
              <a:rPr lang="en" sz="3600">
                <a:latin typeface="Lexend"/>
                <a:ea typeface="Lexend"/>
                <a:cs typeface="Lexend"/>
                <a:sym typeface="Lexend"/>
              </a:rPr>
              <a:t>base-r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8" name="Google Shape;858;p53"/>
          <p:cNvSpPr txBox="1"/>
          <p:nvPr/>
        </p:nvSpPr>
        <p:spPr>
          <a:xfrm>
            <a:off x="-13425" y="694775"/>
            <a:ext cx="5498700" cy="43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Dividend: x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...x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; Divisor: y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...y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y;  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Perform 101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/ 10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;  Dividend = 101 and Divisor = 10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Step1: Start with the first digit of the dividend. (x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Step2: Compare it with the divisor;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If  (it is smaller, than the divisor): (x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&lt;y)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2.a append 0 to the quotient.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else: (x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&gt;= y)</a:t>
            </a:r>
            <a:b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proceed with division.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   2.a Find the largest multiple of the divisor that fits.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   2.b Append the multiplier to the quotient.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Step3: Subtract and bring down the next digit.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Step4: From now on compare the newly formed number 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in step3 with the divisor while repeating step2.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Step5. Repeat this step 2, 3 &amp; 4 until all digits of the dividend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(x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...x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are processed. 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9" name="Google Shape;859;p53"/>
          <p:cNvSpPr txBox="1"/>
          <p:nvPr/>
        </p:nvSpPr>
        <p:spPr>
          <a:xfrm>
            <a:off x="5485275" y="542075"/>
            <a:ext cx="3339000" cy="4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Iteration 1          </a:t>
            </a:r>
            <a:r>
              <a:rPr b="1"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Iteration 2</a:t>
            </a:r>
            <a:endParaRPr b="1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10│ 101 │0  </a:t>
            </a:r>
            <a:r>
              <a:rPr lang="en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10│ 101 │01</a:t>
            </a:r>
            <a:endParaRPr sz="1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lang="en" sz="1600" u="sng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│ 0   │</a:t>
            </a:r>
            <a:r>
              <a:rPr lang="en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</a:t>
            </a:r>
            <a:r>
              <a:rPr lang="en" sz="1600" u="sng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│ 0   │ </a:t>
            </a:r>
            <a:endParaRPr sz="1600" u="sng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10</a:t>
            </a:r>
            <a:r>
              <a:rPr lang="en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   10</a:t>
            </a:r>
            <a:endParaRPr sz="1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   </a:t>
            </a:r>
            <a:r>
              <a:rPr lang="en" sz="1600" u="sng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-10    </a:t>
            </a:r>
            <a:r>
              <a:rPr lang="en" sz="16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_</a:t>
            </a:r>
            <a:endParaRPr sz="16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      0</a:t>
            </a:r>
            <a:endParaRPr sz="1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Iteration 3</a:t>
            </a:r>
            <a:endParaRPr sz="1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10│ 101 │010</a:t>
            </a:r>
            <a:endParaRPr sz="1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lang="en" sz="1600" u="sng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│ 0   │ </a:t>
            </a:r>
            <a:endParaRPr sz="1600" u="sng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10</a:t>
            </a:r>
            <a:endParaRPr sz="1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lang="en" sz="1600" u="sng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-10   </a:t>
            </a:r>
            <a:r>
              <a:rPr lang="en" sz="16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_</a:t>
            </a:r>
            <a:endParaRPr sz="16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01</a:t>
            </a:r>
            <a:endParaRPr sz="1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lang="en" sz="1600" u="sng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- 0  </a:t>
            </a:r>
            <a:r>
              <a:rPr lang="en" sz="16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_</a:t>
            </a:r>
            <a:endParaRPr sz="1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1</a:t>
            </a:r>
            <a:endParaRPr sz="1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860" name="Google Shape;860;p53"/>
          <p:cNvCxnSpPr/>
          <p:nvPr/>
        </p:nvCxnSpPr>
        <p:spPr>
          <a:xfrm>
            <a:off x="5397450" y="970200"/>
            <a:ext cx="0" cy="3868500"/>
          </a:xfrm>
          <a:prstGeom prst="straightConnector1">
            <a:avLst/>
          </a:prstGeom>
          <a:noFill/>
          <a:ln cap="flat" cmpd="sng" w="9525">
            <a:solidFill>
              <a:srgbClr val="A9B0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1" name="Google Shape;861;p53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2" name="Google Shape;862;p53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54"/>
          <p:cNvSpPr/>
          <p:nvPr/>
        </p:nvSpPr>
        <p:spPr>
          <a:xfrm>
            <a:off x="0" y="25350"/>
            <a:ext cx="9144000" cy="49323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8" name="Google Shape;868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7700" y="255650"/>
            <a:ext cx="5916300" cy="4583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869" name="Google Shape;869;p54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-1" y="2378199"/>
            <a:ext cx="1689702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870" name="Google Shape;870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71" name="Google Shape;871;p54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91888" y="905264"/>
            <a:ext cx="779088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872" name="Google Shape;872;p5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873" name="Google Shape;873;p54"/>
          <p:cNvSpPr txBox="1"/>
          <p:nvPr/>
        </p:nvSpPr>
        <p:spPr>
          <a:xfrm>
            <a:off x="351900" y="791050"/>
            <a:ext cx="2967900" cy="20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(9) 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Perform 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10111012 / 1102; Find the quotient and remainder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Solution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874" name="Google Shape;874;p54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Exercise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75" name="Google Shape;875;p54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876" name="Google Shape;876;p5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5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5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879" name="Google Shape;879;p5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96500" y="2452897"/>
            <a:ext cx="2124650" cy="218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0" name="Google Shape;880;p54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5977675" y="2059300"/>
            <a:ext cx="2247599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881" name="Google Shape;881;p54"/>
          <p:cNvSpPr txBox="1"/>
          <p:nvPr/>
        </p:nvSpPr>
        <p:spPr>
          <a:xfrm>
            <a:off x="6325950" y="1979050"/>
            <a:ext cx="2247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Alt. 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Solution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cxnSp>
        <p:nvCxnSpPr>
          <p:cNvPr id="882" name="Google Shape;882;p54"/>
          <p:cNvCxnSpPr/>
          <p:nvPr/>
        </p:nvCxnSpPr>
        <p:spPr>
          <a:xfrm>
            <a:off x="3099000" y="905275"/>
            <a:ext cx="0" cy="3868500"/>
          </a:xfrm>
          <a:prstGeom prst="straightConnector1">
            <a:avLst/>
          </a:prstGeom>
          <a:noFill/>
          <a:ln cap="flat" cmpd="sng" w="9525">
            <a:solidFill>
              <a:srgbClr val="A9B0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3" name="Google Shape;883;p54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4" name="Google Shape;884;p54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55"/>
          <p:cNvSpPr/>
          <p:nvPr/>
        </p:nvSpPr>
        <p:spPr>
          <a:xfrm>
            <a:off x="0" y="25350"/>
            <a:ext cx="9144000" cy="49236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0" name="Google Shape;890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3225" y="978550"/>
            <a:ext cx="6160771" cy="386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1" name="Google Shape;891;p55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-1" y="2378199"/>
            <a:ext cx="1689702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892" name="Google Shape;892;p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93" name="Google Shape;893;p55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91902" y="905275"/>
            <a:ext cx="931725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894" name="Google Shape;894;p5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895" name="Google Shape;895;p55"/>
          <p:cNvSpPr txBox="1"/>
          <p:nvPr/>
        </p:nvSpPr>
        <p:spPr>
          <a:xfrm>
            <a:off x="351900" y="791050"/>
            <a:ext cx="2967900" cy="20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(10) 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Perform 234102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5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/ 321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5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; Find the quotient and remainder.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Solution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896" name="Google Shape;896;p55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897" name="Google Shape;897;p5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5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5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00" name="Google Shape;900;p55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Exercise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01" name="Google Shape;901;p55"/>
          <p:cNvCxnSpPr/>
          <p:nvPr/>
        </p:nvCxnSpPr>
        <p:spPr>
          <a:xfrm>
            <a:off x="2946600" y="905275"/>
            <a:ext cx="0" cy="3868500"/>
          </a:xfrm>
          <a:prstGeom prst="straightConnector1">
            <a:avLst/>
          </a:prstGeom>
          <a:noFill/>
          <a:ln cap="flat" cmpd="sng" w="9525">
            <a:solidFill>
              <a:srgbClr val="A9B0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2" name="Google Shape;902;p5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3" name="Google Shape;903;p5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56"/>
          <p:cNvSpPr/>
          <p:nvPr/>
        </p:nvSpPr>
        <p:spPr>
          <a:xfrm>
            <a:off x="0" y="25350"/>
            <a:ext cx="9144000" cy="49236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09" name="Google Shape;909;p56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-1" y="2759199"/>
            <a:ext cx="1689702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910" name="Google Shape;910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11" name="Google Shape;911;p56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91900" y="905275"/>
            <a:ext cx="891625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912" name="Google Shape;912;p5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913" name="Google Shape;913;p56"/>
          <p:cNvSpPr txBox="1"/>
          <p:nvPr/>
        </p:nvSpPr>
        <p:spPr>
          <a:xfrm>
            <a:off x="351900" y="791050"/>
            <a:ext cx="8494200" cy="41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(11) 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(a) (71)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8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/ (56)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8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               (b) (21)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3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/ (12)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3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Find the quotient and remainder.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Solution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Do it yourself &amp; Compare the answer with your peers.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1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914" name="Google Shape;914;p56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915" name="Google Shape;915;p56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56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56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18" name="Google Shape;918;p56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Exercise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9" name="Google Shape;919;p56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0" name="Google Shape;920;p56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