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Mono Medium"/>
      <p:regular r:id="rId40"/>
      <p:bold r:id="rId41"/>
      <p:italic r:id="rId42"/>
      <p:boldItalic r:id="rId43"/>
    </p:embeddedFont>
    <p:embeddedFont>
      <p:font typeface="Lexend Light"/>
      <p:regular r:id="rId44"/>
      <p:bold r:id="rId45"/>
    </p:embeddedFont>
    <p:embeddedFont>
      <p:font typeface="Lexend Medium"/>
      <p:regular r:id="rId46"/>
      <p:bold r:id="rId47"/>
    </p:embeddedFont>
    <p:embeddedFont>
      <p:font typeface="Lexend"/>
      <p:regular r:id="rId48"/>
      <p:bold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443E4E-38E4-4A39-A7BE-30245F5AF6B8}">
  <a:tblStyle styleId="{0C443E4E-38E4-4A39-A7BE-30245F5AF6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Medium-regular.fntdata"/><Relationship Id="rId42" Type="http://schemas.openxmlformats.org/officeDocument/2006/relationships/font" Target="fonts/RobotoMonoMedium-italic.fntdata"/><Relationship Id="rId41" Type="http://schemas.openxmlformats.org/officeDocument/2006/relationships/font" Target="fonts/RobotoMonoMedium-bold.fntdata"/><Relationship Id="rId44" Type="http://schemas.openxmlformats.org/officeDocument/2006/relationships/font" Target="fonts/LexendLight-regular.fntdata"/><Relationship Id="rId43" Type="http://schemas.openxmlformats.org/officeDocument/2006/relationships/font" Target="fonts/RobotoMonoMedium-boldItalic.fntdata"/><Relationship Id="rId46" Type="http://schemas.openxmlformats.org/officeDocument/2006/relationships/font" Target="fonts/LexendMedium-regular.fntdata"/><Relationship Id="rId45" Type="http://schemas.openxmlformats.org/officeDocument/2006/relationships/font" Target="fonts/Lexend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exend-regular.fntdata"/><Relationship Id="rId47" Type="http://schemas.openxmlformats.org/officeDocument/2006/relationships/font" Target="fonts/LexendMedium-bold.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1495c2e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1495c2e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1495c2e2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1495c2e2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1d2ac5f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1d2ac5f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1d2ac5f0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1d2ac5f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1d2ac5f0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1d2ac5f0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1d2ac5f0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1d2ac5f0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1d2ac5f0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1d2ac5f0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1d2ac5f0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1d2ac5f0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1d2ac5f0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1d2ac5f0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1d2ac5f0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1d2ac5f0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1d2ac5f0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1d2ac5f0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1d2ac5f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1d2ac5f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1d2ac5f0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61d2ac5f0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1d2ac5f00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1d2ac5f00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1d2ac5f00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1d2ac5f00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1d2ac5f00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1d2ac5f00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1d2ac5f00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1d2ac5f00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1d2ac5f0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1d2ac5f0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1d2ac5f00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61d2ac5f00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1d2ac5f0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1d2ac5f0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61d2ac5f00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61d2ac5f00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1d2ac5f0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1d2ac5f0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1d2ac5f00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1d2ac5f00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61d2ac5f00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61d2ac5f00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1d2ac5f0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1d2ac5f0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1d2ac5f0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1d2ac5f0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1d2ac5f0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61d2ac5f0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61d2ac5f00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61d2ac5f00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61d2ac5f00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61d2ac5f00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1d2ac5f0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1d2ac5f0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61d2ac5f0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61d2ac5f0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61d2ac5f0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61d2ac5f0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2</a:t>
            </a:r>
            <a:endParaRPr sz="60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Binary Codes,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Signed &amp; Unsigned Numbers - 1's &amp; 2's Complement</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pic>
        <p:nvPicPr>
          <p:cNvPr descr="Circuitboard with binary code (Provided by Getty Images)" id="58" name="Google Shape;58;p13"/>
          <p:cNvPicPr preferRelativeResize="0"/>
          <p:nvPr/>
        </p:nvPicPr>
        <p:blipFill>
          <a:blip r:embed="rId4">
            <a:alphaModFix/>
          </a:blip>
          <a:stretch>
            <a:fillRect/>
          </a:stretch>
        </p:blipFill>
        <p:spPr>
          <a:xfrm>
            <a:off x="2209504" y="3215174"/>
            <a:ext cx="1902623" cy="1269052"/>
          </a:xfrm>
          <a:prstGeom prst="rect">
            <a:avLst/>
          </a:prstGeom>
          <a:noFill/>
          <a:ln>
            <a:noFill/>
          </a:ln>
        </p:spPr>
      </p:pic>
      <p:pic>
        <p:nvPicPr>
          <p:cNvPr descr="tungsten toned high angle view of binary codes displayed on a computer screen (Provided by Getty Images)" id="59" name="Google Shape;59;p13"/>
          <p:cNvPicPr preferRelativeResize="0"/>
          <p:nvPr/>
        </p:nvPicPr>
        <p:blipFill>
          <a:blip r:embed="rId5">
            <a:alphaModFix/>
          </a:blip>
          <a:stretch>
            <a:fillRect/>
          </a:stretch>
        </p:blipFill>
        <p:spPr>
          <a:xfrm>
            <a:off x="5062205" y="3215175"/>
            <a:ext cx="1745495" cy="1269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 name="Google Shape;65;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 name="Google Shape;66;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67" name="Google Shape;67;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8" name="Google Shape;68;p14"/>
          <p:cNvSpPr/>
          <p:nvPr/>
        </p:nvSpPr>
        <p:spPr>
          <a:xfrm>
            <a:off x="376395" y="1324925"/>
            <a:ext cx="8399100" cy="3480300"/>
          </a:xfrm>
          <a:prstGeom prst="roundRect">
            <a:avLst>
              <a:gd fmla="val 5139"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 name="Google Shape;69;p14"/>
          <p:cNvGrpSpPr/>
          <p:nvPr/>
        </p:nvGrpSpPr>
        <p:grpSpPr>
          <a:xfrm>
            <a:off x="422950" y="1426240"/>
            <a:ext cx="277873" cy="68400"/>
            <a:chOff x="411700" y="2416840"/>
            <a:chExt cx="277873" cy="68400"/>
          </a:xfrm>
        </p:grpSpPr>
        <p:sp>
          <p:nvSpPr>
            <p:cNvPr id="70" name="Google Shape;70;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 name="Google Shape;73;p14"/>
          <p:cNvSpPr txBox="1"/>
          <p:nvPr/>
        </p:nvSpPr>
        <p:spPr>
          <a:xfrm>
            <a:off x="354925" y="1557600"/>
            <a:ext cx="8399100" cy="30168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Decimal numbers are more natural to humans.  Binary numbers are natural to computers.  Quite expensive to convert between the two.</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If little calculation is involved, we can use some </a:t>
            </a:r>
            <a:r>
              <a:rPr i="1" lang="en" sz="2400">
                <a:solidFill>
                  <a:srgbClr val="0000FF"/>
                </a:solidFill>
                <a:latin typeface="Lexend"/>
                <a:ea typeface="Lexend"/>
                <a:cs typeface="Lexend"/>
                <a:sym typeface="Lexend"/>
              </a:rPr>
              <a:t>coding schemes</a:t>
            </a:r>
            <a:r>
              <a:rPr lang="en" sz="2400">
                <a:solidFill>
                  <a:schemeClr val="dk1"/>
                </a:solidFill>
                <a:latin typeface="Lexend"/>
                <a:ea typeface="Lexend"/>
                <a:cs typeface="Lexend"/>
                <a:sym typeface="Lexend"/>
              </a:rPr>
              <a:t> for decimal numbers.</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One such scheme is </a:t>
            </a:r>
            <a:r>
              <a:rPr lang="en" sz="2400">
                <a:solidFill>
                  <a:srgbClr val="0000FF"/>
                </a:solidFill>
                <a:latin typeface="Lexend"/>
                <a:ea typeface="Lexend"/>
                <a:cs typeface="Lexend"/>
                <a:sym typeface="Lexend"/>
              </a:rPr>
              <a:t>BCD</a:t>
            </a:r>
            <a:r>
              <a:rPr lang="en" sz="2400">
                <a:solidFill>
                  <a:schemeClr val="dk1"/>
                </a:solidFill>
                <a:latin typeface="Lexend"/>
                <a:ea typeface="Lexend"/>
                <a:cs typeface="Lexend"/>
                <a:sym typeface="Lexend"/>
              </a:rPr>
              <a:t>, a.k.a the </a:t>
            </a:r>
            <a:r>
              <a:rPr lang="en" sz="2400">
                <a:solidFill>
                  <a:srgbClr val="0000FF"/>
                </a:solidFill>
                <a:latin typeface="Lexend"/>
                <a:ea typeface="Lexend"/>
                <a:cs typeface="Lexend"/>
                <a:sym typeface="Lexend"/>
              </a:rPr>
              <a:t>8421 </a:t>
            </a:r>
            <a:r>
              <a:rPr lang="en" sz="2400">
                <a:solidFill>
                  <a:schemeClr val="dk1"/>
                </a:solidFill>
                <a:latin typeface="Lexend"/>
                <a:ea typeface="Lexend"/>
                <a:cs typeface="Lexend"/>
                <a:sym typeface="Lexend"/>
              </a:rPr>
              <a:t>code.</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 each decimal digit as a </a:t>
            </a:r>
            <a:r>
              <a:rPr lang="en" sz="2400">
                <a:solidFill>
                  <a:srgbClr val="0000FF"/>
                </a:solidFill>
                <a:latin typeface="Lexend"/>
                <a:ea typeface="Lexend"/>
                <a:cs typeface="Lexend"/>
                <a:sym typeface="Lexend"/>
              </a:rPr>
              <a:t>4-bit binary code.</a:t>
            </a:r>
            <a:endParaRPr sz="2400">
              <a:solidFill>
                <a:srgbClr val="0000FF"/>
              </a:solidFill>
              <a:latin typeface="Lexend"/>
              <a:ea typeface="Lexend"/>
              <a:cs typeface="Lexend"/>
              <a:sym typeface="Lexend"/>
            </a:endParaRPr>
          </a:p>
        </p:txBody>
      </p:sp>
      <p:sp>
        <p:nvSpPr>
          <p:cNvPr id="74" name="Google Shape;74;p14"/>
          <p:cNvSpPr txBox="1"/>
          <p:nvPr/>
        </p:nvSpPr>
        <p:spPr>
          <a:xfrm>
            <a:off x="209775" y="316175"/>
            <a:ext cx="88113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1" name="Google Shape;81;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2" name="Google Shape;82;p15"/>
          <p:cNvSpPr txBox="1"/>
          <p:nvPr/>
        </p:nvSpPr>
        <p:spPr>
          <a:xfrm>
            <a:off x="351900" y="2010250"/>
            <a:ext cx="8630700" cy="29553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Also known as the </a:t>
            </a:r>
            <a:r>
              <a:rPr i="1" lang="en" sz="2000">
                <a:solidFill>
                  <a:srgbClr val="0000FF"/>
                </a:solidFill>
                <a:latin typeface="Lexend"/>
                <a:ea typeface="Lexend"/>
                <a:cs typeface="Lexend"/>
                <a:sym typeface="Lexend"/>
              </a:rPr>
              <a:t>8421</a:t>
            </a:r>
            <a:r>
              <a:rPr lang="en" sz="2000">
                <a:solidFill>
                  <a:schemeClr val="dk1"/>
                </a:solidFill>
                <a:latin typeface="Lexend"/>
                <a:ea typeface="Lexend"/>
                <a:cs typeface="Lexend"/>
                <a:sym typeface="Lexend"/>
              </a:rPr>
              <a:t> code.</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Represent each decimal digit as a </a:t>
            </a:r>
            <a:r>
              <a:rPr lang="en" sz="2000">
                <a:solidFill>
                  <a:srgbClr val="0000FF"/>
                </a:solidFill>
                <a:latin typeface="Lexend"/>
                <a:ea typeface="Lexend"/>
                <a:cs typeface="Lexend"/>
                <a:sym typeface="Lexend"/>
              </a:rPr>
              <a:t>4-bit binary code</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Some codes are unused, eg: (1010)</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(1011)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 (1111)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These codes are considered as errors.</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Easy to convert, but arithmetic operations are more complicated.</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Suitable for interfaces such as keypad inputs and digital readouts.</a:t>
            </a:r>
            <a:endParaRPr sz="2000">
              <a:solidFill>
                <a:schemeClr val="dk1"/>
              </a:solidFill>
              <a:latin typeface="Lexend"/>
              <a:ea typeface="Lexend"/>
              <a:cs typeface="Lexend"/>
              <a:sym typeface="Lexend"/>
            </a:endParaRPr>
          </a:p>
        </p:txBody>
      </p:sp>
      <p:grpSp>
        <p:nvGrpSpPr>
          <p:cNvPr id="83" name="Google Shape;83;p15"/>
          <p:cNvGrpSpPr/>
          <p:nvPr/>
        </p:nvGrpSpPr>
        <p:grpSpPr>
          <a:xfrm>
            <a:off x="50480" y="122879"/>
            <a:ext cx="277873" cy="68400"/>
            <a:chOff x="411700" y="2416840"/>
            <a:chExt cx="277873" cy="68400"/>
          </a:xfrm>
        </p:grpSpPr>
        <p:sp>
          <p:nvSpPr>
            <p:cNvPr id="84" name="Google Shape;84;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7" name="Google Shape;87;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88" name="Google Shape;88;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9" name="Google Shape;89;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90" name="Google Shape;90;p15"/>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 name="Google Shape;97;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 name="Google Shape;98;p16"/>
          <p:cNvSpPr txBox="1"/>
          <p:nvPr/>
        </p:nvSpPr>
        <p:spPr>
          <a:xfrm>
            <a:off x="351900" y="2010250"/>
            <a:ext cx="8630700" cy="27399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(0010 0011 0100)</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(7093)</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(0111 0000 1001 0011)</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(1000 0110)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(86)</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(1001 0100 0111 0010)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(9472)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800"/>
              </a:spcBef>
              <a:spcAft>
                <a:spcPts val="0"/>
              </a:spcAft>
              <a:buNone/>
            </a:pPr>
            <a:r>
              <a:rPr b="1" lang="en" sz="2000">
                <a:solidFill>
                  <a:schemeClr val="dk1"/>
                </a:solidFill>
                <a:latin typeface="Lexend"/>
                <a:ea typeface="Lexend"/>
                <a:cs typeface="Lexend"/>
                <a:sym typeface="Lexend"/>
              </a:rPr>
              <a:t>Note</a:t>
            </a:r>
            <a:r>
              <a:rPr lang="en" sz="2000">
                <a:solidFill>
                  <a:schemeClr val="dk1"/>
                </a:solidFill>
                <a:latin typeface="Lexend"/>
                <a:ea typeface="Lexend"/>
                <a:cs typeface="Lexend"/>
                <a:sym typeface="Lexend"/>
              </a:rPr>
              <a:t>: BCD is </a:t>
            </a:r>
            <a:r>
              <a:rPr lang="en" sz="2000">
                <a:solidFill>
                  <a:srgbClr val="CC0000"/>
                </a:solidFill>
                <a:latin typeface="Lexend"/>
                <a:ea typeface="Lexend"/>
                <a:cs typeface="Lexend"/>
                <a:sym typeface="Lexend"/>
              </a:rPr>
              <a:t>not equivalent</a:t>
            </a:r>
            <a:r>
              <a:rPr lang="en" sz="2000">
                <a:solidFill>
                  <a:schemeClr val="dk1"/>
                </a:solidFill>
                <a:latin typeface="Lexend"/>
                <a:ea typeface="Lexend"/>
                <a:cs typeface="Lexend"/>
                <a:sym typeface="Lexend"/>
              </a:rPr>
              <a:t> to binary.</a:t>
            </a:r>
            <a:endParaRPr baseline="-25000" sz="2000">
              <a:solidFill>
                <a:schemeClr val="dk1"/>
              </a:solidFill>
              <a:latin typeface="Lexend"/>
              <a:ea typeface="Lexend"/>
              <a:cs typeface="Lexend"/>
              <a:sym typeface="Lexend"/>
            </a:endParaRPr>
          </a:p>
          <a:p>
            <a:pPr indent="-342900" lvl="0" marL="342900" rtl="0" algn="l">
              <a:spcBef>
                <a:spcPts val="400"/>
              </a:spcBef>
              <a:spcAft>
                <a:spcPts val="0"/>
              </a:spcAft>
              <a:buNone/>
            </a:pPr>
            <a:r>
              <a:rPr lang="en" sz="2000">
                <a:solidFill>
                  <a:schemeClr val="dk1"/>
                </a:solidFill>
                <a:latin typeface="Lexend"/>
                <a:ea typeface="Lexend"/>
                <a:cs typeface="Lexend"/>
                <a:sym typeface="Lexend"/>
              </a:rPr>
              <a:t>		Example:</a:t>
            </a:r>
            <a:r>
              <a:rPr baseline="-25000"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(11101010)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p:txBody>
      </p:sp>
      <p:grpSp>
        <p:nvGrpSpPr>
          <p:cNvPr id="99" name="Google Shape;99;p16"/>
          <p:cNvGrpSpPr/>
          <p:nvPr/>
        </p:nvGrpSpPr>
        <p:grpSpPr>
          <a:xfrm>
            <a:off x="50480" y="122879"/>
            <a:ext cx="277873" cy="68400"/>
            <a:chOff x="411700" y="2416840"/>
            <a:chExt cx="277873" cy="68400"/>
          </a:xfrm>
        </p:grpSpPr>
        <p:sp>
          <p:nvSpPr>
            <p:cNvPr id="100" name="Google Shape;100;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 name="Google Shape;103;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104" name="Google Shape;104;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 name="Google Shape;105;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06" name="Google Shape;106;p16"/>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3" name="Google Shape;113;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 name="Google Shape;114;p17"/>
          <p:cNvSpPr txBox="1"/>
          <p:nvPr/>
        </p:nvSpPr>
        <p:spPr>
          <a:xfrm>
            <a:off x="256650" y="807550"/>
            <a:ext cx="8630700" cy="1569900"/>
          </a:xfrm>
          <a:prstGeom prst="rect">
            <a:avLst/>
          </a:prstGeom>
          <a:noFill/>
          <a:ln>
            <a:noFill/>
          </a:ln>
        </p:spPr>
        <p:txBody>
          <a:bodyPr anchorCtr="0" anchor="t" bIns="91425" lIns="91425" spcFirstLastPara="1" rIns="91425" wrap="square" tIns="91425">
            <a:spAutoFit/>
          </a:bodyPr>
          <a:lstStyle/>
          <a:p>
            <a:pPr indent="-342900" lvl="0" marL="342900" rtl="0" algn="l">
              <a:spcBef>
                <a:spcPts val="400"/>
              </a:spcBef>
              <a:spcAft>
                <a:spcPts val="0"/>
              </a:spcAft>
              <a:buNone/>
            </a:pPr>
            <a:r>
              <a:rPr lang="en" sz="2000">
                <a:solidFill>
                  <a:schemeClr val="dk1"/>
                </a:solidFill>
                <a:latin typeface="Lexend"/>
                <a:ea typeface="Lexend"/>
                <a:cs typeface="Lexend"/>
                <a:sym typeface="Lexend"/>
              </a:rPr>
              <a:t>Other Codes:</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a:p>
            <a:pPr indent="-355600" lvl="0" marL="457200" rtl="0" algn="l">
              <a:spcBef>
                <a:spcPts val="40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Excess-3</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p:txBody>
      </p:sp>
      <p:grpSp>
        <p:nvGrpSpPr>
          <p:cNvPr id="115" name="Google Shape;115;p17"/>
          <p:cNvGrpSpPr/>
          <p:nvPr/>
        </p:nvGrpSpPr>
        <p:grpSpPr>
          <a:xfrm>
            <a:off x="50480" y="122879"/>
            <a:ext cx="277873" cy="68400"/>
            <a:chOff x="411700" y="2416840"/>
            <a:chExt cx="277873" cy="68400"/>
          </a:xfrm>
        </p:grpSpPr>
        <p:sp>
          <p:nvSpPr>
            <p:cNvPr id="116" name="Google Shape;116;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 name="Google Shape;119;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Codes</a:t>
            </a:r>
            <a:endParaRPr sz="3600">
              <a:latin typeface="Lexend"/>
              <a:ea typeface="Lexend"/>
              <a:cs typeface="Lexend"/>
              <a:sym typeface="Lexend"/>
            </a:endParaRPr>
          </a:p>
        </p:txBody>
      </p:sp>
      <p:sp>
        <p:nvSpPr>
          <p:cNvPr id="120" name="Google Shape;120;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1" name="Google Shape;121;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22" name="Google Shape;122;p17"/>
          <p:cNvGraphicFramePr/>
          <p:nvPr/>
        </p:nvGraphicFramePr>
        <p:xfrm>
          <a:off x="5124750" y="155088"/>
          <a:ext cx="3000000" cy="3000000"/>
        </p:xfrm>
        <a:graphic>
          <a:graphicData uri="http://schemas.openxmlformats.org/drawingml/2006/table">
            <a:tbl>
              <a:tblPr>
                <a:noFill/>
                <a:tableStyleId>{0C443E4E-38E4-4A39-A7BE-30245F5AF6B8}</a:tableStyleId>
              </a:tblPr>
              <a:tblGrid>
                <a:gridCol w="1124800"/>
                <a:gridCol w="1007225"/>
                <a:gridCol w="93987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BCD</a:t>
                      </a:r>
                      <a:endParaRPr b="1" sz="1200">
                        <a:latin typeface="Roboto Mono"/>
                        <a:ea typeface="Roboto Mono"/>
                        <a:cs typeface="Roboto Mono"/>
                        <a:sym typeface="Roboto Mono"/>
                      </a:endParaRPr>
                    </a:p>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8421</a:t>
                      </a:r>
                      <a:endParaRPr sz="12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Excess-3</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2</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3</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4</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5</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6</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7</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9</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rowSpan="6">
                  <a:txBody>
                    <a:bodyPr/>
                    <a:lstStyle/>
                    <a:p>
                      <a:pPr indent="0" lvl="0" marL="0" rtl="0" algn="l">
                        <a:spcBef>
                          <a:spcPts val="0"/>
                        </a:spcBef>
                        <a:spcAft>
                          <a:spcPts val="0"/>
                        </a:spcAft>
                        <a:buNone/>
                      </a:pPr>
                      <a:r>
                        <a:rPr lang="en" sz="1100">
                          <a:latin typeface="Roboto Mono Medium"/>
                          <a:ea typeface="Roboto Mono Medium"/>
                          <a:cs typeface="Roboto Mono Medium"/>
                          <a:sym typeface="Roboto Mono Medium"/>
                        </a:rPr>
                        <a:t>Unused</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Bit</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Combi-</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nations</a:t>
                      </a:r>
                      <a:endParaRPr sz="11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 name="Google Shape;128;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 name="Google Shape;129;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30" name="Google Shape;130;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1" name="Google Shape;131;p18"/>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8"/>
          <p:cNvSpPr/>
          <p:nvPr/>
        </p:nvSpPr>
        <p:spPr>
          <a:xfrm>
            <a:off x="3545249" y="2850750"/>
            <a:ext cx="2248500" cy="1652700"/>
          </a:xfrm>
          <a:prstGeom prst="roundRect">
            <a:avLst>
              <a:gd fmla="val 4721" name="adj"/>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8"/>
          <p:cNvSpPr/>
          <p:nvPr/>
        </p:nvSpPr>
        <p:spPr>
          <a:xfrm>
            <a:off x="6130099" y="2850750"/>
            <a:ext cx="2248500" cy="1652700"/>
          </a:xfrm>
          <a:prstGeom prst="roundRect">
            <a:avLst>
              <a:gd fmla="val 4721" name="adj"/>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8"/>
          <p:cNvSpPr/>
          <p:nvPr/>
        </p:nvSpPr>
        <p:spPr>
          <a:xfrm>
            <a:off x="960400" y="2850750"/>
            <a:ext cx="2248500" cy="1652700"/>
          </a:xfrm>
          <a:prstGeom prst="roundRect">
            <a:avLst>
              <a:gd fmla="val 4721" name="adj"/>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 name="Google Shape;135;p18"/>
          <p:cNvGrpSpPr/>
          <p:nvPr/>
        </p:nvGrpSpPr>
        <p:grpSpPr>
          <a:xfrm>
            <a:off x="427350" y="1281750"/>
            <a:ext cx="277873" cy="68400"/>
            <a:chOff x="520925" y="1460325"/>
            <a:chExt cx="277873" cy="68400"/>
          </a:xfrm>
        </p:grpSpPr>
        <p:sp>
          <p:nvSpPr>
            <p:cNvPr id="136" name="Google Shape;136;p18"/>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9" name="Google Shape;139;p18"/>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Negative Numbers Representation</a:t>
            </a:r>
            <a:endParaRPr sz="3600">
              <a:latin typeface="Lexend"/>
              <a:ea typeface="Lexend"/>
              <a:cs typeface="Lexend"/>
              <a:sym typeface="Lexend"/>
            </a:endParaRPr>
          </a:p>
        </p:txBody>
      </p:sp>
      <p:sp>
        <p:nvSpPr>
          <p:cNvPr id="140" name="Google Shape;140;p18"/>
          <p:cNvSpPr txBox="1"/>
          <p:nvPr/>
        </p:nvSpPr>
        <p:spPr>
          <a:xfrm>
            <a:off x="960400" y="3169200"/>
            <a:ext cx="22485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Sign</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and</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Magnitude</a:t>
            </a:r>
            <a:endParaRPr sz="1800">
              <a:latin typeface="Lexend Medium"/>
              <a:ea typeface="Lexend Medium"/>
              <a:cs typeface="Lexend Medium"/>
              <a:sym typeface="Lexend Medium"/>
            </a:endParaRPr>
          </a:p>
        </p:txBody>
      </p:sp>
      <p:sp>
        <p:nvSpPr>
          <p:cNvPr id="141" name="Google Shape;141;p18"/>
          <p:cNvSpPr txBox="1"/>
          <p:nvPr/>
        </p:nvSpPr>
        <p:spPr>
          <a:xfrm>
            <a:off x="3545175"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1s Complement</a:t>
            </a:r>
            <a:endParaRPr sz="1800">
              <a:latin typeface="Lexend Medium"/>
              <a:ea typeface="Lexend Medium"/>
              <a:cs typeface="Lexend Medium"/>
              <a:sym typeface="Lexend Medium"/>
            </a:endParaRPr>
          </a:p>
        </p:txBody>
      </p:sp>
      <p:sp>
        <p:nvSpPr>
          <p:cNvPr id="142" name="Google Shape;142;p18"/>
          <p:cNvSpPr txBox="1"/>
          <p:nvPr/>
        </p:nvSpPr>
        <p:spPr>
          <a:xfrm>
            <a:off x="6130100"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2s Complement</a:t>
            </a:r>
            <a:endParaRPr sz="1800">
              <a:latin typeface="Lexend Medium"/>
              <a:ea typeface="Lexend Medium"/>
              <a:cs typeface="Lexend Medium"/>
              <a:sym typeface="Lexend Medium"/>
            </a:endParaRPr>
          </a:p>
        </p:txBody>
      </p:sp>
      <p:sp>
        <p:nvSpPr>
          <p:cNvPr id="143" name="Google Shape;143;p18"/>
          <p:cNvSpPr txBox="1"/>
          <p:nvPr/>
        </p:nvSpPr>
        <p:spPr>
          <a:xfrm>
            <a:off x="354925" y="1557600"/>
            <a:ext cx="8399100" cy="12930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There are three common ways of representing signed numbers (positive and negative numbers) for binary numbers:</a:t>
            </a:r>
            <a:endParaRPr sz="24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 name="Google Shape;14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0" name="Google Shape;15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1" name="Google Shape;151;p19"/>
          <p:cNvSpPr txBox="1"/>
          <p:nvPr/>
        </p:nvSpPr>
        <p:spPr>
          <a:xfrm>
            <a:off x="351900" y="791050"/>
            <a:ext cx="84942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226059"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Negative numbers are usually written by writing a minus sign in front.</a:t>
            </a:r>
            <a:endParaRPr sz="2000">
              <a:solidFill>
                <a:schemeClr val="dk1"/>
              </a:solidFill>
              <a:latin typeface="Lexend"/>
              <a:ea typeface="Lexend"/>
              <a:cs typeface="Lexend"/>
              <a:sym typeface="Lexend"/>
            </a:endParaRPr>
          </a:p>
          <a:p>
            <a:pPr indent="-252730" lvl="1" marL="742950" rtl="0" algn="l">
              <a:spcBef>
                <a:spcPts val="560"/>
              </a:spcBef>
              <a:spcAft>
                <a:spcPts val="0"/>
              </a:spcAft>
              <a:buClr>
                <a:srgbClr val="009999"/>
              </a:buClr>
              <a:buSzPts val="2000"/>
              <a:buFont typeface="Lexend"/>
              <a:buChar char="❖"/>
            </a:pPr>
            <a:r>
              <a:rPr lang="en" sz="2000">
                <a:solidFill>
                  <a:schemeClr val="dk1"/>
                </a:solidFill>
                <a:latin typeface="Lexend"/>
                <a:ea typeface="Lexend"/>
                <a:cs typeface="Lexend"/>
                <a:sym typeface="Lexend"/>
              </a:rPr>
              <a:t>Example:</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r>
              <a:rPr lang="en" sz="2000">
                <a:solidFill>
                  <a:schemeClr val="dk1"/>
                </a:solidFill>
                <a:latin typeface="Lexend"/>
                <a:ea typeface="Lexend"/>
                <a:cs typeface="Lexend"/>
                <a:sym typeface="Lexend"/>
              </a:rPr>
              <a:t> , - (1100)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In computer memory of fixed width, this sign is usually represented by a bit:</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0 for  +</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rPr lang="en" sz="2000">
                <a:solidFill>
                  <a:schemeClr val="dk1"/>
                </a:solidFill>
                <a:latin typeface="Lexend"/>
                <a:ea typeface="Lexend"/>
                <a:cs typeface="Lexend"/>
                <a:sym typeface="Lexend"/>
              </a:rPr>
              <a:t>		1 for  -</a:t>
            </a:r>
            <a:endParaRPr sz="2000">
              <a:solidFill>
                <a:schemeClr val="dk1"/>
              </a:solidFill>
              <a:latin typeface="Lexend"/>
              <a:ea typeface="Lexend"/>
              <a:cs typeface="Lexend"/>
              <a:sym typeface="Lexend"/>
            </a:endParaRPr>
          </a:p>
        </p:txBody>
      </p:sp>
      <p:grpSp>
        <p:nvGrpSpPr>
          <p:cNvPr id="152" name="Google Shape;152;p19"/>
          <p:cNvGrpSpPr/>
          <p:nvPr/>
        </p:nvGrpSpPr>
        <p:grpSpPr>
          <a:xfrm>
            <a:off x="50480" y="122879"/>
            <a:ext cx="277873" cy="68400"/>
            <a:chOff x="411700" y="2416840"/>
            <a:chExt cx="277873" cy="68400"/>
          </a:xfrm>
        </p:grpSpPr>
        <p:sp>
          <p:nvSpPr>
            <p:cNvPr id="153" name="Google Shape;15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6" name="Google Shape;15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a:t>
            </a:r>
            <a:endParaRPr sz="3600">
              <a:latin typeface="Lexend"/>
              <a:ea typeface="Lexend"/>
              <a:cs typeface="Lexend"/>
              <a:sym typeface="Lexend"/>
            </a:endParaRPr>
          </a:p>
        </p:txBody>
      </p:sp>
      <p:sp>
        <p:nvSpPr>
          <p:cNvPr id="157" name="Google Shape;15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58" name="Google Shape;15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64" name="Google Shape;164;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5" name="Google Shape;165;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66" name="Google Shape;166;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67" name="Google Shape;167;p20"/>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8" name="Google Shape;168;p20"/>
          <p:cNvGrpSpPr/>
          <p:nvPr/>
        </p:nvGrpSpPr>
        <p:grpSpPr>
          <a:xfrm>
            <a:off x="427350" y="1281750"/>
            <a:ext cx="277873" cy="68400"/>
            <a:chOff x="520925" y="1460325"/>
            <a:chExt cx="277873" cy="68400"/>
          </a:xfrm>
        </p:grpSpPr>
        <p:sp>
          <p:nvSpPr>
            <p:cNvPr id="169" name="Google Shape;169;p20"/>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0"/>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0"/>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2" name="Google Shape;172;p20"/>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173" name="Google Shape;173;p20"/>
          <p:cNvSpPr txBox="1"/>
          <p:nvPr/>
        </p:nvSpPr>
        <p:spPr>
          <a:xfrm>
            <a:off x="354925" y="1557600"/>
            <a:ext cx="8399100" cy="9234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Example: an 8-bit number can have 1-bit sign and 7-bits magnitude.</a:t>
            </a:r>
            <a:endParaRPr sz="2400">
              <a:solidFill>
                <a:schemeClr val="dk1"/>
              </a:solidFill>
              <a:latin typeface="Lexend"/>
              <a:ea typeface="Lexend"/>
              <a:cs typeface="Lexend"/>
              <a:sym typeface="Lexend"/>
            </a:endParaRPr>
          </a:p>
        </p:txBody>
      </p:sp>
      <p:grpSp>
        <p:nvGrpSpPr>
          <p:cNvPr id="174" name="Google Shape;174;p20"/>
          <p:cNvGrpSpPr/>
          <p:nvPr/>
        </p:nvGrpSpPr>
        <p:grpSpPr>
          <a:xfrm>
            <a:off x="1600200" y="3048000"/>
            <a:ext cx="5317823" cy="1695450"/>
            <a:chOff x="1248" y="1728"/>
            <a:chExt cx="3350" cy="1068"/>
          </a:xfrm>
        </p:grpSpPr>
        <p:sp>
          <p:nvSpPr>
            <p:cNvPr id="175" name="Google Shape;175;p20"/>
            <p:cNvSpPr txBox="1"/>
            <p:nvPr/>
          </p:nvSpPr>
          <p:spPr>
            <a:xfrm>
              <a:off x="1248" y="2496"/>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sign</a:t>
              </a:r>
              <a:endParaRPr>
                <a:latin typeface="Lexend"/>
                <a:ea typeface="Lexend"/>
                <a:cs typeface="Lexend"/>
                <a:sym typeface="Lexend"/>
              </a:endParaRPr>
            </a:p>
          </p:txBody>
        </p:sp>
        <p:sp>
          <p:nvSpPr>
            <p:cNvPr id="176" name="Google Shape;176;p20"/>
            <p:cNvSpPr txBox="1"/>
            <p:nvPr/>
          </p:nvSpPr>
          <p:spPr>
            <a:xfrm>
              <a:off x="177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7" name="Google Shape;177;p20"/>
            <p:cNvSpPr txBox="1"/>
            <p:nvPr/>
          </p:nvSpPr>
          <p:spPr>
            <a:xfrm>
              <a:off x="225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8" name="Google Shape;178;p20"/>
            <p:cNvSpPr txBox="1"/>
            <p:nvPr/>
          </p:nvSpPr>
          <p:spPr>
            <a:xfrm>
              <a:off x="427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9" name="Google Shape;179;p20"/>
            <p:cNvSpPr txBox="1"/>
            <p:nvPr/>
          </p:nvSpPr>
          <p:spPr>
            <a:xfrm>
              <a:off x="393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0" name="Google Shape;180;p20"/>
            <p:cNvSpPr txBox="1"/>
            <p:nvPr/>
          </p:nvSpPr>
          <p:spPr>
            <a:xfrm>
              <a:off x="3600"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1" name="Google Shape;181;p20"/>
            <p:cNvSpPr txBox="1"/>
            <p:nvPr/>
          </p:nvSpPr>
          <p:spPr>
            <a:xfrm>
              <a:off x="2928"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2" name="Google Shape;182;p20"/>
            <p:cNvSpPr txBox="1"/>
            <p:nvPr/>
          </p:nvSpPr>
          <p:spPr>
            <a:xfrm>
              <a:off x="3264"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3" name="Google Shape;183;p20"/>
            <p:cNvSpPr txBox="1"/>
            <p:nvPr/>
          </p:nvSpPr>
          <p:spPr>
            <a:xfrm>
              <a:off x="259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cxnSp>
          <p:nvCxnSpPr>
            <p:cNvPr id="184" name="Google Shape;184;p20"/>
            <p:cNvCxnSpPr/>
            <p:nvPr/>
          </p:nvCxnSpPr>
          <p:spPr>
            <a:xfrm flipH="1" rot="10800000">
              <a:off x="1584" y="2196"/>
              <a:ext cx="300" cy="300"/>
            </a:xfrm>
            <a:prstGeom prst="straightConnector1">
              <a:avLst/>
            </a:prstGeom>
            <a:noFill/>
            <a:ln cap="flat" cmpd="sng" w="19050">
              <a:solidFill>
                <a:srgbClr val="000000"/>
              </a:solidFill>
              <a:prstDash val="solid"/>
              <a:miter lim="800000"/>
              <a:headEnd len="med" w="med" type="none"/>
              <a:tailEnd len="med" w="med" type="triangle"/>
            </a:ln>
          </p:spPr>
        </p:cxnSp>
        <p:cxnSp>
          <p:nvCxnSpPr>
            <p:cNvPr id="185" name="Google Shape;185;p20"/>
            <p:cNvCxnSpPr/>
            <p:nvPr/>
          </p:nvCxnSpPr>
          <p:spPr>
            <a:xfrm rot="10800000">
              <a:off x="3492" y="2100"/>
              <a:ext cx="300" cy="300"/>
            </a:xfrm>
            <a:prstGeom prst="straightConnector1">
              <a:avLst/>
            </a:prstGeom>
            <a:noFill/>
            <a:ln cap="flat" cmpd="sng" w="19050">
              <a:solidFill>
                <a:srgbClr val="000000"/>
              </a:solidFill>
              <a:prstDash val="solid"/>
              <a:miter lim="800000"/>
              <a:headEnd len="med" w="med" type="none"/>
              <a:tailEnd len="med" w="med" type="triangle"/>
            </a:ln>
          </p:spPr>
        </p:cxnSp>
        <p:sp>
          <p:nvSpPr>
            <p:cNvPr id="186" name="Google Shape;186;p20"/>
            <p:cNvSpPr txBox="1"/>
            <p:nvPr/>
          </p:nvSpPr>
          <p:spPr>
            <a:xfrm>
              <a:off x="3398" y="244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a:solidFill>
                    <a:srgbClr val="000000"/>
                  </a:solidFill>
                  <a:latin typeface="Lexend"/>
                  <a:ea typeface="Lexend"/>
                  <a:cs typeface="Lexend"/>
                  <a:sym typeface="Lexend"/>
                </a:rPr>
                <a:t>magnitude</a:t>
              </a:r>
              <a:endParaRPr>
                <a:latin typeface="Lexend"/>
                <a:ea typeface="Lexend"/>
                <a:cs typeface="Lexend"/>
                <a:sym typeface="Lexen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2" name="Google Shape;192;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93" name="Google Shape;19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4" name="Google Shape;194;p21"/>
          <p:cNvSpPr txBox="1"/>
          <p:nvPr/>
        </p:nvSpPr>
        <p:spPr>
          <a:xfrm>
            <a:off x="351900" y="791050"/>
            <a:ext cx="8494200" cy="4926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p:txBody>
      </p:sp>
      <p:grpSp>
        <p:nvGrpSpPr>
          <p:cNvPr id="195" name="Google Shape;195;p21"/>
          <p:cNvGrpSpPr/>
          <p:nvPr/>
        </p:nvGrpSpPr>
        <p:grpSpPr>
          <a:xfrm>
            <a:off x="50480" y="122879"/>
            <a:ext cx="277873" cy="68400"/>
            <a:chOff x="411700" y="2416840"/>
            <a:chExt cx="277873" cy="68400"/>
          </a:xfrm>
        </p:grpSpPr>
        <p:sp>
          <p:nvSpPr>
            <p:cNvPr id="196" name="Google Shape;196;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9" name="Google Shape;199;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Signed magnitude representation</a:t>
            </a:r>
            <a:endParaRPr sz="3600">
              <a:latin typeface="Lexend"/>
              <a:ea typeface="Lexend"/>
              <a:cs typeface="Lexend"/>
              <a:sym typeface="Lexend"/>
            </a:endParaRPr>
          </a:p>
        </p:txBody>
      </p:sp>
      <p:sp>
        <p:nvSpPr>
          <p:cNvPr id="200" name="Google Shape;200;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1" name="Google Shape;201;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02" name="Google Shape;202;p21"/>
          <p:cNvSpPr txBox="1"/>
          <p:nvPr/>
        </p:nvSpPr>
        <p:spPr>
          <a:xfrm>
            <a:off x="669750" y="1646113"/>
            <a:ext cx="7804500" cy="1015800"/>
          </a:xfrm>
          <a:prstGeom prst="rect">
            <a:avLst/>
          </a:prstGeom>
          <a:solidFill>
            <a:srgbClr val="CCFFFF"/>
          </a:solidFill>
          <a:ln cap="flat" cmpd="sng" w="25400">
            <a:solidFill>
              <a:srgbClr val="0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1101</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
        <p:nvSpPr>
          <p:cNvPr id="203" name="Google Shape;203;p21"/>
          <p:cNvSpPr txBox="1"/>
          <p:nvPr/>
        </p:nvSpPr>
        <p:spPr>
          <a:xfrm>
            <a:off x="669750" y="2973200"/>
            <a:ext cx="7804500" cy="1015800"/>
          </a:xfrm>
          <a:prstGeom prst="rect">
            <a:avLst/>
          </a:prstGeom>
          <a:solidFill>
            <a:srgbClr val="FFFF99"/>
          </a:solidFill>
          <a:ln cap="flat" cmpd="sng" w="2540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0100</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0" name="Google Shape;210;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1" name="Google Shape;211;p22"/>
          <p:cNvSpPr txBox="1"/>
          <p:nvPr/>
        </p:nvSpPr>
        <p:spPr>
          <a:xfrm>
            <a:off x="351900" y="791050"/>
            <a:ext cx="8494200" cy="3560700"/>
          </a:xfrm>
          <a:prstGeom prst="rect">
            <a:avLst/>
          </a:prstGeom>
          <a:noFill/>
          <a:ln>
            <a:noFill/>
          </a:ln>
        </p:spPr>
        <p:txBody>
          <a:bodyPr anchorCtr="0" anchor="t" bIns="91425" lIns="91425" spcFirstLastPara="1" rIns="91425" wrap="square" tIns="91425">
            <a:spAutoFit/>
          </a:bodyPr>
          <a:lstStyle/>
          <a:p>
            <a:pPr indent="-281940" lvl="0" marL="3429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Largest Positive Number:    0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Largest Negative Number:  1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Zeroes:                                   0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400">
                <a:solidFill>
                  <a:schemeClr val="dk1"/>
                </a:solidFill>
                <a:latin typeface="Lexend"/>
                <a:ea typeface="Lexend"/>
                <a:cs typeface="Lexend"/>
                <a:sym typeface="Lexend"/>
              </a:rPr>
              <a:t>                                                   1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Range: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rgbClr val="0000FF"/>
              </a:buClr>
              <a:buSzPts val="2400"/>
              <a:buFont typeface="Lexend"/>
              <a:buChar char="▪"/>
            </a:pPr>
            <a:r>
              <a:rPr lang="en" sz="2400">
                <a:solidFill>
                  <a:srgbClr val="0000FF"/>
                </a:solidFill>
                <a:latin typeface="Lexend"/>
                <a:ea typeface="Lexend"/>
                <a:cs typeface="Lexend"/>
                <a:sym typeface="Lexend"/>
              </a:rPr>
              <a:t>Signed numbers</a:t>
            </a:r>
            <a:r>
              <a:rPr lang="en" sz="2400">
                <a:solidFill>
                  <a:schemeClr val="dk1"/>
                </a:solidFill>
                <a:latin typeface="Lexend"/>
                <a:ea typeface="Lexend"/>
                <a:cs typeface="Lexend"/>
                <a:sym typeface="Lexend"/>
              </a:rPr>
              <a:t> needed for negative numbers. </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Representation: Sign-and-magnitude.</a:t>
            </a:r>
            <a:endParaRPr sz="2400">
              <a:solidFill>
                <a:schemeClr val="dk1"/>
              </a:solidFill>
              <a:latin typeface="Lexend"/>
              <a:ea typeface="Lexend"/>
              <a:cs typeface="Lexend"/>
              <a:sym typeface="Lexend"/>
            </a:endParaRPr>
          </a:p>
        </p:txBody>
      </p:sp>
      <p:grpSp>
        <p:nvGrpSpPr>
          <p:cNvPr id="212" name="Google Shape;212;p22"/>
          <p:cNvGrpSpPr/>
          <p:nvPr/>
        </p:nvGrpSpPr>
        <p:grpSpPr>
          <a:xfrm>
            <a:off x="50480" y="122879"/>
            <a:ext cx="277873" cy="68400"/>
            <a:chOff x="411700" y="2416840"/>
            <a:chExt cx="277873" cy="68400"/>
          </a:xfrm>
        </p:grpSpPr>
        <p:sp>
          <p:nvSpPr>
            <p:cNvPr id="213" name="Google Shape;213;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 name="Google Shape;216;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217" name="Google Shape;217;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18" name="Google Shape;218;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4" name="Google Shape;224;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25" name="Google Shape;225;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6" name="Google Shape;226;p23"/>
          <p:cNvSpPr txBox="1"/>
          <p:nvPr/>
        </p:nvSpPr>
        <p:spPr>
          <a:xfrm>
            <a:off x="351900" y="791050"/>
            <a:ext cx="8494200" cy="1293000"/>
          </a:xfrm>
          <a:prstGeom prst="rect">
            <a:avLst/>
          </a:prstGeom>
          <a:noFill/>
          <a:ln>
            <a:noFill/>
          </a:ln>
        </p:spPr>
        <p:txBody>
          <a:bodyPr anchorCtr="0" anchor="t" bIns="91425" lIns="91425" spcFirstLastPara="1" rIns="91425" wrap="square" tIns="91425">
            <a:spAutoFit/>
          </a:bodyPr>
          <a:lstStyle/>
          <a:p>
            <a:pPr indent="-256540" lvl="0" marL="3429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binary number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a:t>
            </a:r>
            <a:r>
              <a:rPr i="1" lang="en" sz="2000">
                <a:solidFill>
                  <a:schemeClr val="dk1"/>
                </a:solidFill>
                <a:latin typeface="Lexend"/>
                <a:ea typeface="Lexend"/>
                <a:cs typeface="Lexend"/>
                <a:sym typeface="Lexend"/>
              </a:rPr>
              <a:t> 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its negative value can be obtained in </a:t>
            </a:r>
            <a:r>
              <a:rPr lang="en" sz="2000">
                <a:solidFill>
                  <a:srgbClr val="0000FF"/>
                </a:solidFill>
                <a:latin typeface="Lexend"/>
                <a:ea typeface="Lexend"/>
                <a:cs typeface="Lexend"/>
                <a:sym typeface="Lexend"/>
              </a:rPr>
              <a:t>1s-complement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p:txBody>
      </p:sp>
      <p:grpSp>
        <p:nvGrpSpPr>
          <p:cNvPr id="227" name="Google Shape;227;p23"/>
          <p:cNvGrpSpPr/>
          <p:nvPr/>
        </p:nvGrpSpPr>
        <p:grpSpPr>
          <a:xfrm>
            <a:off x="50480" y="122879"/>
            <a:ext cx="277873" cy="68400"/>
            <a:chOff x="411700" y="2416840"/>
            <a:chExt cx="277873" cy="68400"/>
          </a:xfrm>
        </p:grpSpPr>
        <p:sp>
          <p:nvSpPr>
            <p:cNvPr id="228" name="Google Shape;228;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1" name="Google Shape;231;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32" name="Google Shape;232;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33" name="Google Shape;233;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234" name="Google Shape;234;p23"/>
          <p:cNvGraphicFramePr/>
          <p:nvPr/>
        </p:nvGraphicFramePr>
        <p:xfrm>
          <a:off x="917875" y="2084050"/>
          <a:ext cx="3000000" cy="3000000"/>
        </p:xfrm>
        <a:graphic>
          <a:graphicData uri="http://schemas.openxmlformats.org/drawingml/2006/table">
            <a:tbl>
              <a:tblPr>
                <a:noFill/>
                <a:tableStyleId>{0C443E4E-38E4-4A39-A7BE-30245F5AF6B8}</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0101</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aphicFrame>
        <p:nvGraphicFramePr>
          <p:cNvPr id="235" name="Google Shape;235;p23"/>
          <p:cNvGraphicFramePr/>
          <p:nvPr/>
        </p:nvGraphicFramePr>
        <p:xfrm>
          <a:off x="5741750" y="2053588"/>
          <a:ext cx="3000000" cy="3000000"/>
        </p:xfrm>
        <a:graphic>
          <a:graphicData uri="http://schemas.openxmlformats.org/drawingml/2006/table">
            <a:tbl>
              <a:tblPr>
                <a:noFill/>
                <a:tableStyleId>{0C443E4E-38E4-4A39-A7BE-30245F5AF6B8}</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300">
                          <a:latin typeface="Roboto Mono"/>
                          <a:ea typeface="Roboto Mono"/>
                          <a:cs typeface="Roboto Mono"/>
                          <a:sym typeface="Roboto Mono"/>
                        </a:rPr>
                        <a:t>Decimal Digit</a:t>
                      </a:r>
                      <a:endParaRPr b="1" sz="15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a:t>
                      </a: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1000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a:t>
                      </a: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1010</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4"/>
          <p:cNvSpPr txBox="1"/>
          <p:nvPr/>
        </p:nvSpPr>
        <p:spPr>
          <a:xfrm>
            <a:off x="351900" y="791050"/>
            <a:ext cx="8494200" cy="2775600"/>
          </a:xfrm>
          <a:prstGeom prst="rect">
            <a:avLst/>
          </a:prstGeom>
          <a:noFill/>
          <a:ln>
            <a:noFill/>
          </a:ln>
        </p:spPr>
        <p:txBody>
          <a:bodyPr anchorCtr="0" anchor="t" bIns="91425" lIns="91425" spcFirstLastPara="1" rIns="91425" wrap="square" tIns="91425">
            <a:spAutoFit/>
          </a:bodyPr>
          <a:lstStyle/>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 </a:t>
            </a:r>
            <a:r>
              <a:rPr lang="en" sz="2600">
                <a:solidFill>
                  <a:schemeClr val="dk1"/>
                </a:solidFill>
                <a:latin typeface="Roboto Mono"/>
                <a:ea typeface="Roboto Mono"/>
                <a:cs typeface="Roboto Mono"/>
                <a:sym typeface="Roboto Mono"/>
              </a:rPr>
              <a:t>0 0 0 0 1 1 0 0</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2</a:t>
            </a:r>
            <a:endParaRPr sz="2600">
              <a:solidFill>
                <a:schemeClr val="dk1"/>
              </a:solidFill>
              <a:latin typeface="Lexend"/>
              <a:ea typeface="Lexend"/>
              <a:cs typeface="Lexend"/>
              <a:sym typeface="Lexend"/>
            </a:endParaRPr>
          </a:p>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a:t>
            </a:r>
            <a:r>
              <a:rPr lang="en" sz="1600">
                <a:solidFill>
                  <a:schemeClr val="dk1"/>
                </a:solidFill>
                <a:latin typeface="Lexend"/>
                <a:ea typeface="Lexend"/>
                <a:cs typeface="Lexend"/>
                <a:sym typeface="Lexend"/>
              </a:rPr>
              <a:t> Inverse</a:t>
            </a:r>
            <a:endParaRPr sz="1600">
              <a:solidFill>
                <a:schemeClr val="dk1"/>
              </a:solidFill>
              <a:latin typeface="Lexend"/>
              <a:ea typeface="Lexend"/>
              <a:cs typeface="Lexend"/>
              <a:sym typeface="Lexend"/>
            </a:endParaRPr>
          </a:p>
          <a:p>
            <a:pPr indent="0" lvl="1" marL="0" rtl="0" algn="l">
              <a:spcBef>
                <a:spcPts val="560"/>
              </a:spcBef>
              <a:spcAft>
                <a:spcPts val="0"/>
              </a:spcAft>
              <a:buNone/>
            </a:pPr>
            <a:r>
              <a:t/>
            </a:r>
            <a:endParaRPr sz="15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a:t>
            </a:r>
            <a:r>
              <a:rPr lang="en" sz="2600">
                <a:solidFill>
                  <a:schemeClr val="dk1"/>
                </a:solidFill>
                <a:latin typeface="Roboto Mono"/>
                <a:ea typeface="Roboto Mono"/>
                <a:cs typeface="Roboto Mono"/>
                <a:sym typeface="Roboto Mono"/>
              </a:rPr>
              <a:t>1 1 1 1 0 0 1 1</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1’s</a:t>
            </a:r>
            <a:endParaRPr baseline="-25000" sz="2600">
              <a:solidFill>
                <a:schemeClr val="dk1"/>
              </a:solidFill>
              <a:latin typeface="Lexend"/>
              <a:ea typeface="Lexend"/>
              <a:cs typeface="Lexend"/>
              <a:sym typeface="Lexend"/>
            </a:endParaRPr>
          </a:p>
        </p:txBody>
      </p:sp>
      <p:pic>
        <p:nvPicPr>
          <p:cNvPr id="242" name="Google Shape;242;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43" name="Google Shape;243;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44" name="Google Shape;244;p24"/>
          <p:cNvGrpSpPr/>
          <p:nvPr/>
        </p:nvGrpSpPr>
        <p:grpSpPr>
          <a:xfrm>
            <a:off x="50480" y="122879"/>
            <a:ext cx="277873" cy="68400"/>
            <a:chOff x="411700" y="2416840"/>
            <a:chExt cx="277873" cy="68400"/>
          </a:xfrm>
        </p:grpSpPr>
        <p:sp>
          <p:nvSpPr>
            <p:cNvPr id="245" name="Google Shape;245;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8" name="Google Shape;248;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49" name="Google Shape;249;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50" name="Google Shape;250;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251" name="Google Shape;251;p24"/>
          <p:cNvCxnSpPr/>
          <p:nvPr/>
        </p:nvCxnSpPr>
        <p:spPr>
          <a:xfrm>
            <a:off x="26304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2" name="Google Shape;252;p24"/>
          <p:cNvCxnSpPr/>
          <p:nvPr/>
        </p:nvCxnSpPr>
        <p:spPr>
          <a:xfrm>
            <a:off x="2986466"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3" name="Google Shape;253;p24"/>
          <p:cNvCxnSpPr/>
          <p:nvPr/>
        </p:nvCxnSpPr>
        <p:spPr>
          <a:xfrm>
            <a:off x="340101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4" name="Google Shape;254;p24"/>
          <p:cNvCxnSpPr/>
          <p:nvPr/>
        </p:nvCxnSpPr>
        <p:spPr>
          <a:xfrm>
            <a:off x="37990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5" name="Google Shape;255;p24"/>
          <p:cNvCxnSpPr/>
          <p:nvPr/>
        </p:nvCxnSpPr>
        <p:spPr>
          <a:xfrm>
            <a:off x="4230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6" name="Google Shape;256;p24"/>
          <p:cNvCxnSpPr/>
          <p:nvPr/>
        </p:nvCxnSpPr>
        <p:spPr>
          <a:xfrm>
            <a:off x="4611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7" name="Google Shape;257;p24"/>
          <p:cNvCxnSpPr/>
          <p:nvPr/>
        </p:nvCxnSpPr>
        <p:spPr>
          <a:xfrm>
            <a:off x="4992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8" name="Google Shape;258;p24"/>
          <p:cNvCxnSpPr/>
          <p:nvPr/>
        </p:nvCxnSpPr>
        <p:spPr>
          <a:xfrm>
            <a:off x="53992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nvSpPr>
        <p:spPr>
          <a:xfrm>
            <a:off x="351900" y="791050"/>
            <a:ext cx="8494200" cy="3331500"/>
          </a:xfrm>
          <a:prstGeom prst="rect">
            <a:avLst/>
          </a:prstGeom>
          <a:noFill/>
          <a:ln>
            <a:noFill/>
          </a:ln>
        </p:spPr>
        <p:txBody>
          <a:bodyPr anchorCtr="0" anchor="t" bIns="91425" lIns="91425" spcFirstLastPara="1" rIns="91425" wrap="square" tIns="91425">
            <a:spAutoFit/>
          </a:bodyPr>
          <a:lstStyle/>
          <a:p>
            <a:pPr indent="-281940" lvl="0" marL="342900" rtl="0" algn="l">
              <a:lnSpc>
                <a:spcPct val="80000"/>
              </a:lnSpc>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Essential technique: </a:t>
            </a:r>
            <a:r>
              <a:rPr lang="en" sz="2400">
                <a:solidFill>
                  <a:srgbClr val="0000FF"/>
                </a:solidFill>
                <a:latin typeface="Lexend"/>
                <a:ea typeface="Lexend"/>
                <a:cs typeface="Lexend"/>
                <a:sym typeface="Lexend"/>
              </a:rPr>
              <a:t>invert</a:t>
            </a:r>
            <a:r>
              <a:rPr lang="en" sz="2400">
                <a:solidFill>
                  <a:schemeClr val="dk1"/>
                </a:solidFill>
                <a:latin typeface="Lexend"/>
                <a:ea typeface="Lexend"/>
                <a:cs typeface="Lexend"/>
                <a:sym typeface="Lexend"/>
              </a:rPr>
              <a:t> all the bits.</a:t>
            </a:r>
            <a:endParaRPr sz="2400">
              <a:solidFill>
                <a:schemeClr val="dk1"/>
              </a:solidFill>
              <a:latin typeface="Lexend"/>
              <a:ea typeface="Lexend"/>
              <a:cs typeface="Lexend"/>
              <a:sym typeface="Lexend"/>
            </a:endParaRPr>
          </a:p>
          <a:p>
            <a:pPr indent="-342900" lvl="0" marL="342900" rtl="0" algn="l">
              <a:lnSpc>
                <a:spcPct val="80000"/>
              </a:lnSpc>
              <a:spcBef>
                <a:spcPts val="500"/>
              </a:spcBef>
              <a:spcAft>
                <a:spcPts val="0"/>
              </a:spcAft>
              <a:buClr>
                <a:schemeClr val="dk1"/>
              </a:buClr>
              <a:buSzPts val="2500"/>
              <a:buFont typeface="Arial"/>
              <a:buNone/>
            </a:pPr>
            <a:r>
              <a:rPr lang="en" sz="2400">
                <a:solidFill>
                  <a:schemeClr val="dk1"/>
                </a:solidFill>
                <a:latin typeface="Lexend"/>
                <a:ea typeface="Lexend"/>
                <a:cs typeface="Lexend"/>
                <a:sym typeface="Lexend"/>
              </a:rPr>
              <a:t>	Examples: 1s complement of   00000001 = (11111110)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Clr>
                <a:schemeClr val="dk1"/>
              </a:buClr>
              <a:buSzPts val="2500"/>
              <a:buFont typeface="Arial"/>
              <a:buNone/>
            </a:pPr>
            <a:r>
              <a:rPr lang="en" sz="2400">
                <a:solidFill>
                  <a:schemeClr val="dk1"/>
                </a:solidFill>
                <a:latin typeface="Lexend"/>
                <a:ea typeface="Lexend"/>
                <a:cs typeface="Lexend"/>
                <a:sym typeface="Lexend"/>
              </a:rPr>
              <a:t>                     1s complement of   01111111</a:t>
            </a:r>
            <a:r>
              <a:rPr baseline="-25000"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 (10000000)</a:t>
            </a:r>
            <a:r>
              <a:rPr baseline="-25000" lang="en" sz="2400">
                <a:solidFill>
                  <a:schemeClr val="dk1"/>
                </a:solidFill>
                <a:latin typeface="Lexend"/>
                <a:ea typeface="Lexend"/>
                <a:cs typeface="Lexend"/>
                <a:sym typeface="Lexend"/>
              </a:rPr>
              <a:t>1s </a:t>
            </a:r>
            <a:endParaRPr sz="2400">
              <a:solidFill>
                <a:schemeClr val="dk1"/>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Range [in 8 bits]: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129540" lvl="0" marL="342900" rtl="0" algn="l">
              <a:lnSpc>
                <a:spcPct val="80000"/>
              </a:lnSpc>
              <a:spcBef>
                <a:spcPts val="1120"/>
              </a:spcBef>
              <a:spcAft>
                <a:spcPts val="0"/>
              </a:spcAft>
              <a:buClr>
                <a:schemeClr val="dk1"/>
              </a:buClr>
              <a:buSzPts val="3360"/>
              <a:buFont typeface="Noto Sans Symbols"/>
              <a:buNone/>
            </a:pPr>
            <a:r>
              <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rgbClr val="FF0000"/>
              </a:buClr>
              <a:buSzPts val="2400"/>
              <a:buFont typeface="Lexend"/>
              <a:buChar char="▪"/>
            </a:pPr>
            <a:r>
              <a:rPr lang="en" sz="2400">
                <a:solidFill>
                  <a:srgbClr val="FF0000"/>
                </a:solidFill>
                <a:latin typeface="Lexend"/>
                <a:ea typeface="Lexend"/>
                <a:cs typeface="Lexend"/>
                <a:sym typeface="Lexend"/>
              </a:rPr>
              <a:t>General Formula=-(2</a:t>
            </a:r>
            <a:r>
              <a:rPr baseline="30000" lang="en" sz="2400">
                <a:solidFill>
                  <a:srgbClr val="FF0000"/>
                </a:solidFill>
                <a:latin typeface="Lexend"/>
                <a:ea typeface="Lexend"/>
                <a:cs typeface="Lexend"/>
                <a:sym typeface="Lexend"/>
              </a:rPr>
              <a:t>n-1</a:t>
            </a:r>
            <a:r>
              <a:rPr lang="en" sz="2400">
                <a:solidFill>
                  <a:srgbClr val="FF0000"/>
                </a:solidFill>
                <a:latin typeface="Lexend"/>
                <a:ea typeface="Lexend"/>
                <a:cs typeface="Lexend"/>
                <a:sym typeface="Lexend"/>
              </a:rPr>
              <a:t> -1)  to  + (2</a:t>
            </a:r>
            <a:r>
              <a:rPr baseline="30000" lang="en" sz="2400">
                <a:solidFill>
                  <a:srgbClr val="FF0000"/>
                </a:solidFill>
                <a:latin typeface="Lexend"/>
                <a:ea typeface="Lexend"/>
                <a:cs typeface="Lexend"/>
                <a:sym typeface="Lexend"/>
              </a:rPr>
              <a:t>n-1 </a:t>
            </a:r>
            <a:r>
              <a:rPr lang="en" sz="2400">
                <a:solidFill>
                  <a:srgbClr val="FF0000"/>
                </a:solidFill>
                <a:latin typeface="Lexend"/>
                <a:ea typeface="Lexend"/>
                <a:cs typeface="Lexend"/>
                <a:sym typeface="Lexend"/>
              </a:rPr>
              <a:t>-1)</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 most significant bit still represents the sign:</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rPr lang="en" sz="2400">
                <a:solidFill>
                  <a:schemeClr val="dk1"/>
                </a:solidFill>
                <a:latin typeface="Lexend"/>
                <a:ea typeface="Lexend"/>
                <a:cs typeface="Lexend"/>
                <a:sym typeface="Lexend"/>
              </a:rPr>
              <a:t>	                 0 = +ve; 1 = -ve.</a:t>
            </a:r>
            <a:endParaRPr sz="2400">
              <a:solidFill>
                <a:schemeClr val="dk1"/>
              </a:solidFill>
              <a:latin typeface="Lexend"/>
              <a:ea typeface="Lexend"/>
              <a:cs typeface="Lexend"/>
              <a:sym typeface="Lexend"/>
            </a:endParaRPr>
          </a:p>
        </p:txBody>
      </p:sp>
      <p:pic>
        <p:nvPicPr>
          <p:cNvPr id="265" name="Google Shape;265;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6" name="Google Shape;266;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67" name="Google Shape;267;p25"/>
          <p:cNvGrpSpPr/>
          <p:nvPr/>
        </p:nvGrpSpPr>
        <p:grpSpPr>
          <a:xfrm>
            <a:off x="50480" y="122879"/>
            <a:ext cx="277873" cy="68400"/>
            <a:chOff x="411700" y="2416840"/>
            <a:chExt cx="277873" cy="68400"/>
          </a:xfrm>
        </p:grpSpPr>
        <p:sp>
          <p:nvSpPr>
            <p:cNvPr id="268" name="Google Shape;268;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1" name="Google Shape;271;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72" name="Google Shape;272;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3" name="Google Shape;273;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74" name="Google Shape;274;p25"/>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a:t>
            </a:r>
            <a:endParaRPr sz="22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0" name="Google Shape;280;p26"/>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281" name="Google Shape;281;p26"/>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282" name="Google Shape;282;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3" name="Google Shape;283;p26"/>
          <p:cNvSpPr txBox="1"/>
          <p:nvPr/>
        </p:nvSpPr>
        <p:spPr>
          <a:xfrm>
            <a:off x="351900" y="791050"/>
            <a:ext cx="849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0" lvl="0" marL="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(11110001)</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0" lvl="0" marL="0" rtl="0" algn="l">
              <a:spcBef>
                <a:spcPts val="640"/>
              </a:spcBef>
              <a:spcAft>
                <a:spcPts val="0"/>
              </a:spcAft>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Light"/>
              <a:ea typeface="Lexend Light"/>
              <a:cs typeface="Lexend Light"/>
              <a:sym typeface="Lexend Light"/>
            </a:endParaRPr>
          </a:p>
        </p:txBody>
      </p:sp>
      <p:grpSp>
        <p:nvGrpSpPr>
          <p:cNvPr id="284" name="Google Shape;284;p26"/>
          <p:cNvGrpSpPr/>
          <p:nvPr/>
        </p:nvGrpSpPr>
        <p:grpSpPr>
          <a:xfrm>
            <a:off x="50480" y="122879"/>
            <a:ext cx="277873" cy="68400"/>
            <a:chOff x="411700" y="2416840"/>
            <a:chExt cx="277873" cy="68400"/>
          </a:xfrm>
        </p:grpSpPr>
        <p:sp>
          <p:nvSpPr>
            <p:cNvPr id="285" name="Google Shape;285;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8" name="Google Shape;288;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89" name="Google Shape;289;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90" name="Google Shape;290;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7"/>
          <p:cNvSpPr txBox="1"/>
          <p:nvPr/>
        </p:nvSpPr>
        <p:spPr>
          <a:xfrm>
            <a:off x="351900" y="791050"/>
            <a:ext cx="8494200" cy="4079100"/>
          </a:xfrm>
          <a:prstGeom prst="rect">
            <a:avLst/>
          </a:prstGeom>
          <a:noFill/>
          <a:ln>
            <a:noFill/>
          </a:ln>
        </p:spPr>
        <p:txBody>
          <a:bodyPr anchorCtr="0" anchor="t" bIns="91425" lIns="91425" spcFirstLastPara="1" rIns="91425" wrap="square" tIns="91425">
            <a:spAutoFit/>
          </a:bodyPr>
          <a:lstStyle/>
          <a:p>
            <a:pPr indent="-25654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 </a:t>
            </a:r>
            <a:r>
              <a:rPr i="1" lang="en" sz="2000">
                <a:solidFill>
                  <a:schemeClr val="dk1"/>
                </a:solidFill>
                <a:latin typeface="Lexend"/>
                <a:ea typeface="Lexend"/>
                <a:cs typeface="Lexend"/>
                <a:sym typeface="Lexend"/>
              </a:rPr>
              <a:t>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number, its negative number can be obtained in </a:t>
            </a:r>
            <a:r>
              <a:rPr lang="en" sz="2000">
                <a:solidFill>
                  <a:srgbClr val="0000FF"/>
                </a:solidFill>
                <a:latin typeface="Lexend"/>
                <a:ea typeface="Lexend"/>
                <a:cs typeface="Lexend"/>
                <a:sym typeface="Lexend"/>
              </a:rPr>
              <a:t>2s-complement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b="1" lang="en" sz="2000">
                <a:solidFill>
                  <a:schemeClr val="dk1"/>
                </a:solidFill>
                <a:latin typeface="Lexend"/>
                <a:ea typeface="Lexend"/>
                <a:cs typeface="Lexend"/>
                <a:sym typeface="Lexend"/>
              </a:rPr>
              <a:t>	            	</a:t>
            </a:r>
            <a:r>
              <a:rPr b="1" lang="en" sz="2000">
                <a:solidFill>
                  <a:srgbClr val="CC0000"/>
                </a:solidFill>
                <a:latin typeface="Lexend"/>
                <a:ea typeface="Lexend"/>
                <a:cs typeface="Lexend"/>
                <a:sym typeface="Lexend"/>
              </a:rPr>
              <a:t>- </a:t>
            </a:r>
            <a:r>
              <a:rPr b="1" i="1" lang="en" sz="2000">
                <a:solidFill>
                  <a:srgbClr val="CC0000"/>
                </a:solidFill>
                <a:latin typeface="Lexend"/>
                <a:ea typeface="Lexend"/>
                <a:cs typeface="Lexend"/>
                <a:sym typeface="Lexend"/>
              </a:rPr>
              <a:t>x</a:t>
            </a:r>
            <a:r>
              <a:rPr b="1" lang="en" sz="2000">
                <a:solidFill>
                  <a:srgbClr val="CC0000"/>
                </a:solidFill>
                <a:latin typeface="Lexend"/>
                <a:ea typeface="Lexend"/>
                <a:cs typeface="Lexend"/>
                <a:sym typeface="Lexend"/>
              </a:rPr>
              <a:t> = 2</a:t>
            </a:r>
            <a:r>
              <a:rPr b="1" baseline="30000" i="1" lang="en" sz="2000">
                <a:solidFill>
                  <a:srgbClr val="CC0000"/>
                </a:solidFill>
                <a:latin typeface="Lexend"/>
                <a:ea typeface="Lexend"/>
                <a:cs typeface="Lexend"/>
                <a:sym typeface="Lexend"/>
              </a:rPr>
              <a:t>n</a:t>
            </a:r>
            <a:r>
              <a:rPr b="1" lang="en" sz="2000">
                <a:solidFill>
                  <a:srgbClr val="CC0000"/>
                </a:solidFill>
                <a:latin typeface="Lexend"/>
                <a:ea typeface="Lexend"/>
                <a:cs typeface="Lexend"/>
                <a:sym typeface="Lexend"/>
              </a:rPr>
              <a:t> - </a:t>
            </a:r>
            <a:r>
              <a:rPr b="1" i="1" lang="en" sz="2000">
                <a:solidFill>
                  <a:srgbClr val="CC0000"/>
                </a:solidFill>
                <a:latin typeface="Lexend"/>
                <a:ea typeface="Lexend"/>
                <a:cs typeface="Lexend"/>
                <a:sym typeface="Lexend"/>
              </a:rPr>
              <a:t>x</a:t>
            </a:r>
            <a:r>
              <a:rPr lang="en" sz="2000">
                <a:solidFill>
                  <a:srgbClr val="CC3399"/>
                </a:solidFill>
                <a:latin typeface="Lexend"/>
                <a:ea typeface="Lexend"/>
                <a:cs typeface="Lexend"/>
                <a:sym typeface="Lexend"/>
              </a:rPr>
              <a:t> </a:t>
            </a:r>
            <a:endParaRPr sz="2000">
              <a:solidFill>
                <a:schemeClr val="dk1"/>
              </a:solidFill>
              <a:latin typeface="Lexend"/>
              <a:ea typeface="Lexend"/>
              <a:cs typeface="Lexend"/>
              <a:sym typeface="Lexend"/>
            </a:endParaRPr>
          </a:p>
          <a:p>
            <a:pPr indent="-342900" lvl="0" marL="342900" rtl="0" algn="l">
              <a:spcBef>
                <a:spcPts val="1400"/>
              </a:spcBef>
              <a:spcAft>
                <a:spcPts val="0"/>
              </a:spcAft>
              <a:buClr>
                <a:schemeClr val="dk1"/>
              </a:buClr>
              <a:buSzPts val="2800"/>
              <a:buFont typeface="Arial"/>
              <a:buNone/>
            </a:pPr>
            <a:r>
              <a:rPr lang="en" sz="2000">
                <a:solidFill>
                  <a:schemeClr val="dk1"/>
                </a:solidFill>
                <a:latin typeface="Lexend"/>
                <a:ea typeface="Lexend"/>
                <a:cs typeface="Lexend"/>
                <a:sym typeface="Lexend"/>
              </a:rPr>
              <a:t>	Example: With an 8-bit number 00001100, its negative value in 2s complement is thus:</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-(00001100)</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a:t>
            </a:r>
            <a:r>
              <a:rPr baseline="30000" lang="en" sz="2000">
                <a:solidFill>
                  <a:schemeClr val="dk1"/>
                </a:solidFill>
                <a:latin typeface="Lexend"/>
                <a:ea typeface="Lexend"/>
                <a:cs typeface="Lexend"/>
                <a:sym typeface="Lexend"/>
              </a:rPr>
              <a:t>8</a:t>
            </a: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(244)</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None/>
            </a:pPr>
            <a:r>
              <a:rPr lang="en" sz="2000">
                <a:solidFill>
                  <a:schemeClr val="dk1"/>
                </a:solidFill>
                <a:latin typeface="Lexend"/>
                <a:ea typeface="Lexend"/>
                <a:cs typeface="Lexend"/>
                <a:sym typeface="Lexend"/>
              </a:rPr>
              <a:t>		                             = </a:t>
            </a:r>
            <a:r>
              <a:rPr b="1" lang="en" sz="2000">
                <a:solidFill>
                  <a:schemeClr val="dk1"/>
                </a:solidFill>
                <a:latin typeface="Lexend"/>
                <a:ea typeface="Lexend"/>
                <a:cs typeface="Lexend"/>
                <a:sym typeface="Lexend"/>
              </a:rPr>
              <a:t>(11110100)</a:t>
            </a:r>
            <a:r>
              <a:rPr b="1" baseline="-25000" lang="en" sz="2000">
                <a:solidFill>
                  <a:schemeClr val="dk1"/>
                </a:solidFill>
                <a:latin typeface="Lexend"/>
                <a:ea typeface="Lexend"/>
                <a:cs typeface="Lexend"/>
                <a:sym typeface="Lexend"/>
              </a:rPr>
              <a:t>2s</a:t>
            </a:r>
            <a:endParaRPr sz="2000">
              <a:solidFill>
                <a:schemeClr val="dk1"/>
              </a:solidFill>
              <a:latin typeface="Lexend"/>
              <a:ea typeface="Lexend"/>
              <a:cs typeface="Lexend"/>
              <a:sym typeface="Lexend"/>
            </a:endParaRPr>
          </a:p>
        </p:txBody>
      </p:sp>
      <p:pic>
        <p:nvPicPr>
          <p:cNvPr id="297" name="Google Shape;29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8" name="Google Shape;29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99" name="Google Shape;299;p27"/>
          <p:cNvGrpSpPr/>
          <p:nvPr/>
        </p:nvGrpSpPr>
        <p:grpSpPr>
          <a:xfrm>
            <a:off x="50480" y="122879"/>
            <a:ext cx="277873" cy="68400"/>
            <a:chOff x="411700" y="2416840"/>
            <a:chExt cx="277873" cy="68400"/>
          </a:xfrm>
        </p:grpSpPr>
        <p:sp>
          <p:nvSpPr>
            <p:cNvPr id="300" name="Google Shape;300;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3" name="Google Shape;303;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a:t>
            </a:r>
            <a:endParaRPr sz="3600">
              <a:latin typeface="Lexend"/>
              <a:ea typeface="Lexend"/>
              <a:cs typeface="Lexend"/>
              <a:sym typeface="Lexend"/>
            </a:endParaRPr>
          </a:p>
        </p:txBody>
      </p:sp>
      <p:sp>
        <p:nvSpPr>
          <p:cNvPr id="304" name="Google Shape;304;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5" name="Google Shape;305;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1" name="Google Shape;311;p28"/>
          <p:cNvPicPr preferRelativeResize="0"/>
          <p:nvPr/>
        </p:nvPicPr>
        <p:blipFill rotWithShape="1">
          <a:blip r:embed="rId3">
            <a:alphaModFix/>
          </a:blip>
          <a:srcRect b="10185" l="0" r="0" t="0"/>
          <a:stretch/>
        </p:blipFill>
        <p:spPr>
          <a:xfrm>
            <a:off x="0" y="81077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12" name="Google Shape;312;p28"/>
          <p:cNvPicPr preferRelativeResize="0"/>
          <p:nvPr/>
        </p:nvPicPr>
        <p:blipFill rotWithShape="1">
          <a:blip r:embed="rId3">
            <a:alphaModFix/>
          </a:blip>
          <a:srcRect b="10185" l="0" r="0" t="0"/>
          <a:stretch/>
        </p:blipFill>
        <p:spPr>
          <a:xfrm>
            <a:off x="0" y="365862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313" name="Google Shape;313;p28"/>
          <p:cNvSpPr txBox="1"/>
          <p:nvPr/>
        </p:nvSpPr>
        <p:spPr>
          <a:xfrm>
            <a:off x="351900" y="791050"/>
            <a:ext cx="8494200" cy="3945600"/>
          </a:xfrm>
          <a:prstGeom prst="rect">
            <a:avLst/>
          </a:prstGeom>
          <a:noFill/>
          <a:ln>
            <a:noFill/>
          </a:ln>
        </p:spPr>
        <p:txBody>
          <a:bodyPr anchorCtr="0" anchor="t" bIns="91425" lIns="91425" spcFirstLastPara="1" rIns="91425" wrap="square" tIns="91425">
            <a:spAutoFit/>
          </a:bodyPr>
          <a:lstStyle/>
          <a:p>
            <a:pPr indent="-287020" lvl="0" marL="342900" rtl="0" algn="l">
              <a:lnSpc>
                <a:spcPct val="90000"/>
              </a:lnSpc>
              <a:spcBef>
                <a:spcPts val="0"/>
              </a:spcBef>
              <a:spcAft>
                <a:spcPts val="0"/>
              </a:spcAft>
              <a:buClr>
                <a:schemeClr val="dk1"/>
              </a:buClr>
              <a:buSzPts val="2000"/>
              <a:buChar char="•"/>
            </a:pPr>
            <a:r>
              <a:rPr b="1" lang="en" sz="2000">
                <a:solidFill>
                  <a:schemeClr val="dk1"/>
                </a:solidFill>
                <a:latin typeface="Lexend"/>
                <a:ea typeface="Lexend"/>
                <a:cs typeface="Lexend"/>
                <a:sym typeface="Lexend"/>
              </a:rPr>
              <a:t>Method 1:</a:t>
            </a:r>
            <a:r>
              <a:rPr lang="en" sz="2000">
                <a:solidFill>
                  <a:schemeClr val="dk1"/>
                </a:solidFill>
                <a:latin typeface="Lexend"/>
                <a:ea typeface="Lexend"/>
                <a:cs typeface="Lexend"/>
                <a:sym typeface="Lexend"/>
              </a:rPr>
              <a:t> Essential technique: </a:t>
            </a:r>
            <a:r>
              <a:rPr lang="en" sz="2000">
                <a:solidFill>
                  <a:srgbClr val="0000FF"/>
                </a:solidFill>
                <a:latin typeface="Lexend"/>
                <a:ea typeface="Lexend"/>
                <a:cs typeface="Lexend"/>
                <a:sym typeface="Lexend"/>
              </a:rPr>
              <a:t>invert</a:t>
            </a:r>
            <a:r>
              <a:rPr lang="en" sz="2000">
                <a:solidFill>
                  <a:schemeClr val="dk1"/>
                </a:solidFill>
                <a:latin typeface="Lexend"/>
                <a:ea typeface="Lexend"/>
                <a:cs typeface="Lexend"/>
                <a:sym typeface="Lexend"/>
              </a:rPr>
              <a:t> all the bits and </a:t>
            </a:r>
            <a:r>
              <a:rPr lang="en" sz="2000">
                <a:solidFill>
                  <a:srgbClr val="0000FF"/>
                </a:solidFill>
                <a:latin typeface="Lexend"/>
                <a:ea typeface="Lexend"/>
                <a:cs typeface="Lexend"/>
                <a:sym typeface="Lexend"/>
              </a:rPr>
              <a:t>add 1</a:t>
            </a:r>
            <a:r>
              <a:rPr lang="en" sz="2000">
                <a:solidFill>
                  <a:schemeClr val="dk1"/>
                </a:solidFill>
                <a:latin typeface="Lexend"/>
                <a:ea typeface="Lexend"/>
                <a:cs typeface="Lexend"/>
                <a:sym typeface="Lexend"/>
              </a:rPr>
              <a:t>.</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Examples:</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(00000001)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(11111110)</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(11111111)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endParaRPr sz="2000">
              <a:solidFill>
                <a:schemeClr val="dk1"/>
              </a:solidFill>
              <a:latin typeface="Lexend"/>
              <a:ea typeface="Lexend"/>
              <a:cs typeface="Lexend"/>
              <a:sym typeface="Lexend"/>
            </a:endParaRPr>
          </a:p>
          <a:p>
            <a:pPr indent="-342900" lvl="0" marL="342900" rtl="0" algn="l">
              <a:lnSpc>
                <a:spcPct val="90000"/>
              </a:lnSpc>
              <a:spcBef>
                <a:spcPts val="1000"/>
              </a:spcBef>
              <a:spcAft>
                <a:spcPts val="0"/>
              </a:spcAft>
              <a:buClr>
                <a:schemeClr val="dk1"/>
              </a:buClr>
              <a:buSzPts val="2000"/>
              <a:buFont typeface="Arial"/>
              <a:buNone/>
            </a:pP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(10000001)</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br>
              <a:rPr lang="en" sz="2000">
                <a:solidFill>
                  <a:schemeClr val="dk1"/>
                </a:solidFill>
                <a:latin typeface="Lexend"/>
                <a:ea typeface="Lexend"/>
                <a:cs typeface="Lexend"/>
                <a:sym typeface="Lexend"/>
              </a:rPr>
            </a:b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Char char="•"/>
            </a:pPr>
            <a:r>
              <a:rPr b="1" lang="en" sz="2000">
                <a:solidFill>
                  <a:schemeClr val="dk1"/>
                </a:solidFill>
                <a:latin typeface="Lexend"/>
                <a:ea typeface="Lexend"/>
                <a:cs typeface="Lexend"/>
                <a:sym typeface="Lexend"/>
              </a:rPr>
              <a:t>Method 2: </a:t>
            </a:r>
            <a:r>
              <a:rPr lang="en" sz="2000">
                <a:solidFill>
                  <a:schemeClr val="dk1"/>
                </a:solidFill>
                <a:latin typeface="Lexend"/>
                <a:ea typeface="Lexend"/>
                <a:cs typeface="Lexend"/>
                <a:sym typeface="Lexend"/>
              </a:rPr>
              <a:t>Keep unchanged till 1</a:t>
            </a:r>
            <a:r>
              <a:rPr baseline="30000" lang="en" sz="2000">
                <a:solidFill>
                  <a:schemeClr val="dk1"/>
                </a:solidFill>
                <a:latin typeface="Lexend"/>
                <a:ea typeface="Lexend"/>
                <a:cs typeface="Lexend"/>
                <a:sym typeface="Lexend"/>
              </a:rPr>
              <a:t>st</a:t>
            </a:r>
            <a:r>
              <a:rPr lang="en" sz="2000">
                <a:solidFill>
                  <a:schemeClr val="dk1"/>
                </a:solidFill>
                <a:latin typeface="Lexend"/>
                <a:ea typeface="Lexend"/>
                <a:cs typeface="Lexend"/>
                <a:sym typeface="Lexend"/>
              </a:rPr>
              <a:t> occurrence of 1 from LSB and invert remaining 1’s into 0’s and 0’s into 1’s till MSB</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314" name="Google Shape;314;p28"/>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15" name="Google Shape;315;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16" name="Google Shape;316;p28"/>
          <p:cNvGrpSpPr/>
          <p:nvPr/>
        </p:nvGrpSpPr>
        <p:grpSpPr>
          <a:xfrm>
            <a:off x="50480" y="122879"/>
            <a:ext cx="277873" cy="68400"/>
            <a:chOff x="411700" y="2416840"/>
            <a:chExt cx="277873" cy="68400"/>
          </a:xfrm>
        </p:grpSpPr>
        <p:sp>
          <p:nvSpPr>
            <p:cNvPr id="317" name="Google Shape;31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0" name="Google Shape;32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 [cont.]</a:t>
            </a:r>
            <a:endParaRPr sz="3600">
              <a:latin typeface="Lexend"/>
              <a:ea typeface="Lexend"/>
              <a:cs typeface="Lexend"/>
              <a:sym typeface="Lexend"/>
            </a:endParaRPr>
          </a:p>
        </p:txBody>
      </p:sp>
      <p:sp>
        <p:nvSpPr>
          <p:cNvPr id="321" name="Google Shape;32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22" name="Google Shape;32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23" name="Google Shape;323;p28"/>
          <p:cNvSpPr/>
          <p:nvPr/>
        </p:nvSpPr>
        <p:spPr>
          <a:xfrm flipH="1">
            <a:off x="7825674" y="1204375"/>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119BFE"/>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Official Method</a:t>
            </a:r>
            <a:endParaRPr sz="1600">
              <a:solidFill>
                <a:schemeClr val="lt1"/>
              </a:solidFill>
              <a:latin typeface="Lexend"/>
              <a:ea typeface="Lexend"/>
              <a:cs typeface="Lexend"/>
              <a:sym typeface="Lexend"/>
            </a:endParaRPr>
          </a:p>
        </p:txBody>
      </p:sp>
      <p:sp>
        <p:nvSpPr>
          <p:cNvPr id="324" name="Google Shape;324;p28"/>
          <p:cNvSpPr/>
          <p:nvPr/>
        </p:nvSpPr>
        <p:spPr>
          <a:xfrm flipH="1">
            <a:off x="7825674" y="2977450"/>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FF6B4D"/>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Uno</a:t>
            </a:r>
            <a:r>
              <a:rPr lang="en" sz="1600">
                <a:solidFill>
                  <a:schemeClr val="lt1"/>
                </a:solidFill>
                <a:latin typeface="Lexend"/>
                <a:ea typeface="Lexend"/>
                <a:cs typeface="Lexend"/>
                <a:sym typeface="Lexend"/>
              </a:rPr>
              <a:t>fficial Method</a:t>
            </a:r>
            <a:endParaRPr sz="1600">
              <a:solidFill>
                <a:schemeClr val="lt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9"/>
          <p:cNvSpPr txBox="1"/>
          <p:nvPr/>
        </p:nvSpPr>
        <p:spPr>
          <a:xfrm>
            <a:off x="351900" y="791050"/>
            <a:ext cx="8494200" cy="315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Lexend"/>
                <a:ea typeface="Lexend"/>
                <a:cs typeface="Lexend"/>
                <a:sym typeface="Lexend"/>
              </a:rPr>
              <a:t>Range in 8 bits: -(128)</a:t>
            </a:r>
            <a:r>
              <a:rPr baseline="-25000" lang="en" sz="2200">
                <a:solidFill>
                  <a:schemeClr val="dk1"/>
                </a:solidFill>
                <a:latin typeface="Lexend"/>
                <a:ea typeface="Lexend"/>
                <a:cs typeface="Lexend"/>
                <a:sym typeface="Lexend"/>
              </a:rPr>
              <a:t>10</a:t>
            </a:r>
            <a:r>
              <a:rPr lang="en" sz="2200">
                <a:solidFill>
                  <a:schemeClr val="dk1"/>
                </a:solidFill>
                <a:latin typeface="Lexend"/>
                <a:ea typeface="Lexend"/>
                <a:cs typeface="Lexend"/>
                <a:sym typeface="Lexend"/>
              </a:rPr>
              <a:t>to +(127)</a:t>
            </a:r>
            <a:r>
              <a:rPr baseline="-25000" lang="en" sz="2200">
                <a:solidFill>
                  <a:schemeClr val="dk1"/>
                </a:solidFill>
                <a:latin typeface="Lexend"/>
                <a:ea typeface="Lexend"/>
                <a:cs typeface="Lexend"/>
                <a:sym typeface="Lexend"/>
              </a:rPr>
              <a:t>10</a:t>
            </a:r>
            <a:endParaRPr sz="2200">
              <a:solidFill>
                <a:schemeClr val="dk1"/>
              </a:solidFill>
              <a:latin typeface="Lexend"/>
              <a:ea typeface="Lexend"/>
              <a:cs typeface="Lexend"/>
              <a:sym typeface="Lexend"/>
            </a:endParaRPr>
          </a:p>
          <a:p>
            <a:pPr indent="-129540" lvl="0" marL="342900" rtl="0" algn="l">
              <a:spcBef>
                <a:spcPts val="1120"/>
              </a:spcBef>
              <a:spcAft>
                <a:spcPts val="0"/>
              </a:spcAft>
              <a:buClr>
                <a:schemeClr val="dk1"/>
              </a:buClr>
              <a:buSzPts val="3360"/>
              <a:buFont typeface="Noto Sans Symbols"/>
              <a:buNone/>
            </a:pPr>
            <a:r>
              <a:t/>
            </a:r>
            <a:endParaRPr baseline="-25000" sz="2200">
              <a:solidFill>
                <a:schemeClr val="dk1"/>
              </a:solidFill>
              <a:latin typeface="Lexend"/>
              <a:ea typeface="Lexend"/>
              <a:cs typeface="Lexend"/>
              <a:sym typeface="Lexend"/>
            </a:endParaRPr>
          </a:p>
          <a:p>
            <a:pPr indent="0" lvl="0" marL="0" rtl="0" algn="l">
              <a:spcBef>
                <a:spcPts val="1120"/>
              </a:spcBef>
              <a:spcAft>
                <a:spcPts val="0"/>
              </a:spcAft>
              <a:buNone/>
            </a:pPr>
            <a:r>
              <a:rPr lang="en" sz="2200">
                <a:solidFill>
                  <a:srgbClr val="FF0000"/>
                </a:solidFill>
                <a:latin typeface="Lexend"/>
                <a:ea typeface="Lexend"/>
                <a:cs typeface="Lexend"/>
                <a:sym typeface="Lexend"/>
              </a:rPr>
              <a:t>General Formula= -(2</a:t>
            </a:r>
            <a:r>
              <a:rPr baseline="30000" lang="en" sz="2200">
                <a:solidFill>
                  <a:srgbClr val="FF0000"/>
                </a:solidFill>
                <a:latin typeface="Lexend"/>
                <a:ea typeface="Lexend"/>
                <a:cs typeface="Lexend"/>
                <a:sym typeface="Lexend"/>
              </a:rPr>
              <a:t>n-1</a:t>
            </a:r>
            <a:r>
              <a:rPr lang="en" sz="2200">
                <a:solidFill>
                  <a:srgbClr val="FF0000"/>
                </a:solidFill>
                <a:latin typeface="Lexend"/>
                <a:ea typeface="Lexend"/>
                <a:cs typeface="Lexend"/>
                <a:sym typeface="Lexend"/>
              </a:rPr>
              <a:t>)  to  + (2</a:t>
            </a:r>
            <a:r>
              <a:rPr baseline="30000" lang="en" sz="2200">
                <a:solidFill>
                  <a:srgbClr val="FF0000"/>
                </a:solidFill>
                <a:latin typeface="Lexend"/>
                <a:ea typeface="Lexend"/>
                <a:cs typeface="Lexend"/>
                <a:sym typeface="Lexend"/>
              </a:rPr>
              <a:t>n-1 </a:t>
            </a:r>
            <a:r>
              <a:rPr lang="en" sz="2200">
                <a:solidFill>
                  <a:srgbClr val="FF0000"/>
                </a:solidFill>
                <a:latin typeface="Lexend"/>
                <a:ea typeface="Lexend"/>
                <a:cs typeface="Lexend"/>
                <a:sym typeface="Lexend"/>
              </a:rPr>
              <a:t>-1)</a:t>
            </a:r>
            <a:endParaRPr sz="2200">
              <a:solidFill>
                <a:srgbClr val="FF0000"/>
              </a:solidFill>
              <a:latin typeface="Lexend"/>
              <a:ea typeface="Lexend"/>
              <a:cs typeface="Lexend"/>
              <a:sym typeface="Lexend"/>
            </a:endParaRPr>
          </a:p>
          <a:p>
            <a:pPr indent="0" lvl="0" marL="0" rtl="0" algn="l">
              <a:spcBef>
                <a:spcPts val="1120"/>
              </a:spcBef>
              <a:spcAft>
                <a:spcPts val="0"/>
              </a:spcAft>
              <a:buNone/>
            </a:pPr>
            <a:r>
              <a:rPr lang="en" sz="2200">
                <a:solidFill>
                  <a:schemeClr val="dk1"/>
                </a:solidFill>
                <a:latin typeface="Lexend"/>
                <a:ea typeface="Lexend"/>
                <a:cs typeface="Lexend"/>
                <a:sym typeface="Lexend"/>
              </a:rPr>
              <a:t>The most significant bit still represents the sign:</a:t>
            </a:r>
            <a:endParaRPr sz="22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200">
                <a:solidFill>
                  <a:schemeClr val="dk1"/>
                </a:solidFill>
                <a:latin typeface="Lexend"/>
                <a:ea typeface="Lexend"/>
                <a:cs typeface="Lexend"/>
                <a:sym typeface="Lexend"/>
              </a:rPr>
              <a:t>		            0 = +ve; 1 = -ve.</a:t>
            </a:r>
            <a:endParaRPr sz="2200">
              <a:solidFill>
                <a:schemeClr val="dk1"/>
              </a:solidFill>
              <a:latin typeface="Lexend"/>
              <a:ea typeface="Lexend"/>
              <a:cs typeface="Lexend"/>
              <a:sym typeface="Lexend"/>
            </a:endParaRPr>
          </a:p>
          <a:p>
            <a:pPr indent="-107950" lvl="0" marL="342900" rtl="0" algn="l">
              <a:spcBef>
                <a:spcPts val="740"/>
              </a:spcBef>
              <a:spcAft>
                <a:spcPts val="0"/>
              </a:spcAft>
              <a:buClr>
                <a:schemeClr val="dk1"/>
              </a:buClr>
              <a:buSzPts val="3700"/>
              <a:buFont typeface="Arial"/>
              <a:buNone/>
            </a:pPr>
            <a:r>
              <a:t/>
            </a:r>
            <a:endParaRPr sz="22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t/>
            </a:r>
            <a:endParaRPr sz="2200">
              <a:solidFill>
                <a:schemeClr val="dk1"/>
              </a:solidFill>
              <a:latin typeface="Lexend"/>
              <a:ea typeface="Lexend"/>
              <a:cs typeface="Lexend"/>
              <a:sym typeface="Lexend"/>
            </a:endParaRPr>
          </a:p>
        </p:txBody>
      </p:sp>
      <p:pic>
        <p:nvPicPr>
          <p:cNvPr id="331" name="Google Shape;331;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32" name="Google Shape;332;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33" name="Google Shape;333;p29"/>
          <p:cNvGrpSpPr/>
          <p:nvPr/>
        </p:nvGrpSpPr>
        <p:grpSpPr>
          <a:xfrm>
            <a:off x="50480" y="122879"/>
            <a:ext cx="277873" cy="68400"/>
            <a:chOff x="411700" y="2416840"/>
            <a:chExt cx="277873" cy="68400"/>
          </a:xfrm>
        </p:grpSpPr>
        <p:sp>
          <p:nvSpPr>
            <p:cNvPr id="334" name="Google Shape;334;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7" name="Google Shape;337;p2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 [Cont.]</a:t>
            </a:r>
            <a:endParaRPr sz="3600">
              <a:latin typeface="Lexend"/>
              <a:ea typeface="Lexend"/>
              <a:cs typeface="Lexend"/>
              <a:sym typeface="Lexend"/>
            </a:endParaRPr>
          </a:p>
        </p:txBody>
      </p:sp>
      <p:sp>
        <p:nvSpPr>
          <p:cNvPr id="338" name="Google Shape;338;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9" name="Google Shape;339;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40" name="Google Shape;340;p29"/>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a:t>
            </a:r>
            <a:endParaRPr b="1" sz="22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30"/>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47" name="Google Shape;347;p30"/>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48" name="Google Shape;348;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9" name="Google Shape;349;p30"/>
          <p:cNvSpPr txBox="1"/>
          <p:nvPr/>
        </p:nvSpPr>
        <p:spPr>
          <a:xfrm>
            <a:off x="351900" y="791050"/>
            <a:ext cx="84942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(11110010)</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350" name="Google Shape;350;p30"/>
          <p:cNvGrpSpPr/>
          <p:nvPr/>
        </p:nvGrpSpPr>
        <p:grpSpPr>
          <a:xfrm>
            <a:off x="50480" y="122879"/>
            <a:ext cx="277873" cy="68400"/>
            <a:chOff x="411700" y="2416840"/>
            <a:chExt cx="277873" cy="68400"/>
          </a:xfrm>
        </p:grpSpPr>
        <p:sp>
          <p:nvSpPr>
            <p:cNvPr id="351" name="Google Shape;351;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4" name="Google Shape;354;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a:t>
            </a:r>
            <a:endParaRPr sz="3600">
              <a:latin typeface="Lexend"/>
              <a:ea typeface="Lexend"/>
              <a:cs typeface="Lexend"/>
              <a:sym typeface="Lexend"/>
            </a:endParaRPr>
          </a:p>
        </p:txBody>
      </p:sp>
      <p:sp>
        <p:nvSpPr>
          <p:cNvPr id="355" name="Google Shape;355;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6" name="Google Shape;356;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2" name="Google Shape;362;p31"/>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63" name="Google Shape;363;p31"/>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64" name="Google Shape;364;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65" name="Google Shape;365;p31"/>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Positive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66" name="Google Shape;366;p31"/>
          <p:cNvGrpSpPr/>
          <p:nvPr/>
        </p:nvGrpSpPr>
        <p:grpSpPr>
          <a:xfrm>
            <a:off x="50480" y="122879"/>
            <a:ext cx="277873" cy="68400"/>
            <a:chOff x="411700" y="2416840"/>
            <a:chExt cx="277873" cy="68400"/>
          </a:xfrm>
        </p:grpSpPr>
        <p:sp>
          <p:nvSpPr>
            <p:cNvPr id="367" name="Google Shape;367;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0" name="Google Shape;370;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a:t>
            </a:r>
            <a:r>
              <a:rPr lang="en" sz="3600">
                <a:latin typeface="Lexend"/>
                <a:ea typeface="Lexend"/>
                <a:cs typeface="Lexend"/>
                <a:sym typeface="Lexend"/>
              </a:rPr>
              <a:t> of three methods</a:t>
            </a:r>
            <a:endParaRPr sz="3600">
              <a:latin typeface="Lexend"/>
              <a:ea typeface="Lexend"/>
              <a:cs typeface="Lexend"/>
              <a:sym typeface="Lexend"/>
            </a:endParaRPr>
          </a:p>
        </p:txBody>
      </p:sp>
      <p:sp>
        <p:nvSpPr>
          <p:cNvPr id="371" name="Google Shape;371;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72" name="Google Shape;372;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73" name="Google Shape;373;p31"/>
          <p:cNvGraphicFramePr/>
          <p:nvPr/>
        </p:nvGraphicFramePr>
        <p:xfrm>
          <a:off x="2102850" y="1480038"/>
          <a:ext cx="3000000" cy="3000000"/>
        </p:xfrm>
        <a:graphic>
          <a:graphicData uri="http://schemas.openxmlformats.org/drawingml/2006/table">
            <a:tbl>
              <a:tblPr>
                <a:noFill/>
                <a:tableStyleId>{0C443E4E-38E4-4A39-A7BE-30245F5AF6B8}</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a:t>
                      </a:r>
                      <a:r>
                        <a:rPr b="1" lang="en" sz="1200">
                          <a:latin typeface="Roboto Mono"/>
                          <a:ea typeface="Roboto Mono"/>
                          <a:cs typeface="Roboto Mono"/>
                          <a:sym typeface="Roboto Mono"/>
                        </a:rPr>
                        <a:t>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374" name="Google Shape;374;p31"/>
          <p:cNvSpPr/>
          <p:nvPr/>
        </p:nvSpPr>
        <p:spPr>
          <a:xfrm>
            <a:off x="328350" y="44156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a:t>
            </a:r>
            <a:r>
              <a:rPr b="1" lang="en" sz="1800">
                <a:solidFill>
                  <a:srgbClr val="FF0000"/>
                </a:solidFill>
                <a:latin typeface="Lexend"/>
                <a:ea typeface="Lexend"/>
                <a:cs typeface="Lexend"/>
                <a:sym typeface="Lexend"/>
              </a:rPr>
              <a:t>Signed magnitude cannot be used for arithmetic calculations</a:t>
            </a:r>
            <a:endParaRPr b="1" sz="1800">
              <a:solidFill>
                <a:srgbClr val="FF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2"/>
          <p:cNvSpPr/>
          <p:nvPr/>
        </p:nvSpPr>
        <p:spPr>
          <a:xfrm>
            <a:off x="328350" y="45680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Signed magnitude cannot be used for arithmetic calculations</a:t>
            </a:r>
            <a:endParaRPr b="1" sz="1800">
              <a:solidFill>
                <a:srgbClr val="FF0000"/>
              </a:solidFill>
              <a:latin typeface="Lexend"/>
              <a:ea typeface="Lexend"/>
              <a:cs typeface="Lexend"/>
              <a:sym typeface="Lexend"/>
            </a:endParaRPr>
          </a:p>
        </p:txBody>
      </p:sp>
      <p:pic>
        <p:nvPicPr>
          <p:cNvPr id="381" name="Google Shape;381;p32"/>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82" name="Google Shape;382;p3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83" name="Google Shape;383;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84" name="Google Shape;384;p32"/>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Negative</a:t>
            </a:r>
            <a:r>
              <a:rPr i="1" lang="en" sz="2400">
                <a:solidFill>
                  <a:srgbClr val="0000FF"/>
                </a:solidFill>
                <a:latin typeface="Lexend"/>
                <a:ea typeface="Lexend"/>
                <a:cs typeface="Lexend"/>
                <a:sym typeface="Lexend"/>
              </a:rPr>
              <a:t>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85" name="Google Shape;385;p32"/>
          <p:cNvGrpSpPr/>
          <p:nvPr/>
        </p:nvGrpSpPr>
        <p:grpSpPr>
          <a:xfrm>
            <a:off x="50480" y="122879"/>
            <a:ext cx="277873" cy="68400"/>
            <a:chOff x="411700" y="2416840"/>
            <a:chExt cx="277873" cy="68400"/>
          </a:xfrm>
        </p:grpSpPr>
        <p:sp>
          <p:nvSpPr>
            <p:cNvPr id="386" name="Google Shape;386;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9" name="Google Shape;389;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 of three methods</a:t>
            </a:r>
            <a:endParaRPr sz="3600">
              <a:latin typeface="Lexend"/>
              <a:ea typeface="Lexend"/>
              <a:cs typeface="Lexend"/>
              <a:sym typeface="Lexend"/>
            </a:endParaRPr>
          </a:p>
        </p:txBody>
      </p:sp>
      <p:sp>
        <p:nvSpPr>
          <p:cNvPr id="390" name="Google Shape;390;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91" name="Google Shape;391;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92" name="Google Shape;392;p32"/>
          <p:cNvGraphicFramePr/>
          <p:nvPr/>
        </p:nvGraphicFramePr>
        <p:xfrm>
          <a:off x="2102850" y="1336167"/>
          <a:ext cx="3000000" cy="3000000"/>
        </p:xfrm>
        <a:graphic>
          <a:graphicData uri="http://schemas.openxmlformats.org/drawingml/2006/table">
            <a:tbl>
              <a:tblPr>
                <a:noFill/>
                <a:tableStyleId>{0C443E4E-38E4-4A39-A7BE-30245F5AF6B8}</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-8</a:t>
                      </a:r>
                      <a:endParaRPr>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33"/>
          <p:cNvPicPr preferRelativeResize="0"/>
          <p:nvPr/>
        </p:nvPicPr>
        <p:blipFill rotWithShape="1">
          <a:blip r:embed="rId3">
            <a:alphaModFix/>
          </a:blip>
          <a:srcRect b="10185" l="0" r="0" t="0"/>
          <a:stretch/>
        </p:blipFill>
        <p:spPr>
          <a:xfrm>
            <a:off x="0" y="333571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99" name="Google Shape;399;p33"/>
          <p:cNvPicPr preferRelativeResize="0"/>
          <p:nvPr/>
        </p:nvPicPr>
        <p:blipFill rotWithShape="1">
          <a:blip r:embed="rId3">
            <a:alphaModFix/>
          </a:blip>
          <a:srcRect b="10185" l="0" r="0" t="0"/>
          <a:stretch/>
        </p:blipFill>
        <p:spPr>
          <a:xfrm>
            <a:off x="0" y="425864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0" name="Google Shape;400;p33"/>
          <p:cNvPicPr preferRelativeResize="0"/>
          <p:nvPr/>
        </p:nvPicPr>
        <p:blipFill rotWithShape="1">
          <a:blip r:embed="rId3">
            <a:alphaModFix/>
          </a:blip>
          <a:srcRect b="10185" l="0" r="0" t="0"/>
          <a:stretch/>
        </p:blipFill>
        <p:spPr>
          <a:xfrm>
            <a:off x="0" y="2142099"/>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1" name="Google Shape;401;p33"/>
          <p:cNvPicPr preferRelativeResize="0"/>
          <p:nvPr/>
        </p:nvPicPr>
        <p:blipFill>
          <a:blip r:embed="rId4">
            <a:alphaModFix/>
          </a:blip>
          <a:stretch>
            <a:fillRect/>
          </a:stretch>
        </p:blipFill>
        <p:spPr>
          <a:xfrm>
            <a:off x="8507451" y="76200"/>
            <a:ext cx="560349" cy="514126"/>
          </a:xfrm>
          <a:prstGeom prst="rect">
            <a:avLst/>
          </a:prstGeom>
          <a:noFill/>
          <a:ln>
            <a:noFill/>
          </a:ln>
        </p:spPr>
      </p:pic>
      <p:pic>
        <p:nvPicPr>
          <p:cNvPr id="402" name="Google Shape;402;p33"/>
          <p:cNvPicPr preferRelativeResize="0"/>
          <p:nvPr/>
        </p:nvPicPr>
        <p:blipFill rotWithShape="1">
          <a:blip r:embed="rId3">
            <a:alphaModFix/>
          </a:blip>
          <a:srcRect b="10185" l="0" r="0" t="0"/>
          <a:stretch/>
        </p:blipFill>
        <p:spPr>
          <a:xfrm>
            <a:off x="0" y="80405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403" name="Google Shape;403;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04" name="Google Shape;404;p33"/>
          <p:cNvSpPr txBox="1"/>
          <p:nvPr/>
        </p:nvSpPr>
        <p:spPr>
          <a:xfrm>
            <a:off x="351900" y="791050"/>
            <a:ext cx="8494200" cy="4236900"/>
          </a:xfrm>
          <a:prstGeom prst="rect">
            <a:avLst/>
          </a:prstGeom>
          <a:noFill/>
          <a:ln>
            <a:noFill/>
          </a:ln>
        </p:spPr>
        <p:txBody>
          <a:bodyPr anchorCtr="0" anchor="t" bIns="91425" lIns="91425" spcFirstLastPara="1" rIns="91425" wrap="square" tIns="91425">
            <a:spAutoFit/>
          </a:bodyPr>
          <a:lstStyle/>
          <a:p>
            <a:pPr indent="-342900" lvl="0" marL="342900" rtl="0" algn="just">
              <a:lnSpc>
                <a:spcPct val="90000"/>
              </a:lnSpc>
              <a:spcBef>
                <a:spcPts val="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1. For 2’s complement binary numbers, the range of values for 5-bit numbers is</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0 to 31              b. -8 to +7            c. -8 to +8   </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d. -15 to +15        e. -16 to +15</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2. In a 6-bit 2’s complement binary number system, what is the decimal value represented by (100100)</a:t>
            </a:r>
            <a:r>
              <a:rPr baseline="-25000" lang="en" sz="1800">
                <a:solidFill>
                  <a:schemeClr val="dk1"/>
                </a:solidFill>
                <a:latin typeface="Lexend"/>
                <a:ea typeface="Lexend"/>
                <a:cs typeface="Lexend"/>
                <a:sym typeface="Lexend"/>
              </a:rPr>
              <a:t>2s</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-4        b. 36        c. -36       d. -27      e. -28 </a:t>
            </a:r>
            <a:endParaRPr sz="1800">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3. Following numbers are in 1’s complement system. Turn them to their no. negative representation</a:t>
            </a:r>
            <a:endParaRPr sz="1800">
              <a:solidFill>
                <a:schemeClr val="dk1"/>
              </a:solidFill>
              <a:latin typeface="Lexend"/>
              <a:ea typeface="Lexend"/>
              <a:cs typeface="Lexend"/>
              <a:sym typeface="Lexend"/>
            </a:endParaRPr>
          </a:p>
          <a:p>
            <a:pPr indent="0" lvl="0" marL="457200" rtl="0" algn="l">
              <a:spcBef>
                <a:spcPts val="360"/>
              </a:spcBef>
              <a:spcAft>
                <a:spcPts val="0"/>
              </a:spcAft>
              <a:buNone/>
            </a:pPr>
            <a:r>
              <a:rPr lang="en" sz="1800">
                <a:solidFill>
                  <a:schemeClr val="dk1"/>
                </a:solidFill>
                <a:latin typeface="Lexend"/>
                <a:ea typeface="Lexend"/>
                <a:cs typeface="Lexend"/>
                <a:sym typeface="Lexend"/>
              </a:rPr>
              <a:t>A. </a:t>
            </a:r>
            <a:r>
              <a:rPr lang="en" sz="1800">
                <a:solidFill>
                  <a:schemeClr val="dk1"/>
                </a:solidFill>
                <a:latin typeface="Lexend"/>
                <a:ea typeface="Lexend"/>
                <a:cs typeface="Lexend"/>
                <a:sym typeface="Lexend"/>
              </a:rPr>
              <a:t>1010101    </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B. 0111000</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C. 0000001</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D. 00000</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4. Now perform 2’s complement</a:t>
            </a:r>
            <a:endParaRPr sz="1800">
              <a:solidFill>
                <a:schemeClr val="dk1"/>
              </a:solidFill>
              <a:latin typeface="Lexend"/>
              <a:ea typeface="Lexend"/>
              <a:cs typeface="Lexend"/>
              <a:sym typeface="Lexend"/>
            </a:endParaRPr>
          </a:p>
          <a:p>
            <a:pPr indent="0" lvl="1" marL="0" rtl="0" algn="l">
              <a:lnSpc>
                <a:spcPct val="90000"/>
              </a:lnSpc>
              <a:spcBef>
                <a:spcPts val="560"/>
              </a:spcBef>
              <a:spcAft>
                <a:spcPts val="0"/>
              </a:spcAft>
              <a:buNone/>
            </a:pPr>
            <a:r>
              <a:t/>
            </a:r>
            <a:endParaRPr sz="1800">
              <a:solidFill>
                <a:schemeClr val="dk1"/>
              </a:solidFill>
              <a:latin typeface="Lexend Light"/>
              <a:ea typeface="Lexend Light"/>
              <a:cs typeface="Lexend Light"/>
              <a:sym typeface="Lexend Light"/>
            </a:endParaRPr>
          </a:p>
        </p:txBody>
      </p:sp>
      <p:grpSp>
        <p:nvGrpSpPr>
          <p:cNvPr id="405" name="Google Shape;405;p33"/>
          <p:cNvGrpSpPr/>
          <p:nvPr/>
        </p:nvGrpSpPr>
        <p:grpSpPr>
          <a:xfrm>
            <a:off x="50480" y="122879"/>
            <a:ext cx="277873" cy="68400"/>
            <a:chOff x="411700" y="2416840"/>
            <a:chExt cx="277873" cy="68400"/>
          </a:xfrm>
        </p:grpSpPr>
        <p:sp>
          <p:nvSpPr>
            <p:cNvPr id="406" name="Google Shape;406;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09" name="Google Shape;409;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Exercise</a:t>
            </a:r>
            <a:endParaRPr sz="3600">
              <a:latin typeface="Lexend"/>
              <a:ea typeface="Lexend"/>
              <a:cs typeface="Lexend"/>
              <a:sym typeface="Lexend"/>
            </a:endParaRPr>
          </a:p>
        </p:txBody>
      </p:sp>
      <p:sp>
        <p:nvSpPr>
          <p:cNvPr id="410" name="Google Shape;410;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11" name="Google Shape;411;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4"/>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Clr>
                <a:schemeClr val="dk1"/>
              </a:buClr>
              <a:buSzPts val="1100"/>
              <a:buFont typeface="Arial"/>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ADDITION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Like decimal numbers, two numbers can be added by adding each pair of digits together with carry propagation.</a:t>
            </a:r>
            <a:endParaRPr sz="2000">
              <a:solidFill>
                <a:schemeClr val="dk1"/>
              </a:solidFill>
              <a:latin typeface="Lexend"/>
              <a:ea typeface="Lexend"/>
              <a:cs typeface="Lexend"/>
              <a:sym typeface="Lexend"/>
            </a:endParaRPr>
          </a:p>
        </p:txBody>
      </p:sp>
      <p:pic>
        <p:nvPicPr>
          <p:cNvPr id="418" name="Google Shape;418;p3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19" name="Google Shape;419;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20" name="Google Shape;420;p34"/>
          <p:cNvGrpSpPr/>
          <p:nvPr/>
        </p:nvGrpSpPr>
        <p:grpSpPr>
          <a:xfrm>
            <a:off x="50480" y="122879"/>
            <a:ext cx="277873" cy="68400"/>
            <a:chOff x="411700" y="2416840"/>
            <a:chExt cx="277873" cy="68400"/>
          </a:xfrm>
        </p:grpSpPr>
        <p:sp>
          <p:nvSpPr>
            <p:cNvPr id="421" name="Google Shape;421;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4" name="Google Shape;424;p34"/>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t>
            </a:r>
            <a:r>
              <a:rPr lang="en" sz="3000">
                <a:latin typeface="Lexend"/>
                <a:ea typeface="Lexend"/>
                <a:cs typeface="Lexend"/>
                <a:sym typeface="Lexend"/>
              </a:rPr>
              <a:t>ARITHMETIC</a:t>
            </a:r>
            <a:r>
              <a:rPr lang="en" sz="3000">
                <a:latin typeface="Lexend"/>
                <a:ea typeface="Lexend"/>
                <a:cs typeface="Lexend"/>
                <a:sym typeface="Lexend"/>
              </a:rPr>
              <a:t> OPERATION!</a:t>
            </a:r>
            <a:endParaRPr sz="3000">
              <a:latin typeface="Lexend"/>
              <a:ea typeface="Lexend"/>
              <a:cs typeface="Lexend"/>
              <a:sym typeface="Lexend"/>
            </a:endParaRPr>
          </a:p>
        </p:txBody>
      </p:sp>
      <p:sp>
        <p:nvSpPr>
          <p:cNvPr id="425" name="Google Shape;425;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26" name="Google Shape;426;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27" name="Google Shape;427;p34"/>
          <p:cNvPicPr preferRelativeResize="0"/>
          <p:nvPr/>
        </p:nvPicPr>
        <p:blipFill rotWithShape="1">
          <a:blip r:embed="rId4">
            <a:alphaModFix/>
          </a:blip>
          <a:srcRect b="0" l="0" r="0" t="0"/>
          <a:stretch/>
        </p:blipFill>
        <p:spPr>
          <a:xfrm>
            <a:off x="1600200" y="2895600"/>
            <a:ext cx="1812926" cy="1217611"/>
          </a:xfrm>
          <a:prstGeom prst="rect">
            <a:avLst/>
          </a:prstGeom>
          <a:noFill/>
          <a:ln>
            <a:noFill/>
          </a:ln>
        </p:spPr>
      </p:pic>
      <p:pic>
        <p:nvPicPr>
          <p:cNvPr id="428" name="Google Shape;428;p34"/>
          <p:cNvPicPr preferRelativeResize="0"/>
          <p:nvPr/>
        </p:nvPicPr>
        <p:blipFill rotWithShape="1">
          <a:blip r:embed="rId5">
            <a:alphaModFix/>
          </a:blip>
          <a:srcRect b="0" l="0" r="0" t="0"/>
          <a:stretch/>
        </p:blipFill>
        <p:spPr>
          <a:xfrm>
            <a:off x="4800600" y="2895600"/>
            <a:ext cx="2098675" cy="121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5"/>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SUBTRACTION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Two numbers can be subtracted by subtracting each pair of digits together with borrowing, where needed.</a:t>
            </a:r>
            <a:endParaRPr sz="2000">
              <a:solidFill>
                <a:schemeClr val="dk1"/>
              </a:solidFill>
              <a:latin typeface="Lexend"/>
              <a:ea typeface="Lexend"/>
              <a:cs typeface="Lexend"/>
              <a:sym typeface="Lexend"/>
            </a:endParaRPr>
          </a:p>
        </p:txBody>
      </p:sp>
      <p:pic>
        <p:nvPicPr>
          <p:cNvPr id="435" name="Google Shape;43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36" name="Google Shape;43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37" name="Google Shape;437;p35"/>
          <p:cNvGrpSpPr/>
          <p:nvPr/>
        </p:nvGrpSpPr>
        <p:grpSpPr>
          <a:xfrm>
            <a:off x="50480" y="122879"/>
            <a:ext cx="277873" cy="68400"/>
            <a:chOff x="411700" y="2416840"/>
            <a:chExt cx="277873" cy="68400"/>
          </a:xfrm>
        </p:grpSpPr>
        <p:sp>
          <p:nvSpPr>
            <p:cNvPr id="438" name="Google Shape;438;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1" name="Google Shape;441;p35"/>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ARITHMETIC OPERATION!</a:t>
            </a:r>
            <a:endParaRPr sz="3000">
              <a:latin typeface="Lexend"/>
              <a:ea typeface="Lexend"/>
              <a:cs typeface="Lexend"/>
              <a:sym typeface="Lexend"/>
            </a:endParaRPr>
          </a:p>
        </p:txBody>
      </p:sp>
      <p:sp>
        <p:nvSpPr>
          <p:cNvPr id="442" name="Google Shape;442;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43" name="Google Shape;443;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44" name="Google Shape;444;p35"/>
          <p:cNvPicPr preferRelativeResize="0"/>
          <p:nvPr/>
        </p:nvPicPr>
        <p:blipFill rotWithShape="1">
          <a:blip r:embed="rId4">
            <a:alphaModFix/>
          </a:blip>
          <a:srcRect b="0" l="0" r="0" t="0"/>
          <a:stretch/>
        </p:blipFill>
        <p:spPr>
          <a:xfrm>
            <a:off x="2629700" y="2999100"/>
            <a:ext cx="1565276" cy="1217612"/>
          </a:xfrm>
          <a:prstGeom prst="rect">
            <a:avLst/>
          </a:prstGeom>
          <a:noFill/>
          <a:ln>
            <a:noFill/>
          </a:ln>
        </p:spPr>
      </p:pic>
      <p:pic>
        <p:nvPicPr>
          <p:cNvPr id="445" name="Google Shape;445;p35"/>
          <p:cNvPicPr preferRelativeResize="0"/>
          <p:nvPr/>
        </p:nvPicPr>
        <p:blipFill rotWithShape="1">
          <a:blip r:embed="rId5">
            <a:alphaModFix/>
          </a:blip>
          <a:srcRect b="0" l="0" r="0" t="0"/>
          <a:stretch/>
        </p:blipFill>
        <p:spPr>
          <a:xfrm>
            <a:off x="4763300" y="2999100"/>
            <a:ext cx="1751011" cy="12176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1" name="Google Shape;451;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2" name="Google Shape;452;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3" name="Google Shape;453;p36"/>
          <p:cNvSpPr txBox="1"/>
          <p:nvPr/>
        </p:nvSpPr>
        <p:spPr>
          <a:xfrm>
            <a:off x="351900" y="791050"/>
            <a:ext cx="8494200" cy="18675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t/>
            </a:r>
            <a:endParaRPr sz="2000">
              <a:solidFill>
                <a:schemeClr val="dk1"/>
              </a:solidFill>
              <a:latin typeface="Lexend"/>
              <a:ea typeface="Lexend"/>
              <a:cs typeface="Lexend"/>
              <a:sym typeface="Lexend"/>
            </a:endParaRPr>
          </a:p>
          <a:p>
            <a:pPr indent="0" lvl="0" marL="0" rtl="0" algn="l">
              <a:spcBef>
                <a:spcPts val="560"/>
              </a:spcBef>
              <a:spcAft>
                <a:spcPts val="0"/>
              </a:spcAft>
              <a:buClr>
                <a:schemeClr val="dk1"/>
              </a:buClr>
              <a:buSzPts val="1100"/>
              <a:buFont typeface="Arial"/>
              <a:buNone/>
            </a:pPr>
            <a:r>
              <a:rPr lang="en" sz="2000">
                <a:solidFill>
                  <a:schemeClr val="dk1"/>
                </a:solidFill>
                <a:latin typeface="Lexend"/>
                <a:ea typeface="Lexend"/>
                <a:cs typeface="Lexend"/>
                <a:sym typeface="Lexend"/>
              </a:rPr>
              <a:t>Arithmetic Overflow happens in signed arithmetic when the result is too big or too small to fit in the available bits, causing wrong answers and mistakes in the sign of the number.</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t/>
            </a:r>
            <a:endParaRPr sz="2000">
              <a:solidFill>
                <a:schemeClr val="dk1"/>
              </a:solidFill>
              <a:latin typeface="Lexend"/>
              <a:ea typeface="Lexend"/>
              <a:cs typeface="Lexend"/>
              <a:sym typeface="Lexend"/>
            </a:endParaRPr>
          </a:p>
        </p:txBody>
      </p:sp>
      <p:grpSp>
        <p:nvGrpSpPr>
          <p:cNvPr id="454" name="Google Shape;454;p36"/>
          <p:cNvGrpSpPr/>
          <p:nvPr/>
        </p:nvGrpSpPr>
        <p:grpSpPr>
          <a:xfrm>
            <a:off x="50480" y="122879"/>
            <a:ext cx="277873" cy="68400"/>
            <a:chOff x="411700" y="2416840"/>
            <a:chExt cx="277873" cy="68400"/>
          </a:xfrm>
        </p:grpSpPr>
        <p:sp>
          <p:nvSpPr>
            <p:cNvPr id="455" name="Google Shape;455;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8" name="Google Shape;458;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a:t>
            </a:r>
            <a:endParaRPr sz="3600">
              <a:latin typeface="Lexend"/>
              <a:ea typeface="Lexend"/>
              <a:cs typeface="Lexend"/>
              <a:sym typeface="Lexend"/>
            </a:endParaRPr>
          </a:p>
        </p:txBody>
      </p:sp>
      <p:sp>
        <p:nvSpPr>
          <p:cNvPr id="459" name="Google Shape;459;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0" name="Google Shape;460;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6" name="Google Shape;466;p37"/>
          <p:cNvPicPr preferRelativeResize="0"/>
          <p:nvPr/>
        </p:nvPicPr>
        <p:blipFill rotWithShape="1">
          <a:blip r:embed="rId3">
            <a:alphaModFix/>
          </a:blip>
          <a:srcRect b="10185" l="0" r="0" t="0"/>
          <a:stretch/>
        </p:blipFill>
        <p:spPr>
          <a:xfrm>
            <a:off x="0" y="84717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7" name="Google Shape;467;p37"/>
          <p:cNvPicPr preferRelativeResize="0"/>
          <p:nvPr/>
        </p:nvPicPr>
        <p:blipFill rotWithShape="1">
          <a:blip r:embed="rId3">
            <a:alphaModFix/>
          </a:blip>
          <a:srcRect b="10185" l="0" r="0" t="0"/>
          <a:stretch/>
        </p:blipFill>
        <p:spPr>
          <a:xfrm>
            <a:off x="0" y="25349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8" name="Google Shape;468;p37"/>
          <p:cNvPicPr preferRelativeResize="0"/>
          <p:nvPr/>
        </p:nvPicPr>
        <p:blipFill rotWithShape="1">
          <a:blip r:embed="rId3">
            <a:alphaModFix/>
          </a:blip>
          <a:srcRect b="10185" l="0" r="0" t="0"/>
          <a:stretch/>
        </p:blipFill>
        <p:spPr>
          <a:xfrm>
            <a:off x="0" y="31991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9" name="Google Shape;469;p37"/>
          <p:cNvPicPr preferRelativeResize="0"/>
          <p:nvPr/>
        </p:nvPicPr>
        <p:blipFill rotWithShape="1">
          <a:blip r:embed="rId3">
            <a:alphaModFix/>
          </a:blip>
          <a:srcRect b="10185" l="0" r="0" t="0"/>
          <a:stretch/>
        </p:blipFill>
        <p:spPr>
          <a:xfrm>
            <a:off x="0" y="38633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70" name="Google Shape;470;p3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71" name="Google Shape;471;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2" name="Google Shape;472;p37"/>
          <p:cNvSpPr txBox="1"/>
          <p:nvPr/>
        </p:nvSpPr>
        <p:spPr>
          <a:xfrm>
            <a:off x="351900" y="791050"/>
            <a:ext cx="8494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Rule-1: Add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if (result also has the same sign):</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No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else:</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Overflow; </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Rule-2: Sub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Rule-3: Add two different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Rule-4: Sub two different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Case-1: +A - (-B) = +A + (+B) =&gt; Follow Rule-1</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 sz="2200">
                <a:solidFill>
                  <a:schemeClr val="dk1"/>
                </a:solidFill>
                <a:latin typeface="Lexend"/>
                <a:ea typeface="Lexend"/>
                <a:cs typeface="Lexend"/>
                <a:sym typeface="Lexend"/>
              </a:rPr>
              <a:t>             Case-2: -A - (+B) = -A  + (-B) =&gt; Follow Rule-1</a:t>
            </a:r>
            <a:endParaRPr sz="2200">
              <a:solidFill>
                <a:schemeClr val="dk1"/>
              </a:solidFill>
              <a:latin typeface="Lexend"/>
              <a:ea typeface="Lexend"/>
              <a:cs typeface="Lexend"/>
              <a:sym typeface="Lexend"/>
            </a:endParaRPr>
          </a:p>
        </p:txBody>
      </p:sp>
      <p:grpSp>
        <p:nvGrpSpPr>
          <p:cNvPr id="473" name="Google Shape;473;p37"/>
          <p:cNvGrpSpPr/>
          <p:nvPr/>
        </p:nvGrpSpPr>
        <p:grpSpPr>
          <a:xfrm>
            <a:off x="50480" y="122879"/>
            <a:ext cx="277873" cy="68400"/>
            <a:chOff x="411700" y="2416840"/>
            <a:chExt cx="277873" cy="68400"/>
          </a:xfrm>
        </p:grpSpPr>
        <p:sp>
          <p:nvSpPr>
            <p:cNvPr id="474" name="Google Shape;474;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77" name="Google Shape;477;p3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 Detection Rules</a:t>
            </a:r>
            <a:endParaRPr sz="3600">
              <a:latin typeface="Lexend"/>
              <a:ea typeface="Lexend"/>
              <a:cs typeface="Lexend"/>
              <a:sym typeface="Lexend"/>
            </a:endParaRPr>
          </a:p>
        </p:txBody>
      </p:sp>
      <p:sp>
        <p:nvSpPr>
          <p:cNvPr id="478" name="Google Shape;478;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79" name="Google Shape;479;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85" name="Google Shape;485;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86" name="Google Shape;486;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7" name="Google Shape;487;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488" name="Google Shape;488;p38"/>
          <p:cNvGrpSpPr/>
          <p:nvPr/>
        </p:nvGrpSpPr>
        <p:grpSpPr>
          <a:xfrm>
            <a:off x="56303" y="1249009"/>
            <a:ext cx="7861259" cy="1727813"/>
            <a:chOff x="5351018" y="4955476"/>
            <a:chExt cx="4003085" cy="885422"/>
          </a:xfrm>
        </p:grpSpPr>
        <p:sp>
          <p:nvSpPr>
            <p:cNvPr id="489" name="Google Shape;489;p38"/>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0" name="Google Shape;490;p38"/>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1" name="Google Shape;491;p38"/>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2" name="Google Shape;492;p38"/>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3" name="Google Shape;493;p38"/>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494" name="Google Shape;494;p38"/>
          <p:cNvSpPr/>
          <p:nvPr/>
        </p:nvSpPr>
        <p:spPr>
          <a:xfrm>
            <a:off x="5982866" y="2652611"/>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495" name="Google Shape;495;p38"/>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ARITHMETIC OPERATIONS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ON SIGNED NUMBER</a:t>
            </a:r>
            <a:endParaRPr sz="4200">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2" name="Google Shape;502;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3" name="Google Shape;503;p39"/>
          <p:cNvSpPr txBox="1"/>
          <p:nvPr/>
        </p:nvSpPr>
        <p:spPr>
          <a:xfrm>
            <a:off x="351900" y="943450"/>
            <a:ext cx="8494200" cy="3767100"/>
          </a:xfrm>
          <a:prstGeom prst="rect">
            <a:avLst/>
          </a:prstGeom>
          <a:noFill/>
          <a:ln>
            <a:noFill/>
          </a:ln>
        </p:spPr>
        <p:txBody>
          <a:bodyPr anchorCtr="0" anchor="t" bIns="91425" lIns="91425" spcFirstLastPara="1" rIns="91425" wrap="square" tIns="91425">
            <a:spAutoFit/>
          </a:bodyPr>
          <a:lstStyle/>
          <a:p>
            <a:pPr indent="-245109" lvl="0" marL="342900" rtl="0" algn="l">
              <a:lnSpc>
                <a:spcPct val="8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Ignore the carry out of the MSB (most significant bit).</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the ‘carry in’ and ‘carry out’ of the MSB are different, or if result is opposite sign of A and B.</a:t>
            </a:r>
            <a:endParaRPr sz="2300">
              <a:solidFill>
                <a:schemeClr val="dk1"/>
              </a:solidFill>
              <a:latin typeface="Lexend"/>
              <a:ea typeface="Lexend"/>
              <a:cs typeface="Lexend"/>
              <a:sym typeface="Lexend"/>
            </a:endParaRPr>
          </a:p>
          <a:p>
            <a:pPr indent="-245109" lvl="0" marL="342900" rtl="0" algn="l">
              <a:lnSpc>
                <a:spcPct val="8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80000"/>
              </a:lnSpc>
              <a:spcBef>
                <a:spcPts val="640"/>
              </a:spcBef>
              <a:spcAft>
                <a:spcPts val="0"/>
              </a:spcAft>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2s complement of B by inverting all the bits and adding 1.</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2s complement of B to A.</a:t>
            </a:r>
            <a:endParaRPr sz="2300">
              <a:solidFill>
                <a:schemeClr val="dk1"/>
              </a:solidFill>
              <a:latin typeface="Lexend"/>
              <a:ea typeface="Lexend"/>
              <a:cs typeface="Lexend"/>
              <a:sym typeface="Lexend"/>
            </a:endParaRPr>
          </a:p>
        </p:txBody>
      </p:sp>
      <p:grpSp>
        <p:nvGrpSpPr>
          <p:cNvPr id="504" name="Google Shape;504;p39"/>
          <p:cNvGrpSpPr/>
          <p:nvPr/>
        </p:nvGrpSpPr>
        <p:grpSpPr>
          <a:xfrm>
            <a:off x="50480" y="122879"/>
            <a:ext cx="277873" cy="68400"/>
            <a:chOff x="411700" y="2416840"/>
            <a:chExt cx="277873" cy="68400"/>
          </a:xfrm>
        </p:grpSpPr>
        <p:sp>
          <p:nvSpPr>
            <p:cNvPr id="505" name="Google Shape;505;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8" name="Google Shape;508;p39"/>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09" name="Google Shape;509;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0" name="Google Shape;510;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6" name="Google Shape;516;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17" name="Google Shape;517;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18" name="Google Shape;518;p40"/>
          <p:cNvSpPr txBox="1"/>
          <p:nvPr/>
        </p:nvSpPr>
        <p:spPr>
          <a:xfrm>
            <a:off x="351900" y="943450"/>
            <a:ext cx="8494200" cy="3977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19" name="Google Shape;519;p40"/>
          <p:cNvGrpSpPr/>
          <p:nvPr/>
        </p:nvGrpSpPr>
        <p:grpSpPr>
          <a:xfrm>
            <a:off x="50480" y="122879"/>
            <a:ext cx="277873" cy="68400"/>
            <a:chOff x="411700" y="2416840"/>
            <a:chExt cx="277873" cy="68400"/>
          </a:xfrm>
        </p:grpSpPr>
        <p:sp>
          <p:nvSpPr>
            <p:cNvPr id="520" name="Google Shape;520;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23" name="Google Shape;523;p40"/>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24" name="Google Shape;524;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25" name="Google Shape;525;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26" name="Google Shape;526;p40"/>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+4     + 0100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+7       0111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7" name="Google Shape;527;p40"/>
          <p:cNvSpPr txBox="1"/>
          <p:nvPr/>
        </p:nvSpPr>
        <p:spPr>
          <a:xfrm>
            <a:off x="14478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+6      0110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-3    + 1101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a:t>
            </a:r>
            <a:r>
              <a:rPr b="1" i="0" lang="en" sz="2000" u="none">
                <a:solidFill>
                  <a:srgbClr val="FF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8" name="Google Shape;528;p40"/>
          <p:cNvSpPr txBox="1"/>
          <p:nvPr/>
        </p:nvSpPr>
        <p:spPr>
          <a:xfrm>
            <a:off x="49530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+4     0100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-7   + 1001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pic>
        <p:nvPicPr>
          <p:cNvPr id="529" name="Google Shape;529;p40"/>
          <p:cNvPicPr preferRelativeResize="0"/>
          <p:nvPr/>
        </p:nvPicPr>
        <p:blipFill rotWithShape="1">
          <a:blip r:embed="rId4">
            <a:alphaModFix/>
          </a:blip>
          <a:srcRect b="5893" l="1348" r="1659" t="4948"/>
          <a:stretch/>
        </p:blipFill>
        <p:spPr>
          <a:xfrm>
            <a:off x="4953000" y="1373925"/>
            <a:ext cx="2971800" cy="1503300"/>
          </a:xfrm>
          <a:prstGeom prst="rect">
            <a:avLst/>
          </a:prstGeom>
          <a:noFill/>
          <a:ln cap="flat" cmpd="sng" w="9525">
            <a:solidFill>
              <a:srgbClr val="A9B0FE"/>
            </a:solidFill>
            <a:prstDash val="solid"/>
            <a:round/>
            <a:headEnd len="sm" w="sm" type="none"/>
            <a:tailEnd len="sm" w="sm" type="none"/>
          </a:ln>
        </p:spPr>
      </p:pic>
      <p:pic>
        <p:nvPicPr>
          <p:cNvPr id="530" name="Google Shape;530;p40"/>
          <p:cNvPicPr preferRelativeResize="0"/>
          <p:nvPr/>
        </p:nvPicPr>
        <p:blipFill rotWithShape="1">
          <a:blip r:embed="rId5">
            <a:alphaModFix amt="40000"/>
          </a:blip>
          <a:srcRect b="11308" l="0" r="0" t="0"/>
          <a:stretch/>
        </p:blipFill>
        <p:spPr>
          <a:xfrm>
            <a:off x="0" y="943450"/>
            <a:ext cx="1715302" cy="4304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6" name="Google Shape;536;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7" name="Google Shape;537;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8" name="Google Shape;538;p41"/>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39" name="Google Shape;539;p41"/>
          <p:cNvGrpSpPr/>
          <p:nvPr/>
        </p:nvGrpSpPr>
        <p:grpSpPr>
          <a:xfrm>
            <a:off x="50480" y="122879"/>
            <a:ext cx="277873" cy="68400"/>
            <a:chOff x="411700" y="2416840"/>
            <a:chExt cx="277873" cy="68400"/>
          </a:xfrm>
        </p:grpSpPr>
        <p:sp>
          <p:nvSpPr>
            <p:cNvPr id="540" name="Google Shape;540;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3" name="Google Shape;543;p41"/>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44" name="Google Shape;544;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45" name="Google Shape;545;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46" name="Google Shape;546;p41"/>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47" name="Google Shape;547;p41"/>
          <p:cNvSpPr txBox="1"/>
          <p:nvPr/>
        </p:nvSpPr>
        <p:spPr>
          <a:xfrm>
            <a:off x="1371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+ 1010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-9      </a:t>
            </a:r>
            <a:r>
              <a:rPr b="1" i="0" lang="en" sz="2000" u="none">
                <a:solidFill>
                  <a:srgbClr val="CC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48" name="Google Shape;548;p41"/>
          <p:cNvSpPr txBox="1"/>
          <p:nvPr/>
        </p:nvSpPr>
        <p:spPr>
          <a:xfrm>
            <a:off x="4800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+5       0101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+11      </a:t>
            </a:r>
            <a:r>
              <a:rPr b="1" i="0" lang="en" sz="2000" u="none">
                <a:solidFill>
                  <a:srgbClr val="FF0000"/>
                </a:solidFill>
                <a:latin typeface="Courier New"/>
                <a:ea typeface="Courier New"/>
                <a:cs typeface="Courier New"/>
                <a:sym typeface="Courier New"/>
              </a:rPr>
              <a:t> </a:t>
            </a:r>
            <a:r>
              <a:rPr b="1" i="0" lang="en" sz="2000" u="none">
                <a:solidFill>
                  <a:srgbClr val="000000"/>
                </a:solidFill>
                <a:latin typeface="Courier New"/>
                <a:ea typeface="Courier New"/>
                <a:cs typeface="Courier New"/>
                <a:sym typeface="Courier New"/>
              </a:rPr>
              <a:t>1011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4" name="Google Shape;554;p4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5" name="Google Shape;555;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56" name="Google Shape;556;p42"/>
          <p:cNvSpPr txBox="1"/>
          <p:nvPr/>
        </p:nvSpPr>
        <p:spPr>
          <a:xfrm>
            <a:off x="351900" y="943450"/>
            <a:ext cx="8494200" cy="3734700"/>
          </a:xfrm>
          <a:prstGeom prst="rect">
            <a:avLst/>
          </a:prstGeom>
          <a:noFill/>
          <a:ln>
            <a:noFill/>
          </a:ln>
        </p:spPr>
        <p:txBody>
          <a:bodyPr anchorCtr="0" anchor="t" bIns="91425" lIns="91425" spcFirstLastPara="1" rIns="91425" wrap="square" tIns="91425">
            <a:spAutoFit/>
          </a:bodyPr>
          <a:lstStyle/>
          <a:p>
            <a:pPr indent="-245109" lvl="0" marL="342900" rtl="0" algn="l">
              <a:lnSpc>
                <a:spcPct val="9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If there is a carry out of the MSB, </a:t>
            </a:r>
            <a:r>
              <a:rPr lang="en" sz="2300">
                <a:solidFill>
                  <a:srgbClr val="FF0000"/>
                </a:solidFill>
                <a:latin typeface="Lexend"/>
                <a:ea typeface="Lexend"/>
                <a:cs typeface="Lexend"/>
                <a:sym typeface="Lexend"/>
              </a:rPr>
              <a:t>add 1 to the result.</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result is opposite sign of A and B.</a:t>
            </a:r>
            <a:endParaRPr sz="2300">
              <a:solidFill>
                <a:schemeClr val="dk1"/>
              </a:solidFill>
              <a:latin typeface="Lexend"/>
              <a:ea typeface="Lexend"/>
              <a:cs typeface="Lexend"/>
              <a:sym typeface="Lexend"/>
            </a:endParaRPr>
          </a:p>
          <a:p>
            <a:pPr indent="-245109" lvl="0" marL="342900" rtl="0" algn="l">
              <a:lnSpc>
                <a:spcPct val="9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90000"/>
              </a:lnSpc>
              <a:spcBef>
                <a:spcPts val="640"/>
              </a:spcBef>
              <a:spcAft>
                <a:spcPts val="0"/>
              </a:spcAft>
              <a:buClr>
                <a:srgbClr val="0000FF"/>
              </a:buClr>
              <a:buSzPts val="3200"/>
              <a:buFont typeface="Arial"/>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1s complement of B by inverting all the bits.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1s complement of B to A.</a:t>
            </a:r>
            <a:endParaRPr sz="2300">
              <a:solidFill>
                <a:srgbClr val="0000FF"/>
              </a:solidFill>
              <a:latin typeface="Lexend"/>
              <a:ea typeface="Lexend"/>
              <a:cs typeface="Lexend"/>
              <a:sym typeface="Lexend"/>
            </a:endParaRPr>
          </a:p>
        </p:txBody>
      </p:sp>
      <p:grpSp>
        <p:nvGrpSpPr>
          <p:cNvPr id="557" name="Google Shape;557;p42"/>
          <p:cNvGrpSpPr/>
          <p:nvPr/>
        </p:nvGrpSpPr>
        <p:grpSpPr>
          <a:xfrm>
            <a:off x="50480" y="122879"/>
            <a:ext cx="277873" cy="68400"/>
            <a:chOff x="411700" y="2416840"/>
            <a:chExt cx="277873" cy="68400"/>
          </a:xfrm>
        </p:grpSpPr>
        <p:sp>
          <p:nvSpPr>
            <p:cNvPr id="558" name="Google Shape;558;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1" name="Google Shape;561;p42"/>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1s Complement Addition/Subtraction</a:t>
            </a:r>
            <a:endParaRPr sz="3400">
              <a:latin typeface="Lexend"/>
              <a:ea typeface="Lexend"/>
              <a:cs typeface="Lexend"/>
              <a:sym typeface="Lexend"/>
            </a:endParaRPr>
          </a:p>
        </p:txBody>
      </p:sp>
      <p:sp>
        <p:nvSpPr>
          <p:cNvPr id="562" name="Google Shape;562;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3" name="Google Shape;563;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0" name="Google Shape;570;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1" name="Google Shape;571;p43"/>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rgbClr val="0000FF"/>
              </a:solidFill>
              <a:latin typeface="Lexend"/>
              <a:ea typeface="Lexend"/>
              <a:cs typeface="Lexend"/>
              <a:sym typeface="Lexend"/>
            </a:endParaRPr>
          </a:p>
        </p:txBody>
      </p:sp>
      <p:grpSp>
        <p:nvGrpSpPr>
          <p:cNvPr id="572" name="Google Shape;572;p43"/>
          <p:cNvGrpSpPr/>
          <p:nvPr/>
        </p:nvGrpSpPr>
        <p:grpSpPr>
          <a:xfrm>
            <a:off x="50480" y="122879"/>
            <a:ext cx="277873" cy="68400"/>
            <a:chOff x="411700" y="2416840"/>
            <a:chExt cx="277873" cy="68400"/>
          </a:xfrm>
        </p:grpSpPr>
        <p:sp>
          <p:nvSpPr>
            <p:cNvPr id="573" name="Google Shape;573;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6" name="Google Shape;576;p43"/>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a:t>
            </a:r>
            <a:r>
              <a:rPr lang="en" sz="3400">
                <a:latin typeface="Lexend"/>
                <a:ea typeface="Lexend"/>
                <a:cs typeface="Lexend"/>
                <a:sym typeface="Lexend"/>
              </a:rPr>
              <a:t>s Complement Addition/Subtraction</a:t>
            </a:r>
            <a:endParaRPr sz="3400">
              <a:latin typeface="Lexend"/>
              <a:ea typeface="Lexend"/>
              <a:cs typeface="Lexend"/>
              <a:sym typeface="Lexend"/>
            </a:endParaRPr>
          </a:p>
        </p:txBody>
      </p:sp>
      <p:sp>
        <p:nvSpPr>
          <p:cNvPr id="577" name="Google Shape;577;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78" name="Google Shape;578;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79" name="Google Shape;579;p43"/>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+3       0011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+4     + 0100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+7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0111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0" name="Google Shape;580;p43"/>
          <p:cNvSpPr txBox="1"/>
          <p:nvPr/>
        </p:nvSpPr>
        <p:spPr>
          <a:xfrm>
            <a:off x="1447800"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-2      1101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-5   +  1010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-7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0111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a:t>
            </a:r>
            <a:r>
              <a:rPr b="1" lang="en" sz="1800">
                <a:solidFill>
                  <a:schemeClr val="dk1"/>
                </a:solidFill>
                <a:latin typeface="Courier New"/>
                <a:ea typeface="Courier New"/>
                <a:cs typeface="Courier New"/>
                <a:sym typeface="Courier New"/>
              </a:rPr>
              <a:t>00</a:t>
            </a:r>
            <a:endParaRPr b="1" sz="1800">
              <a:latin typeface="Courier New"/>
              <a:ea typeface="Courier New"/>
              <a:cs typeface="Courier New"/>
              <a:sym typeface="Courier New"/>
            </a:endParaRPr>
          </a:p>
        </p:txBody>
      </p:sp>
      <p:pic>
        <p:nvPicPr>
          <p:cNvPr id="581" name="Google Shape;581;p43"/>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82" name="Google Shape;582;p43"/>
          <p:cNvSpPr txBox="1"/>
          <p:nvPr/>
        </p:nvSpPr>
        <p:spPr>
          <a:xfrm>
            <a:off x="49530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+5       0101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-5     + 1010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-0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1111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3" name="Google Shape;583;p43"/>
          <p:cNvSpPr txBox="1"/>
          <p:nvPr/>
        </p:nvSpPr>
        <p:spPr>
          <a:xfrm>
            <a:off x="4960125"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-3       1100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-7     + 1000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0101</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9" name="Google Shape;589;p44"/>
          <p:cNvPicPr preferRelativeResize="0"/>
          <p:nvPr/>
        </p:nvPicPr>
        <p:blipFill rotWithShape="1">
          <a:blip r:embed="rId3">
            <a:alphaModFix/>
          </a:blip>
          <a:srcRect b="10185" l="0" r="0" t="0"/>
          <a:stretch/>
        </p:blipFill>
        <p:spPr>
          <a:xfrm>
            <a:off x="0" y="1666325"/>
            <a:ext cx="1304752" cy="337201"/>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590" name="Google Shape;590;p4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591" name="Google Shape;591;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92" name="Google Shape;592;p44"/>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a:t>
            </a:r>
            <a:endParaRPr sz="2000">
              <a:solidFill>
                <a:schemeClr val="dk1"/>
              </a:solidFill>
              <a:latin typeface="Lexend"/>
              <a:ea typeface="Lexend"/>
              <a:cs typeface="Lexend"/>
              <a:sym typeface="Lexend"/>
            </a:endParaRPr>
          </a:p>
        </p:txBody>
      </p:sp>
      <p:grpSp>
        <p:nvGrpSpPr>
          <p:cNvPr id="593" name="Google Shape;593;p44"/>
          <p:cNvGrpSpPr/>
          <p:nvPr/>
        </p:nvGrpSpPr>
        <p:grpSpPr>
          <a:xfrm>
            <a:off x="50480" y="122879"/>
            <a:ext cx="277873" cy="68400"/>
            <a:chOff x="411700" y="2416840"/>
            <a:chExt cx="277873" cy="68400"/>
          </a:xfrm>
        </p:grpSpPr>
        <p:sp>
          <p:nvSpPr>
            <p:cNvPr id="594" name="Google Shape;594;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7" name="Google Shape;597;p44"/>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a:t>
            </a:r>
            <a:endParaRPr sz="3400">
              <a:latin typeface="Lexend"/>
              <a:ea typeface="Lexend"/>
              <a:cs typeface="Lexend"/>
              <a:sym typeface="Lexend"/>
            </a:endParaRPr>
          </a:p>
        </p:txBody>
      </p:sp>
      <p:sp>
        <p:nvSpPr>
          <p:cNvPr id="598" name="Google Shape;598;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9" name="Google Shape;599;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00" name="Google Shape;600;p44"/>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cxnSp>
        <p:nvCxnSpPr>
          <p:cNvPr id="601" name="Google Shape;601;p44"/>
          <p:cNvCxnSpPr/>
          <p:nvPr/>
        </p:nvCxnSpPr>
        <p:spPr>
          <a:xfrm>
            <a:off x="4572000" y="1667903"/>
            <a:ext cx="0" cy="3023700"/>
          </a:xfrm>
          <a:prstGeom prst="straightConnector1">
            <a:avLst/>
          </a:prstGeom>
          <a:noFill/>
          <a:ln cap="flat" cmpd="sng" w="9525">
            <a:solidFill>
              <a:srgbClr val="A9B0FE"/>
            </a:solidFill>
            <a:prstDash val="solid"/>
            <a:round/>
            <a:headEnd len="med" w="med" type="none"/>
            <a:tailEnd len="med" w="med" type="none"/>
          </a:ln>
        </p:spPr>
      </p:cxnSp>
      <p:sp>
        <p:nvSpPr>
          <p:cNvPr id="602" name="Google Shape;602;p44"/>
          <p:cNvSpPr txBox="1"/>
          <p:nvPr/>
        </p:nvSpPr>
        <p:spPr>
          <a:xfrm>
            <a:off x="237625" y="1667900"/>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rPr lang="en">
                <a:solidFill>
                  <a:srgbClr val="000000"/>
                </a:solidFill>
                <a:latin typeface="Lexend"/>
                <a:ea typeface="Lexend"/>
                <a:cs typeface="Lexend"/>
                <a:sym typeface="Lexend"/>
              </a:rPr>
              <a:t>Solution:</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Unsigned 3 = 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 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in 6 bits = 000011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To get -3 in binary, we need to calculate 2’s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So,    111100 (1’s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+1 (Adding 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____________________________</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-3 in 6 bits = 111101 (2’s complement)   </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latin typeface="Lexend"/>
                <a:ea typeface="Lexend"/>
                <a:cs typeface="Lexend"/>
                <a:sym typeface="Lexend"/>
              </a:rPr>
              <a:t>                                                           </a:t>
            </a:r>
            <a:r>
              <a:rPr lang="en">
                <a:solidFill>
                  <a:srgbClr val="000000"/>
                </a:solidFill>
                <a:latin typeface="Lexend"/>
                <a:ea typeface="Lexend"/>
                <a:cs typeface="Lexend"/>
                <a:sym typeface="Lexend"/>
              </a:rPr>
              <a:t>-------- (1)</a:t>
            </a:r>
            <a:endParaRPr>
              <a:solidFill>
                <a:srgbClr val="000000"/>
              </a:solidFill>
              <a:latin typeface="Lexend"/>
              <a:ea typeface="Lexend"/>
              <a:cs typeface="Lexend"/>
              <a:sym typeface="Lexend"/>
            </a:endParaRPr>
          </a:p>
        </p:txBody>
      </p:sp>
      <p:sp>
        <p:nvSpPr>
          <p:cNvPr id="603" name="Google Shape;603;p44"/>
          <p:cNvSpPr txBox="1"/>
          <p:nvPr/>
        </p:nvSpPr>
        <p:spPr>
          <a:xfrm>
            <a:off x="4643900" y="1669313"/>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Unsigned 6 = 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 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in 6 bits = 000110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To get -6 in binary, we need to calculate 2’s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So,    111001 (1’s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 (Adding 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____________________________</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-6 in 6 bits = 111010 (2’s complement)</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 (2)</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9" name="Google Shape;60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10" name="Google Shape;61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11" name="Google Shape;611;p45"/>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 [cont.]</a:t>
            </a:r>
            <a:endParaRPr sz="2000">
              <a:solidFill>
                <a:schemeClr val="dk1"/>
              </a:solidFill>
              <a:latin typeface="Lexend"/>
              <a:ea typeface="Lexend"/>
              <a:cs typeface="Lexend"/>
              <a:sym typeface="Lexend"/>
            </a:endParaRPr>
          </a:p>
        </p:txBody>
      </p:sp>
      <p:grpSp>
        <p:nvGrpSpPr>
          <p:cNvPr id="612" name="Google Shape;612;p45"/>
          <p:cNvGrpSpPr/>
          <p:nvPr/>
        </p:nvGrpSpPr>
        <p:grpSpPr>
          <a:xfrm>
            <a:off x="50480" y="122879"/>
            <a:ext cx="277873" cy="68400"/>
            <a:chOff x="411700" y="2416840"/>
            <a:chExt cx="277873" cy="68400"/>
          </a:xfrm>
        </p:grpSpPr>
        <p:sp>
          <p:nvSpPr>
            <p:cNvPr id="613" name="Google Shape;61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6" name="Google Shape;616;p45"/>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 [Cont.]:</a:t>
            </a:r>
            <a:endParaRPr sz="3400">
              <a:latin typeface="Lexend"/>
              <a:ea typeface="Lexend"/>
              <a:cs typeface="Lexend"/>
              <a:sym typeface="Lexend"/>
            </a:endParaRPr>
          </a:p>
        </p:txBody>
      </p:sp>
      <p:sp>
        <p:nvSpPr>
          <p:cNvPr id="617" name="Google Shape;61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8" name="Google Shape;61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19" name="Google Shape;619;p45"/>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sp>
        <p:nvSpPr>
          <p:cNvPr id="620" name="Google Shape;620;p45"/>
          <p:cNvSpPr txBox="1"/>
          <p:nvPr/>
        </p:nvSpPr>
        <p:spPr>
          <a:xfrm>
            <a:off x="237625" y="1667900"/>
            <a:ext cx="86085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Now, adding (1) and (2),</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111101</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111010</a:t>
            </a:r>
            <a:endParaRPr>
              <a:solidFill>
                <a:schemeClr val="dk1"/>
              </a:solidFill>
              <a:latin typeface="Lexend"/>
              <a:ea typeface="Lexend"/>
              <a:cs typeface="Lexend"/>
              <a:sym typeface="Lexend"/>
            </a:endParaRPr>
          </a:p>
          <a:p>
            <a:pPr indent="457200" lvl="0" marL="9144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_______</a:t>
            </a:r>
            <a:endParaRPr>
              <a:solidFill>
                <a:schemeClr val="dk1"/>
              </a:solidFill>
              <a:latin typeface="Lexend"/>
              <a:ea typeface="Lexend"/>
              <a:cs typeface="Lexend"/>
              <a:sym typeface="Lexend"/>
            </a:endParaRPr>
          </a:p>
          <a:p>
            <a:pPr indent="-165100" lvl="0" marL="1714500" rtl="0" algn="l">
              <a:spcBef>
                <a:spcPts val="560"/>
              </a:spcBef>
              <a:spcAft>
                <a:spcPts val="0"/>
              </a:spcAft>
              <a:buNone/>
            </a:pPr>
            <a:r>
              <a:rPr lang="en">
                <a:solidFill>
                  <a:srgbClr val="FF0000"/>
                </a:solidFill>
                <a:latin typeface="Lexend"/>
                <a:ea typeface="Lexend"/>
                <a:cs typeface="Lexend"/>
                <a:sym typeface="Lexend"/>
              </a:rPr>
              <a:t>1 </a:t>
            </a:r>
            <a:r>
              <a:rPr lang="en">
                <a:solidFill>
                  <a:schemeClr val="dk1"/>
                </a:solidFill>
                <a:latin typeface="Lexend"/>
                <a:ea typeface="Lexend"/>
                <a:cs typeface="Lexend"/>
                <a:sym typeface="Lexend"/>
              </a:rPr>
              <a:t>110111</a:t>
            </a:r>
            <a:endParaRPr>
              <a:solidFill>
                <a:schemeClr val="dk1"/>
              </a:solidFill>
              <a:latin typeface="Lexend"/>
              <a:ea typeface="Lexend"/>
              <a:cs typeface="Lexend"/>
              <a:sym typeface="Lexend"/>
            </a:endParaRPr>
          </a:p>
          <a:p>
            <a:pPr indent="0" lvl="0" marL="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Ignoring the carry, final result is 110111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0" lvl="0" marL="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Here, we are adding two negative numbers and the result is also a negative number. Hence, </a:t>
            </a:r>
            <a:r>
              <a:rPr lang="en">
                <a:solidFill>
                  <a:schemeClr val="dk1"/>
                </a:solidFill>
                <a:latin typeface="Lexend"/>
                <a:ea typeface="Lexend"/>
                <a:cs typeface="Lexend"/>
                <a:sym typeface="Lexend"/>
              </a:rPr>
              <a:t>t</a:t>
            </a:r>
            <a:r>
              <a:rPr lang="en">
                <a:solidFill>
                  <a:schemeClr val="dk1"/>
                </a:solidFill>
                <a:latin typeface="Lexend"/>
                <a:ea typeface="Lexend"/>
                <a:cs typeface="Lexend"/>
                <a:sym typeface="Lexend"/>
              </a:rPr>
              <a:t>here is no overflow.</a:t>
            </a:r>
            <a:endParaRPr>
              <a:solidFill>
                <a:schemeClr val="dk1"/>
              </a:solidFill>
              <a:latin typeface="Lexend"/>
              <a:ea typeface="Lexend"/>
              <a:cs typeface="Lexend"/>
              <a:sym typeface="Lexend"/>
            </a:endParaRPr>
          </a:p>
          <a:p>
            <a:pPr indent="-165100" lvl="0" marL="342900" rtl="0" algn="l">
              <a:spcBef>
                <a:spcPts val="56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