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 Mono Medium"/>
      <p:regular r:id="rId39"/>
      <p:bold r:id="rId40"/>
      <p:italic r:id="rId41"/>
      <p:boldItalic r:id="rId42"/>
    </p:embeddedFont>
    <p:embeddedFont>
      <p:font typeface="Lexend Light"/>
      <p:regular r:id="rId43"/>
      <p:bold r:id="rId44"/>
    </p:embeddedFon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83F045-3C10-4385-8959-DC98EF5961D5}">
  <a:tblStyle styleId="{CD83F045-3C10-4385-8959-DC98EF5961D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8120664-79BB-4E9C-8FEF-70D475F9DB4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Medium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Medium-boldItalic.fntdata"/><Relationship Id="rId41" Type="http://schemas.openxmlformats.org/officeDocument/2006/relationships/font" Target="fonts/RobotoMonoMedium-italic.fntdata"/><Relationship Id="rId22" Type="http://schemas.openxmlformats.org/officeDocument/2006/relationships/slide" Target="slides/slide16.xml"/><Relationship Id="rId44" Type="http://schemas.openxmlformats.org/officeDocument/2006/relationships/font" Target="fonts/LexendLight-bold.fntdata"/><Relationship Id="rId21" Type="http://schemas.openxmlformats.org/officeDocument/2006/relationships/slide" Target="slides/slide15.xml"/><Relationship Id="rId43" Type="http://schemas.openxmlformats.org/officeDocument/2006/relationships/font" Target="fonts/LexendLight-regular.fntdata"/><Relationship Id="rId24" Type="http://schemas.openxmlformats.org/officeDocument/2006/relationships/slide" Target="slides/slide18.xml"/><Relationship Id="rId46" Type="http://schemas.openxmlformats.org/officeDocument/2006/relationships/font" Target="fonts/Lexend-bold.fntdata"/><Relationship Id="rId23" Type="http://schemas.openxmlformats.org/officeDocument/2006/relationships/slide" Target="slides/slide17.xml"/><Relationship Id="rId45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MonoMedium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0609e354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0609e354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0609e35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0609e35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0609e354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0609e354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0609e354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0609e354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0609e3544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0609e3544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0609e3544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0609e3544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0609e3544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0609e3544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0609e3544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0609e3544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0609e3544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0609e3544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0609e3544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60609e3544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1df1bc67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61df1bc67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60609e3544_1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60609e3544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0609e3544_1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60609e3544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0609e3544_1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60609e3544_1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60609e3544_1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60609e3544_1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60609e3544_1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60609e3544_1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60609e3544_1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60609e3544_1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60609e3544_1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60609e3544_1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61df1bc67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61df1bc67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0609e3544_1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60609e3544_1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60609e3544_1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60609e3544_1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6067ab5fa7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6067ab5fa7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9ee4b1ec2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9ee4b1ec2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60609e3544_1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60609e3544_1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9ee4b1ec2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9ee4b1ec2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60609e3544_1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60609e3544_1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60609e3544_1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60609e3544_1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60609e3544_1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60609e3544_1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6067ab5f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6067ab5f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6067ab5fa7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6067ab5fa7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10" Type="http://schemas.openxmlformats.org/officeDocument/2006/relationships/image" Target="../media/image18.png"/><Relationship Id="rId9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5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Karnaugh Maps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050" y="2052575"/>
            <a:ext cx="2436864" cy="24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9384" y="2052575"/>
            <a:ext cx="2786916" cy="243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28350" y="766838"/>
            <a:ext cx="8630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method provides a simple procedure for minimizing Boolean functions.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is made up of squares where each square represent a minterm.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We  represent each minterm of an equation by ‘1’s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" name="Google Shape;69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map method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328350" y="2410225"/>
            <a:ext cx="56388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We groups the adjacent ‘1’s  in groups of 2, groups of 4 or groups of 8 and so on.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In those grouping try to find the common literal.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method is often known as Karnaugh Map or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Veitch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Diagram. In short we will call it K-map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6" name="Google Shape;76;p14"/>
          <p:cNvGraphicFramePr/>
          <p:nvPr/>
        </p:nvGraphicFramePr>
        <p:xfrm>
          <a:off x="5742687" y="362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7" name="Google Shape;77;p14"/>
          <p:cNvCxnSpPr/>
          <p:nvPr/>
        </p:nvCxnSpPr>
        <p:spPr>
          <a:xfrm rot="10800000">
            <a:off x="5361167" y="32519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4"/>
          <p:cNvSpPr txBox="1"/>
          <p:nvPr/>
        </p:nvSpPr>
        <p:spPr>
          <a:xfrm>
            <a:off x="7346600" y="33997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7662212" y="3177238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0" name="Google Shape;80;p14"/>
          <p:cNvGraphicFramePr/>
          <p:nvPr/>
        </p:nvGraphicFramePr>
        <p:xfrm>
          <a:off x="7839537" y="362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1" name="Google Shape;81;p14"/>
          <p:cNvCxnSpPr/>
          <p:nvPr/>
        </p:nvCxnSpPr>
        <p:spPr>
          <a:xfrm rot="10800000">
            <a:off x="7458017" y="32519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28350" y="1120638"/>
            <a:ext cx="8630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Group the adjacent '1's in groups of 2, 4, 8 and so on [2^n].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maximum number of 1 if possible.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cover a 1 multiple times only if that covered 1 can help another uncovered 1 to get covered.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Our target is to group all the '1's.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case of "don't care" we can consider 'X' to create groups alongside '1's. Other rules stay same as always.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However, you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cannot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create groups with 'X's only. 'X' can be only used to create groups if it is helping any uncovered '1's.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" name="Google Shape;90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" name="Google Shape;91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 Map Grouping Rules: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2" name="Google Shape;102;p16"/>
          <p:cNvGraphicFramePr/>
          <p:nvPr/>
        </p:nvGraphicFramePr>
        <p:xfrm>
          <a:off x="444923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3" name="Google Shape;103;p16"/>
          <p:cNvCxnSpPr/>
          <p:nvPr/>
        </p:nvCxnSpPr>
        <p:spPr>
          <a:xfrm rot="10800000">
            <a:off x="4067717" y="235772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6"/>
          <p:cNvSpPr txBox="1"/>
          <p:nvPr/>
        </p:nvSpPr>
        <p:spPr>
          <a:xfrm>
            <a:off x="6053150" y="250555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368762" y="228305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654608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7" name="Google Shape;107;p16"/>
          <p:cNvCxnSpPr/>
          <p:nvPr/>
        </p:nvCxnSpPr>
        <p:spPr>
          <a:xfrm rot="10800000">
            <a:off x="6164567" y="235772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8" name="Google Shape;108;p16"/>
          <p:cNvGraphicFramePr/>
          <p:nvPr/>
        </p:nvGraphicFramePr>
        <p:xfrm>
          <a:off x="249393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28350" y="11206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There are 4 minterm of 2 variable; hence the map is four squares, one for each minterm.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3" name="Google Shape;113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" name="Google Shape;119;p16"/>
          <p:cNvGrpSpPr/>
          <p:nvPr/>
        </p:nvGrpSpPr>
        <p:grpSpPr>
          <a:xfrm>
            <a:off x="1161764" y="2081962"/>
            <a:ext cx="3503618" cy="1888170"/>
            <a:chOff x="1875255" y="4608649"/>
            <a:chExt cx="4079192" cy="1897659"/>
          </a:xfrm>
        </p:grpSpPr>
        <p:sp>
          <p:nvSpPr>
            <p:cNvPr id="120" name="Google Shape;120;p16"/>
            <p:cNvSpPr txBox="1"/>
            <p:nvPr/>
          </p:nvSpPr>
          <p:spPr>
            <a:xfrm>
              <a:off x="3879947" y="4608649"/>
              <a:ext cx="2074500" cy="2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300"/>
                <a:buFont typeface="Calibri"/>
                <a:buNone/>
              </a:pPr>
              <a:r>
                <a:rPr i="0" lang="en" sz="1300" u="none">
                  <a:solidFill>
                    <a:srgbClr val="FF0000"/>
                  </a:solidFill>
                  <a:latin typeface="Lexend"/>
                  <a:ea typeface="Lexend"/>
                  <a:cs typeface="Lexend"/>
                  <a:sym typeface="Lexend"/>
                </a:rPr>
                <a:t>Only 1 bit changes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1" name="Google Shape;121;p16"/>
            <p:cNvGrpSpPr/>
            <p:nvPr/>
          </p:nvGrpSpPr>
          <p:grpSpPr>
            <a:xfrm>
              <a:off x="1875255" y="4930572"/>
              <a:ext cx="2608005" cy="1575736"/>
              <a:chOff x="1939649" y="4928226"/>
              <a:chExt cx="2608005" cy="1575736"/>
            </a:xfrm>
          </p:grpSpPr>
          <p:sp>
            <p:nvSpPr>
              <p:cNvPr id="122" name="Google Shape;122;p16"/>
              <p:cNvSpPr txBox="1"/>
              <p:nvPr/>
            </p:nvSpPr>
            <p:spPr>
              <a:xfrm>
                <a:off x="1939649" y="5438646"/>
                <a:ext cx="1176900" cy="4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300"/>
                  <a:buFont typeface="Calibri"/>
                  <a:buNone/>
                </a:pPr>
                <a:r>
                  <a:rPr i="0" lang="en" sz="1300" u="none">
                    <a:solidFill>
                      <a:srgbClr val="FF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Only 1 bit changes 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23" name="Google Shape;123;p16"/>
              <p:cNvGrpSpPr/>
              <p:nvPr/>
            </p:nvGrpSpPr>
            <p:grpSpPr>
              <a:xfrm>
                <a:off x="3294456" y="4928226"/>
                <a:ext cx="1253198" cy="1575736"/>
                <a:chOff x="3294456" y="4928226"/>
                <a:chExt cx="1253198" cy="1575736"/>
              </a:xfrm>
            </p:grpSpPr>
            <p:sp>
              <p:nvSpPr>
                <p:cNvPr id="124" name="Google Shape;124;p16"/>
                <p:cNvSpPr/>
                <p:nvPr/>
              </p:nvSpPr>
              <p:spPr>
                <a:xfrm>
                  <a:off x="3294456" y="5466179"/>
                  <a:ext cx="450900" cy="595200"/>
                </a:xfrm>
                <a:prstGeom prst="leftBracket">
                  <a:avLst>
                    <a:gd fmla="val 1364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 rot="5400000">
                  <a:off x="4048004" y="4832976"/>
                  <a:ext cx="404400" cy="594900"/>
                </a:xfrm>
                <a:prstGeom prst="leftBracket">
                  <a:avLst>
                    <a:gd fmla="val 1224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 rot="-5400000">
                  <a:off x="4019369" y="6039112"/>
                  <a:ext cx="336900" cy="592800"/>
                </a:xfrm>
                <a:prstGeom prst="leftBracket">
                  <a:avLst>
                    <a:gd fmla="val 1023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27" name="Google Shape;127;p16"/>
            <p:cNvSpPr/>
            <p:nvPr/>
          </p:nvSpPr>
          <p:spPr>
            <a:xfrm>
              <a:off x="4373182" y="5438875"/>
              <a:ext cx="486900" cy="559200"/>
            </a:xfrm>
            <a:prstGeom prst="rightBracket">
              <a:avLst>
                <a:gd fmla="val 1567" name="adj"/>
              </a:avLst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28350" y="1120650"/>
            <a:ext cx="43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(a) F1=xy;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" name="Google Shape;136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7" name="Google Shape;137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Representing function in K-map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894525" y="1120660"/>
            <a:ext cx="43134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(b)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F2=xy’+xy+x’y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x(y’+y)+x’y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x+x’y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(x+x’)(x+y)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(1)(x+y)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" name="Google Shape;144;p17"/>
          <p:cNvCxnSpPr/>
          <p:nvPr/>
        </p:nvCxnSpPr>
        <p:spPr>
          <a:xfrm>
            <a:off x="3712750" y="1120650"/>
            <a:ext cx="0" cy="37908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7"/>
          <p:cNvSpPr txBox="1"/>
          <p:nvPr/>
        </p:nvSpPr>
        <p:spPr>
          <a:xfrm>
            <a:off x="865500" y="21907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181101" y="19682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7" name="Google Shape;147;p17"/>
          <p:cNvGraphicFramePr/>
          <p:nvPr/>
        </p:nvGraphicFramePr>
        <p:xfrm>
          <a:off x="1358437" y="2418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48" name="Google Shape;148;p17"/>
          <p:cNvCxnSpPr/>
          <p:nvPr/>
        </p:nvCxnSpPr>
        <p:spPr>
          <a:xfrm rot="10800000">
            <a:off x="976917" y="20429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7"/>
          <p:cNvSpPr txBox="1"/>
          <p:nvPr/>
        </p:nvSpPr>
        <p:spPr>
          <a:xfrm>
            <a:off x="1042825" y="25381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1445998" y="2113100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13224" y="30475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2006574" y="16687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01975" y="29605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 rot="5400000">
            <a:off x="2075125" y="17670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912500" y="22446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228101" y="20221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7" name="Google Shape;157;p17"/>
          <p:cNvGraphicFramePr/>
          <p:nvPr/>
        </p:nvGraphicFramePr>
        <p:xfrm>
          <a:off x="7405437" y="24726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58" name="Google Shape;158;p17"/>
          <p:cNvCxnSpPr/>
          <p:nvPr/>
        </p:nvCxnSpPr>
        <p:spPr>
          <a:xfrm rot="10800000">
            <a:off x="7023917" y="20968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7"/>
          <p:cNvSpPr txBox="1"/>
          <p:nvPr/>
        </p:nvSpPr>
        <p:spPr>
          <a:xfrm>
            <a:off x="7089825" y="25920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492998" y="2167000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660224" y="31014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8053574" y="17226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948975" y="30144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 rot="5400000">
            <a:off x="8122125" y="1820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521338" y="3086725"/>
            <a:ext cx="835200" cy="33720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003475" y="2572225"/>
            <a:ext cx="3780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960100" y="3032825"/>
            <a:ext cx="378000" cy="33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2728188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328350" y="1120650"/>
            <a:ext cx="78024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F=xy’+x’y’+x’y,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the equation using k-map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F=xy’+x’y’+x’y=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x’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y’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8" name="Google Shape;178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830900" y="2869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6146501" y="26466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18"/>
          <p:cNvGraphicFramePr/>
          <p:nvPr/>
        </p:nvGraphicFramePr>
        <p:xfrm>
          <a:off x="6323837" y="3097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87" name="Google Shape;187;p18"/>
          <p:cNvCxnSpPr/>
          <p:nvPr/>
        </p:nvCxnSpPr>
        <p:spPr>
          <a:xfrm rot="10800000">
            <a:off x="5942317" y="27212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18"/>
          <p:cNvSpPr txBox="1"/>
          <p:nvPr/>
        </p:nvSpPr>
        <p:spPr>
          <a:xfrm>
            <a:off x="6008225" y="32165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411398" y="2791475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5578624" y="37259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6971974" y="23471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867375" y="3638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 rot="5400000">
            <a:off x="7040525" y="244537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411400" y="3176900"/>
            <a:ext cx="3780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6462100" y="3205800"/>
            <a:ext cx="835200" cy="33720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328350" y="892038"/>
            <a:ext cx="86307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Sequence in 3-variable map is not in binary sequence but in reflected code. Here, at a time only 1 bit changes from 0 to 1 and 1 to 0.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Numbering of minterms follow binary numbers. 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 m5 is at 101 i.e. row 1 and column 01.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" name="Google Shape;204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5" name="Google Shape;205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02875" y="4607100"/>
            <a:ext cx="8772000" cy="3078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Any 2 adjacent square differ by 1 variable ( which is primed in one and unprimed in the other )</a:t>
            </a:r>
            <a:endParaRPr sz="13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3278338" y="28315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3593937" y="26090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" name="Google Shape;214;p19"/>
          <p:cNvGraphicFramePr/>
          <p:nvPr/>
        </p:nvGraphicFramePr>
        <p:xfrm>
          <a:off x="3771275" y="3059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15" name="Google Shape;215;p19"/>
          <p:cNvCxnSpPr/>
          <p:nvPr/>
        </p:nvCxnSpPr>
        <p:spPr>
          <a:xfrm rot="10800000">
            <a:off x="3389754" y="26837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19"/>
          <p:cNvSpPr txBox="1"/>
          <p:nvPr/>
        </p:nvSpPr>
        <p:spPr>
          <a:xfrm>
            <a:off x="3455663" y="31789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858840" y="27539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3026062" y="36883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5333812" y="23095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3314813" y="36013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 rot="5400000">
            <a:off x="5402363" y="21956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4769624" y="43443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9"/>
          <p:cNvSpPr/>
          <p:nvPr/>
        </p:nvSpPr>
        <p:spPr>
          <a:xfrm rot="-5400000">
            <a:off x="4838188" y="37641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351863" y="27865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667462" y="25640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" name="Google Shape;226;p19"/>
          <p:cNvGraphicFramePr/>
          <p:nvPr/>
        </p:nvGraphicFramePr>
        <p:xfrm>
          <a:off x="6844799" y="3014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x’yz’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27" name="Google Shape;227;p19"/>
          <p:cNvCxnSpPr/>
          <p:nvPr/>
        </p:nvCxnSpPr>
        <p:spPr>
          <a:xfrm rot="10800000">
            <a:off x="6463279" y="26387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19"/>
          <p:cNvSpPr txBox="1"/>
          <p:nvPr/>
        </p:nvSpPr>
        <p:spPr>
          <a:xfrm>
            <a:off x="6529188" y="31339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6932365" y="27089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099587" y="36433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8407337" y="22645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388338" y="35563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 rot="5400000">
            <a:off x="8475888" y="21506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7843149" y="42993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19"/>
          <p:cNvSpPr/>
          <p:nvPr/>
        </p:nvSpPr>
        <p:spPr>
          <a:xfrm rot="-5400000">
            <a:off x="7911713" y="37191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6" name="Google Shape;236;p19"/>
          <p:cNvGraphicFramePr/>
          <p:nvPr/>
        </p:nvGraphicFramePr>
        <p:xfrm>
          <a:off x="409024" y="3017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28350" y="892047"/>
            <a:ext cx="86307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any 2 adjacent square differ by 1 variable ( which is primed in one and unprimed in the other ) and they are grouped, then any 2 minterms in the adjacent square are </a:t>
            </a:r>
            <a:r>
              <a:rPr b="1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ed, will remove the different term. As a result , we get a single </a:t>
            </a:r>
            <a:r>
              <a:rPr b="1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ed term of only 2 common literals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F1=∑(5,7)  = xy’z+xyz   =xz(y’+y)  =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F2=∑(0,2)  = x’y’z’+x’yz'  =x’z’(y’+y)  =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x’z’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" name="Google Shape;245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6" name="Google Shape;246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2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478500" y="30900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1794100" y="28675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4" name="Google Shape;254;p20"/>
          <p:cNvGraphicFramePr/>
          <p:nvPr/>
        </p:nvGraphicFramePr>
        <p:xfrm>
          <a:off x="1971437" y="3318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55" name="Google Shape;255;p20"/>
          <p:cNvCxnSpPr/>
          <p:nvPr/>
        </p:nvCxnSpPr>
        <p:spPr>
          <a:xfrm rot="10800000">
            <a:off x="1589917" y="29422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0"/>
          <p:cNvSpPr txBox="1"/>
          <p:nvPr/>
        </p:nvSpPr>
        <p:spPr>
          <a:xfrm>
            <a:off x="1655825" y="34374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2059002" y="30124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1226224" y="3946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3533974" y="25680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514975" y="38598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 rot="5400000">
            <a:off x="3602525" y="24541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2969787" y="46027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 rot="-5400000">
            <a:off x="3038350" y="40225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20"/>
          <p:cNvCxnSpPr>
            <a:stCxn id="265" idx="0"/>
          </p:cNvCxnSpPr>
          <p:nvPr/>
        </p:nvCxnSpPr>
        <p:spPr>
          <a:xfrm flipH="1" rot="10800000">
            <a:off x="3110575" y="2492300"/>
            <a:ext cx="577800" cy="143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65" name="Google Shape;265;p20"/>
          <p:cNvSpPr txBox="1"/>
          <p:nvPr/>
        </p:nvSpPr>
        <p:spPr>
          <a:xfrm>
            <a:off x="2651125" y="39299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5395550" y="30900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711150" y="28675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8" name="Google Shape;268;p20"/>
          <p:cNvGraphicFramePr/>
          <p:nvPr/>
        </p:nvGraphicFramePr>
        <p:xfrm>
          <a:off x="5888487" y="3318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69" name="Google Shape;269;p20"/>
          <p:cNvCxnSpPr/>
          <p:nvPr/>
        </p:nvCxnSpPr>
        <p:spPr>
          <a:xfrm rot="10800000">
            <a:off x="5506967" y="29422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0"/>
          <p:cNvSpPr txBox="1"/>
          <p:nvPr/>
        </p:nvSpPr>
        <p:spPr>
          <a:xfrm>
            <a:off x="5572875" y="34374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976052" y="30124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5143274" y="3946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7451024" y="25680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432025" y="38598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 rot="5400000">
            <a:off x="7519575" y="24541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6886837" y="46027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/>
          <p:nvPr/>
        </p:nvSpPr>
        <p:spPr>
          <a:xfrm rot="-5400000">
            <a:off x="6955400" y="40225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" name="Google Shape;278;p20"/>
          <p:cNvCxnSpPr/>
          <p:nvPr/>
        </p:nvCxnSpPr>
        <p:spPr>
          <a:xfrm flipH="1" rot="10800000">
            <a:off x="8036725" y="2513475"/>
            <a:ext cx="211800" cy="92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79" name="Google Shape;279;p20"/>
          <p:cNvSpPr/>
          <p:nvPr/>
        </p:nvSpPr>
        <p:spPr>
          <a:xfrm>
            <a:off x="7772125" y="343957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280" name="Google Shape;280;p20"/>
          <p:cNvSpPr/>
          <p:nvPr/>
        </p:nvSpPr>
        <p:spPr>
          <a:xfrm flipH="1">
            <a:off x="5884975" y="343957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328350" y="892038"/>
            <a:ext cx="8630700" cy="3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F=∑(2,3,4,5)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=x’yz+x’yz’+xy’z’+xy’z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(note: in other words, F= (∑(010,011,100,101) so place ‘1’ in those positions and group the adjacent ones)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F=x’y+xy’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Grouping of 1 can be done in groups of 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two ‘1’,four ‘1’,eight ‘1’.…2</a:t>
            </a:r>
            <a:r>
              <a:rPr b="1" baseline="30000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‘1’.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9" name="Google Shape;289;p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0" name="Google Shape;290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2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Simplifying functions using k-map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957797" y="2297147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x’y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178450" y="398413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6154700" y="2819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6470300" y="259660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0" name="Google Shape;300;p21"/>
          <p:cNvGraphicFramePr/>
          <p:nvPr/>
        </p:nvGraphicFramePr>
        <p:xfrm>
          <a:off x="6647637" y="3047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01" name="Google Shape;301;p21"/>
          <p:cNvCxnSpPr/>
          <p:nvPr/>
        </p:nvCxnSpPr>
        <p:spPr>
          <a:xfrm rot="10800000">
            <a:off x="6266117" y="26712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1"/>
          <p:cNvSpPr txBox="1"/>
          <p:nvPr/>
        </p:nvSpPr>
        <p:spPr>
          <a:xfrm>
            <a:off x="6332025" y="31665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6735202" y="2741475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5902424" y="36759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8210174" y="22971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191175" y="3588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 rot="5400000">
            <a:off x="8278725" y="21832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7645987" y="4331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 rot="-5400000">
            <a:off x="7714550" y="37516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7889625" y="31269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21"/>
          <p:cNvCxnSpPr>
            <a:stCxn id="310" idx="1"/>
            <a:endCxn id="296" idx="2"/>
          </p:cNvCxnSpPr>
          <p:nvPr/>
        </p:nvCxnSpPr>
        <p:spPr>
          <a:xfrm rot="10800000">
            <a:off x="5393025" y="2635800"/>
            <a:ext cx="2496600" cy="659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2" name="Google Shape;312;p21"/>
          <p:cNvCxnSpPr>
            <a:stCxn id="313" idx="1"/>
            <a:endCxn id="297" idx="3"/>
          </p:cNvCxnSpPr>
          <p:nvPr/>
        </p:nvCxnSpPr>
        <p:spPr>
          <a:xfrm flipH="1">
            <a:off x="5663300" y="3806488"/>
            <a:ext cx="1071900" cy="347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13" name="Google Shape;313;p21"/>
          <p:cNvSpPr txBox="1"/>
          <p:nvPr/>
        </p:nvSpPr>
        <p:spPr>
          <a:xfrm>
            <a:off x="6735200" y="3637888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328350" y="892038"/>
            <a:ext cx="86307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F1=x’yz+xy’z’+xyz+xyz’   =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xz’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2" name="Google Shape;322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23" name="Google Shape;323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9" name="Google Shape;329;p22"/>
          <p:cNvGrpSpPr/>
          <p:nvPr/>
        </p:nvGrpSpPr>
        <p:grpSpPr>
          <a:xfrm>
            <a:off x="475100" y="1282356"/>
            <a:ext cx="3026578" cy="459142"/>
            <a:chOff x="1339403" y="2215166"/>
            <a:chExt cx="3160586" cy="612271"/>
          </a:xfrm>
        </p:grpSpPr>
        <p:cxnSp>
          <p:nvCxnSpPr>
            <p:cNvPr id="330" name="Google Shape;330;p22"/>
            <p:cNvCxnSpPr/>
            <p:nvPr/>
          </p:nvCxnSpPr>
          <p:spPr>
            <a:xfrm flipH="1">
              <a:off x="1581307" y="2227867"/>
              <a:ext cx="222300" cy="1800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1" name="Google Shape;331;p22"/>
            <p:cNvCxnSpPr/>
            <p:nvPr/>
          </p:nvCxnSpPr>
          <p:spPr>
            <a:xfrm>
              <a:off x="2575723" y="2215166"/>
              <a:ext cx="295200" cy="1545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2" name="Google Shape;332;p22"/>
            <p:cNvCxnSpPr/>
            <p:nvPr/>
          </p:nvCxnSpPr>
          <p:spPr>
            <a:xfrm>
              <a:off x="3294129" y="2215166"/>
              <a:ext cx="192300" cy="1926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3" name="Google Shape;333;p22"/>
            <p:cNvCxnSpPr/>
            <p:nvPr/>
          </p:nvCxnSpPr>
          <p:spPr>
            <a:xfrm>
              <a:off x="3755691" y="2215166"/>
              <a:ext cx="245400" cy="1926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34" name="Google Shape;334;p22"/>
            <p:cNvSpPr txBox="1"/>
            <p:nvPr/>
          </p:nvSpPr>
          <p:spPr>
            <a:xfrm>
              <a:off x="1339403" y="2369697"/>
              <a:ext cx="6183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011</a:t>
              </a:r>
              <a:endParaRPr/>
            </a:p>
          </p:txBody>
        </p:sp>
        <p:sp>
          <p:nvSpPr>
            <p:cNvPr id="335" name="Google Shape;335;p22"/>
            <p:cNvSpPr txBox="1"/>
            <p:nvPr/>
          </p:nvSpPr>
          <p:spPr>
            <a:xfrm>
              <a:off x="2613854" y="2380281"/>
              <a:ext cx="6183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3294129" y="2437437"/>
              <a:ext cx="649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111</a:t>
              </a:r>
              <a:endParaRPr/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3850189" y="2369697"/>
              <a:ext cx="649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/>
            </a:p>
          </p:txBody>
        </p:sp>
      </p:grpSp>
      <p:sp>
        <p:nvSpPr>
          <p:cNvPr id="338" name="Google Shape;338;p22"/>
          <p:cNvSpPr txBox="1"/>
          <p:nvPr/>
        </p:nvSpPr>
        <p:spPr>
          <a:xfrm>
            <a:off x="790250" y="25505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1105850" y="23280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0" name="Google Shape;340;p22"/>
          <p:cNvGraphicFramePr/>
          <p:nvPr/>
        </p:nvGraphicFramePr>
        <p:xfrm>
          <a:off x="1283187" y="2778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41" name="Google Shape;341;p22"/>
          <p:cNvCxnSpPr/>
          <p:nvPr/>
        </p:nvCxnSpPr>
        <p:spPr>
          <a:xfrm rot="10800000">
            <a:off x="901667" y="24027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22"/>
          <p:cNvSpPr txBox="1"/>
          <p:nvPr/>
        </p:nvSpPr>
        <p:spPr>
          <a:xfrm>
            <a:off x="967575" y="28979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1370752" y="24729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537974" y="34073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2845724" y="20285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826725" y="33203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 rot="5400000">
            <a:off x="2914275" y="19146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2281537" y="40632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/>
          <p:nvPr/>
        </p:nvSpPr>
        <p:spPr>
          <a:xfrm rot="-5400000">
            <a:off x="2350100" y="34830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4025100" y="340665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4021950" y="294663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2" name="Google Shape;352;p22"/>
          <p:cNvCxnSpPr>
            <a:endCxn id="350" idx="1"/>
          </p:cNvCxnSpPr>
          <p:nvPr/>
        </p:nvCxnSpPr>
        <p:spPr>
          <a:xfrm>
            <a:off x="3565200" y="3571800"/>
            <a:ext cx="459900" cy="4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3" name="Google Shape;353;p22"/>
          <p:cNvCxnSpPr>
            <a:stCxn id="354" idx="3"/>
            <a:endCxn id="351" idx="1"/>
          </p:cNvCxnSpPr>
          <p:nvPr/>
        </p:nvCxnSpPr>
        <p:spPr>
          <a:xfrm flipH="1" rot="10800000">
            <a:off x="2903175" y="3116121"/>
            <a:ext cx="1118700" cy="159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54" name="Google Shape;354;p22"/>
          <p:cNvSpPr txBox="1"/>
          <p:nvPr/>
        </p:nvSpPr>
        <p:spPr>
          <a:xfrm>
            <a:off x="2525175" y="2824071"/>
            <a:ext cx="378000" cy="90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3162250" y="341702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56" name="Google Shape;356;p22"/>
          <p:cNvSpPr/>
          <p:nvPr/>
        </p:nvSpPr>
        <p:spPr>
          <a:xfrm flipH="1">
            <a:off x="1275100" y="341702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57" name="Google Shape;357;p22"/>
          <p:cNvSpPr/>
          <p:nvPr/>
        </p:nvSpPr>
        <p:spPr>
          <a:xfrm>
            <a:off x="5708700" y="2833125"/>
            <a:ext cx="3435300" cy="960600"/>
          </a:xfrm>
          <a:prstGeom prst="roundRect">
            <a:avLst>
              <a:gd fmla="val 50000" name="adj"/>
            </a:avLst>
          </a:prstGeom>
          <a:solidFill>
            <a:srgbClr val="119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Notice even 2 opposite edges of the map are adjacent, thus they can be grouped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8" name="Google Shape;358;p22"/>
          <p:cNvCxnSpPr>
            <a:endCxn id="357" idx="1"/>
          </p:cNvCxnSpPr>
          <p:nvPr/>
        </p:nvCxnSpPr>
        <p:spPr>
          <a:xfrm flipH="1" rot="10800000">
            <a:off x="3557700" y="3313425"/>
            <a:ext cx="2151000" cy="108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328350" y="892038"/>
            <a:ext cx="8630700" cy="4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F=∑(0,2,4,6), then simplify it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= x’y’z’ + x’yz’ + xy’z’ + xyz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           	= x’z’(y’+y) + xz’(y’+y)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              	= x’z’ +xz’	= z’(x’+x)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		= </a:t>
            </a: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7" name="Google Shape;367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68" name="Google Shape;368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2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4" name="Google Shape;374;p23"/>
          <p:cNvGrpSpPr/>
          <p:nvPr/>
        </p:nvGrpSpPr>
        <p:grpSpPr>
          <a:xfrm>
            <a:off x="940616" y="1325175"/>
            <a:ext cx="2751182" cy="593321"/>
            <a:chOff x="1339403" y="2038058"/>
            <a:chExt cx="3668732" cy="789200"/>
          </a:xfrm>
        </p:grpSpPr>
        <p:cxnSp>
          <p:nvCxnSpPr>
            <p:cNvPr id="375" name="Google Shape;375;p23"/>
            <p:cNvCxnSpPr/>
            <p:nvPr/>
          </p:nvCxnSpPr>
          <p:spPr>
            <a:xfrm flipH="1">
              <a:off x="1580702" y="2067953"/>
              <a:ext cx="411300" cy="3405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6" name="Google Shape;376;p23"/>
            <p:cNvCxnSpPr/>
            <p:nvPr/>
          </p:nvCxnSpPr>
          <p:spPr>
            <a:xfrm>
              <a:off x="2389466" y="2072834"/>
              <a:ext cx="328200" cy="3357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7" name="Google Shape;377;p23"/>
            <p:cNvCxnSpPr/>
            <p:nvPr/>
          </p:nvCxnSpPr>
          <p:spPr>
            <a:xfrm>
              <a:off x="2690862" y="2048034"/>
              <a:ext cx="1070400" cy="3603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8" name="Google Shape;378;p23"/>
            <p:cNvCxnSpPr/>
            <p:nvPr/>
          </p:nvCxnSpPr>
          <p:spPr>
            <a:xfrm>
              <a:off x="3050276" y="2038058"/>
              <a:ext cx="1458300" cy="3072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79" name="Google Shape;379;p23"/>
            <p:cNvSpPr txBox="1"/>
            <p:nvPr/>
          </p:nvSpPr>
          <p:spPr>
            <a:xfrm>
              <a:off x="1339403" y="2370584"/>
              <a:ext cx="6183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000</a:t>
              </a:r>
              <a:endParaRPr/>
            </a:p>
          </p:txBody>
        </p:sp>
        <p:sp>
          <p:nvSpPr>
            <p:cNvPr id="380" name="Google Shape;380;p23"/>
            <p:cNvSpPr txBox="1"/>
            <p:nvPr/>
          </p:nvSpPr>
          <p:spPr>
            <a:xfrm>
              <a:off x="2717611" y="2379031"/>
              <a:ext cx="6183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010</a:t>
              </a:r>
              <a:endParaRPr/>
            </a:p>
          </p:txBody>
        </p:sp>
        <p:sp>
          <p:nvSpPr>
            <p:cNvPr id="381" name="Google Shape;381;p23"/>
            <p:cNvSpPr txBox="1"/>
            <p:nvPr/>
          </p:nvSpPr>
          <p:spPr>
            <a:xfrm>
              <a:off x="3644884" y="2438158"/>
              <a:ext cx="6498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  <p:sp>
          <p:nvSpPr>
            <p:cNvPr id="382" name="Google Shape;382;p23"/>
            <p:cNvSpPr txBox="1"/>
            <p:nvPr/>
          </p:nvSpPr>
          <p:spPr>
            <a:xfrm>
              <a:off x="4358335" y="2370584"/>
              <a:ext cx="6498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/>
            </a:p>
          </p:txBody>
        </p:sp>
      </p:grpSp>
      <p:sp>
        <p:nvSpPr>
          <p:cNvPr id="383" name="Google Shape;383;p23"/>
          <p:cNvSpPr txBox="1"/>
          <p:nvPr/>
        </p:nvSpPr>
        <p:spPr>
          <a:xfrm>
            <a:off x="6253650" y="21336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3"/>
          <p:cNvSpPr txBox="1"/>
          <p:nvPr/>
        </p:nvSpPr>
        <p:spPr>
          <a:xfrm>
            <a:off x="6569250" y="19111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5" name="Google Shape;385;p23"/>
          <p:cNvGraphicFramePr/>
          <p:nvPr/>
        </p:nvGraphicFramePr>
        <p:xfrm>
          <a:off x="6746587" y="23616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86" name="Google Shape;386;p23"/>
          <p:cNvCxnSpPr/>
          <p:nvPr/>
        </p:nvCxnSpPr>
        <p:spPr>
          <a:xfrm rot="10800000">
            <a:off x="6365067" y="19858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23"/>
          <p:cNvSpPr txBox="1"/>
          <p:nvPr/>
        </p:nvSpPr>
        <p:spPr>
          <a:xfrm>
            <a:off x="6430975" y="24810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3"/>
          <p:cNvSpPr txBox="1"/>
          <p:nvPr/>
        </p:nvSpPr>
        <p:spPr>
          <a:xfrm>
            <a:off x="6834152" y="20560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3"/>
          <p:cNvSpPr txBox="1"/>
          <p:nvPr/>
        </p:nvSpPr>
        <p:spPr>
          <a:xfrm>
            <a:off x="6001374" y="29904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3"/>
          <p:cNvSpPr txBox="1"/>
          <p:nvPr/>
        </p:nvSpPr>
        <p:spPr>
          <a:xfrm>
            <a:off x="8309124" y="16116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6290125" y="29034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 rot="5400000">
            <a:off x="8377675" y="14977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"/>
          <p:cNvSpPr txBox="1"/>
          <p:nvPr/>
        </p:nvSpPr>
        <p:spPr>
          <a:xfrm>
            <a:off x="7744937" y="36464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3"/>
          <p:cNvSpPr/>
          <p:nvPr/>
        </p:nvSpPr>
        <p:spPr>
          <a:xfrm rot="-5400000">
            <a:off x="7813500" y="30662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8633875" y="2441450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96" name="Google Shape;396;p23"/>
          <p:cNvSpPr/>
          <p:nvPr/>
        </p:nvSpPr>
        <p:spPr>
          <a:xfrm flipH="1">
            <a:off x="6746725" y="2441450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97" name="Google Shape;397;p23"/>
          <p:cNvSpPr txBox="1"/>
          <p:nvPr/>
        </p:nvSpPr>
        <p:spPr>
          <a:xfrm>
            <a:off x="5387700" y="244145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8" name="Google Shape;398;p23"/>
          <p:cNvCxnSpPr>
            <a:endCxn id="397" idx="3"/>
          </p:cNvCxnSpPr>
          <p:nvPr/>
        </p:nvCxnSpPr>
        <p:spPr>
          <a:xfrm flipH="1">
            <a:off x="5866200" y="2444900"/>
            <a:ext cx="919800" cy="16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9451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05" name="Google Shape;40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07" name="Google Shape;407;p24"/>
          <p:cNvSpPr txBox="1"/>
          <p:nvPr/>
        </p:nvSpPr>
        <p:spPr>
          <a:xfrm>
            <a:off x="328350" y="892038"/>
            <a:ext cx="86307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F=∑(0,2,4,5,6), Simplify it.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8" name="Google Shape;408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09" name="Google Shape;409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2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4"/>
          <p:cNvSpPr txBox="1"/>
          <p:nvPr/>
        </p:nvSpPr>
        <p:spPr>
          <a:xfrm>
            <a:off x="3614700" y="3981175"/>
            <a:ext cx="19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b="1"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    </a:t>
            </a:r>
            <a:r>
              <a:rPr b="1" i="0" lang="en" sz="18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r>
              <a:rPr b="1"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+</a:t>
            </a:r>
            <a:r>
              <a:rPr b="1" i="0" lang="en" sz="18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 z’</a:t>
            </a:r>
            <a:endParaRPr sz="19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4"/>
          <p:cNvSpPr txBox="1"/>
          <p:nvPr/>
        </p:nvSpPr>
        <p:spPr>
          <a:xfrm>
            <a:off x="5889850" y="257681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6205450" y="23543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18" name="Google Shape;418;p24"/>
          <p:cNvGraphicFramePr/>
          <p:nvPr/>
        </p:nvGraphicFramePr>
        <p:xfrm>
          <a:off x="6382787" y="28047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19" name="Google Shape;419;p24"/>
          <p:cNvCxnSpPr/>
          <p:nvPr/>
        </p:nvCxnSpPr>
        <p:spPr>
          <a:xfrm rot="10800000">
            <a:off x="6001267" y="242898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24"/>
          <p:cNvSpPr txBox="1"/>
          <p:nvPr/>
        </p:nvSpPr>
        <p:spPr>
          <a:xfrm>
            <a:off x="6067175" y="292421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6470352" y="249918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5637574" y="34336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7945324" y="2054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5926325" y="334661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 rot="5400000">
            <a:off x="8013875" y="194091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7381137" y="40895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4"/>
          <p:cNvSpPr/>
          <p:nvPr/>
        </p:nvSpPr>
        <p:spPr>
          <a:xfrm rot="-5400000">
            <a:off x="7449700" y="350937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8270075" y="2884625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29" name="Google Shape;429;p24"/>
          <p:cNvSpPr/>
          <p:nvPr/>
        </p:nvSpPr>
        <p:spPr>
          <a:xfrm flipH="1">
            <a:off x="6382925" y="2884625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30" name="Google Shape;430;p24"/>
          <p:cNvSpPr txBox="1"/>
          <p:nvPr/>
        </p:nvSpPr>
        <p:spPr>
          <a:xfrm>
            <a:off x="5023900" y="2884625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1" name="Google Shape;431;p24"/>
          <p:cNvCxnSpPr>
            <a:endCxn id="430" idx="3"/>
          </p:cNvCxnSpPr>
          <p:nvPr/>
        </p:nvCxnSpPr>
        <p:spPr>
          <a:xfrm flipH="1">
            <a:off x="5502400" y="2888075"/>
            <a:ext cx="919800" cy="16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2" name="Google Shape;432;p24"/>
          <p:cNvSpPr txBox="1"/>
          <p:nvPr/>
        </p:nvSpPr>
        <p:spPr>
          <a:xfrm>
            <a:off x="4905525" y="3322561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3" name="Google Shape;433;p24"/>
          <p:cNvCxnSpPr>
            <a:stCxn id="434" idx="1"/>
            <a:endCxn id="432" idx="3"/>
          </p:cNvCxnSpPr>
          <p:nvPr/>
        </p:nvCxnSpPr>
        <p:spPr>
          <a:xfrm rot="10800000">
            <a:off x="5390325" y="3491788"/>
            <a:ext cx="1071900" cy="10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4" name="Google Shape;434;p24"/>
          <p:cNvSpPr txBox="1"/>
          <p:nvPr/>
        </p:nvSpPr>
        <p:spPr>
          <a:xfrm>
            <a:off x="6462225" y="3426988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4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442" name="Google Shape;442;p2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697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43" name="Google Shape;443;p25"/>
          <p:cNvSpPr txBox="1"/>
          <p:nvPr/>
        </p:nvSpPr>
        <p:spPr>
          <a:xfrm>
            <a:off x="328350" y="766838"/>
            <a:ext cx="8630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F=A’C+A’B+AB’C+BC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Express it as SOP (i.e. ∑)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Simplify it using Kmap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(a) F= ∑(1,2,3,5,7)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(b) F=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" sz="22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A’B</a:t>
            </a:r>
            <a:endParaRPr sz="22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4" name="Google Shape;444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45" name="Google Shape;445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2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4111950" y="1920200"/>
            <a:ext cx="5062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A’C, coincide A’ (first row) with C( middle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A’B, coincide A’ (first row) with B( last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BC, coincide B (last 2 column) with C( middle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AB’C, is m5( 2</a:t>
            </a:r>
            <a:r>
              <a:rPr baseline="30000"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nd</a:t>
            </a: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 row 2</a:t>
            </a:r>
            <a:r>
              <a:rPr baseline="30000"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nd</a:t>
            </a: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5645100" y="313906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5960700" y="291656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54" name="Google Shape;454;p25"/>
          <p:cNvGraphicFramePr/>
          <p:nvPr/>
        </p:nvGraphicFramePr>
        <p:xfrm>
          <a:off x="6138037" y="336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55" name="Google Shape;455;p25"/>
          <p:cNvCxnSpPr/>
          <p:nvPr/>
        </p:nvCxnSpPr>
        <p:spPr>
          <a:xfrm rot="10800000">
            <a:off x="5756517" y="29912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25"/>
          <p:cNvSpPr txBox="1"/>
          <p:nvPr/>
        </p:nvSpPr>
        <p:spPr>
          <a:xfrm>
            <a:off x="5822425" y="348646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5"/>
          <p:cNvSpPr txBox="1"/>
          <p:nvPr/>
        </p:nvSpPr>
        <p:spPr>
          <a:xfrm>
            <a:off x="6225602" y="306143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5392824" y="3995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5"/>
          <p:cNvSpPr txBox="1"/>
          <p:nvPr/>
        </p:nvSpPr>
        <p:spPr>
          <a:xfrm>
            <a:off x="7700574" y="26171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5681575" y="390886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 rot="5400000">
            <a:off x="7769125" y="25031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5"/>
          <p:cNvSpPr txBox="1"/>
          <p:nvPr/>
        </p:nvSpPr>
        <p:spPr>
          <a:xfrm>
            <a:off x="7136387" y="4651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5"/>
          <p:cNvSpPr/>
          <p:nvPr/>
        </p:nvSpPr>
        <p:spPr>
          <a:xfrm rot="-5400000">
            <a:off x="7204950" y="40716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"/>
          <p:cNvSpPr txBox="1"/>
          <p:nvPr/>
        </p:nvSpPr>
        <p:spPr>
          <a:xfrm>
            <a:off x="4779150" y="3446875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5" name="Google Shape;465;p25"/>
          <p:cNvCxnSpPr>
            <a:stCxn id="466" idx="1"/>
            <a:endCxn id="464" idx="3"/>
          </p:cNvCxnSpPr>
          <p:nvPr/>
        </p:nvCxnSpPr>
        <p:spPr>
          <a:xfrm rot="10800000">
            <a:off x="5257650" y="3616350"/>
            <a:ext cx="1602000" cy="27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7" name="Google Shape;467;p25"/>
          <p:cNvSpPr txBox="1"/>
          <p:nvPr/>
        </p:nvSpPr>
        <p:spPr>
          <a:xfrm>
            <a:off x="4572000" y="3123625"/>
            <a:ext cx="61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A’B</a:t>
            </a: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8" name="Google Shape;468;p25"/>
          <p:cNvCxnSpPr>
            <a:stCxn id="469" idx="1"/>
            <a:endCxn id="467" idx="3"/>
          </p:cNvCxnSpPr>
          <p:nvPr/>
        </p:nvCxnSpPr>
        <p:spPr>
          <a:xfrm rot="10800000">
            <a:off x="5187325" y="3292900"/>
            <a:ext cx="2192700" cy="35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9" name="Google Shape;469;p25"/>
          <p:cNvSpPr txBox="1"/>
          <p:nvPr/>
        </p:nvSpPr>
        <p:spPr>
          <a:xfrm>
            <a:off x="7380025" y="34804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5"/>
          <p:cNvSpPr txBox="1"/>
          <p:nvPr/>
        </p:nvSpPr>
        <p:spPr>
          <a:xfrm>
            <a:off x="6859650" y="3480450"/>
            <a:ext cx="899400" cy="8310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7" name="Google Shape;477;p26"/>
          <p:cNvSpPr txBox="1"/>
          <p:nvPr/>
        </p:nvSpPr>
        <p:spPr>
          <a:xfrm>
            <a:off x="328350" y="1456772"/>
            <a:ext cx="86307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square represents one minterm, giving a term of three literals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adjacent squares represent a term of two literals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adjacent squares represent a term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one literal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Eight adjacent squares encompass the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entire map and produce a function that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always equal to 1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8" name="Google Shape;478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9" name="Google Shape;479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2" name="Google Shape;482;p26"/>
          <p:cNvSpPr txBox="1"/>
          <p:nvPr/>
        </p:nvSpPr>
        <p:spPr>
          <a:xfrm>
            <a:off x="209775" y="163775"/>
            <a:ext cx="904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 of grouping in 3-variable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6"/>
          <p:cNvSpPr txBox="1"/>
          <p:nvPr/>
        </p:nvSpPr>
        <p:spPr>
          <a:xfrm>
            <a:off x="6376488" y="303418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6"/>
          <p:cNvSpPr txBox="1"/>
          <p:nvPr/>
        </p:nvSpPr>
        <p:spPr>
          <a:xfrm>
            <a:off x="6692087" y="2811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87" name="Google Shape;487;p26"/>
          <p:cNvGraphicFramePr/>
          <p:nvPr/>
        </p:nvGraphicFramePr>
        <p:xfrm>
          <a:off x="6869424" y="3262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x’yz’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88" name="Google Shape;488;p26"/>
          <p:cNvCxnSpPr/>
          <p:nvPr/>
        </p:nvCxnSpPr>
        <p:spPr>
          <a:xfrm rot="10800000">
            <a:off x="6487904" y="28863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26"/>
          <p:cNvSpPr txBox="1"/>
          <p:nvPr/>
        </p:nvSpPr>
        <p:spPr>
          <a:xfrm>
            <a:off x="6553813" y="338158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6"/>
          <p:cNvSpPr txBox="1"/>
          <p:nvPr/>
        </p:nvSpPr>
        <p:spPr>
          <a:xfrm>
            <a:off x="6956990" y="295656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26"/>
          <p:cNvSpPr txBox="1"/>
          <p:nvPr/>
        </p:nvSpPr>
        <p:spPr>
          <a:xfrm>
            <a:off x="6124212" y="38909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8431962" y="25122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6412963" y="380398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6"/>
          <p:cNvSpPr/>
          <p:nvPr/>
        </p:nvSpPr>
        <p:spPr>
          <a:xfrm rot="5400000">
            <a:off x="8500513" y="23982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7867774" y="45469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26"/>
          <p:cNvSpPr/>
          <p:nvPr/>
        </p:nvSpPr>
        <p:spPr>
          <a:xfrm rot="-5400000">
            <a:off x="7936338" y="396675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4" name="Google Shape;504;p27"/>
          <p:cNvSpPr txBox="1"/>
          <p:nvPr/>
        </p:nvSpPr>
        <p:spPr>
          <a:xfrm>
            <a:off x="328350" y="892038"/>
            <a:ext cx="86307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Lexend"/>
              <a:buChar char="●"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Adjacent squares can be side by side or lie in 4 corner or top-bottom or left-right edge condition. Example, m0 -m2 are adjacent and similarly m3-m11 are adjacent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One square represents one minterm, giving a term of four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Two adjacent squares represent a term of three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Four adjacent squares represent a term of two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Eight adjacent squares represent a term of one literal.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Sixteen adjacent squares represent the function equal to 1.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5" name="Google Shape;505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6" name="Google Shape;506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" name="Google Shape;509;p2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7"/>
          <p:cNvSpPr txBox="1"/>
          <p:nvPr/>
        </p:nvSpPr>
        <p:spPr>
          <a:xfrm>
            <a:off x="6309325" y="26706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13" name="Google Shape;513;p27"/>
          <p:cNvGraphicFramePr/>
          <p:nvPr/>
        </p:nvGraphicFramePr>
        <p:xfrm>
          <a:off x="6832175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14" name="Google Shape;514;p27"/>
          <p:cNvCxnSpPr/>
          <p:nvPr/>
        </p:nvCxnSpPr>
        <p:spPr>
          <a:xfrm rot="10800000">
            <a:off x="6454179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27"/>
          <p:cNvSpPr txBox="1"/>
          <p:nvPr/>
        </p:nvSpPr>
        <p:spPr>
          <a:xfrm>
            <a:off x="6624937" y="24814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6878123" y="26120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7"/>
          <p:cNvSpPr txBox="1"/>
          <p:nvPr/>
        </p:nvSpPr>
        <p:spPr>
          <a:xfrm>
            <a:off x="8040324" y="23123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27"/>
          <p:cNvSpPr/>
          <p:nvPr/>
        </p:nvSpPr>
        <p:spPr>
          <a:xfrm rot="5400000">
            <a:off x="8108875" y="2218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7"/>
          <p:cNvSpPr txBox="1"/>
          <p:nvPr/>
        </p:nvSpPr>
        <p:spPr>
          <a:xfrm>
            <a:off x="8743345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27"/>
          <p:cNvSpPr/>
          <p:nvPr/>
        </p:nvSpPr>
        <p:spPr>
          <a:xfrm rot="10800000">
            <a:off x="8665525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 txBox="1"/>
          <p:nvPr/>
        </p:nvSpPr>
        <p:spPr>
          <a:xfrm>
            <a:off x="7595074" y="46879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2" name="Google Shape;522;p27"/>
          <p:cNvSpPr/>
          <p:nvPr/>
        </p:nvSpPr>
        <p:spPr>
          <a:xfrm rot="-5400000">
            <a:off x="7663625" y="42677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7"/>
          <p:cNvSpPr txBox="1"/>
          <p:nvPr/>
        </p:nvSpPr>
        <p:spPr>
          <a:xfrm>
            <a:off x="6265143" y="40489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4" name="Google Shape;524;p27"/>
          <p:cNvSpPr txBox="1"/>
          <p:nvPr/>
        </p:nvSpPr>
        <p:spPr>
          <a:xfrm>
            <a:off x="6515370" y="29736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6505545" y="37780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26" name="Google Shape;526;p27"/>
          <p:cNvGraphicFramePr/>
          <p:nvPr/>
        </p:nvGraphicFramePr>
        <p:xfrm>
          <a:off x="3786950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baseline="-25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27" name="Google Shape;527;p27"/>
          <p:cNvCxnSpPr/>
          <p:nvPr/>
        </p:nvCxnSpPr>
        <p:spPr>
          <a:xfrm rot="10800000">
            <a:off x="3408954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27"/>
          <p:cNvSpPr txBox="1"/>
          <p:nvPr/>
        </p:nvSpPr>
        <p:spPr>
          <a:xfrm>
            <a:off x="5698120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9" name="Google Shape;529;p27"/>
          <p:cNvSpPr/>
          <p:nvPr/>
        </p:nvSpPr>
        <p:spPr>
          <a:xfrm rot="10800000">
            <a:off x="5620300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7"/>
          <p:cNvSpPr txBox="1"/>
          <p:nvPr/>
        </p:nvSpPr>
        <p:spPr>
          <a:xfrm>
            <a:off x="356350" y="26706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31" name="Google Shape;531;p27"/>
          <p:cNvGraphicFramePr/>
          <p:nvPr/>
        </p:nvGraphicFramePr>
        <p:xfrm>
          <a:off x="879200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32" name="Google Shape;532;p27"/>
          <p:cNvCxnSpPr/>
          <p:nvPr/>
        </p:nvCxnSpPr>
        <p:spPr>
          <a:xfrm rot="10800000">
            <a:off x="501204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27"/>
          <p:cNvSpPr txBox="1"/>
          <p:nvPr/>
        </p:nvSpPr>
        <p:spPr>
          <a:xfrm>
            <a:off x="671962" y="24814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27"/>
          <p:cNvSpPr txBox="1"/>
          <p:nvPr/>
        </p:nvSpPr>
        <p:spPr>
          <a:xfrm>
            <a:off x="925148" y="26120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2087349" y="23123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27"/>
          <p:cNvSpPr/>
          <p:nvPr/>
        </p:nvSpPr>
        <p:spPr>
          <a:xfrm rot="5400000">
            <a:off x="2155900" y="2218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2790370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27"/>
          <p:cNvSpPr/>
          <p:nvPr/>
        </p:nvSpPr>
        <p:spPr>
          <a:xfrm rot="10800000">
            <a:off x="2712550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7"/>
          <p:cNvSpPr txBox="1"/>
          <p:nvPr/>
        </p:nvSpPr>
        <p:spPr>
          <a:xfrm>
            <a:off x="1642099" y="46879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0" name="Google Shape;540;p27"/>
          <p:cNvSpPr/>
          <p:nvPr/>
        </p:nvSpPr>
        <p:spPr>
          <a:xfrm rot="-5400000">
            <a:off x="1710650" y="42677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312168" y="40489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27"/>
          <p:cNvSpPr txBox="1"/>
          <p:nvPr/>
        </p:nvSpPr>
        <p:spPr>
          <a:xfrm>
            <a:off x="562395" y="29736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552570" y="37780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760850" y="3778100"/>
            <a:ext cx="2111100" cy="770100"/>
          </a:xfrm>
          <a:prstGeom prst="ellipse">
            <a:avLst/>
          </a:prstGeom>
          <a:noFill/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3649825" y="3758900"/>
            <a:ext cx="2111100" cy="904200"/>
          </a:xfrm>
          <a:prstGeom prst="ellipse">
            <a:avLst/>
          </a:prstGeom>
          <a:noFill/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" name="Google Shape;546;p27"/>
          <p:cNvGrpSpPr/>
          <p:nvPr/>
        </p:nvGrpSpPr>
        <p:grpSpPr>
          <a:xfrm>
            <a:off x="3833747" y="3813772"/>
            <a:ext cx="378004" cy="756800"/>
            <a:chOff x="6676571" y="5410200"/>
            <a:chExt cx="406500" cy="793458"/>
          </a:xfrm>
        </p:grpSpPr>
        <p:sp>
          <p:nvSpPr>
            <p:cNvPr id="547" name="Google Shape;547;p27"/>
            <p:cNvSpPr/>
            <p:nvPr/>
          </p:nvSpPr>
          <p:spPr>
            <a:xfrm>
              <a:off x="6676571" y="5410200"/>
              <a:ext cx="406500" cy="35550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6676571" y="5848158"/>
              <a:ext cx="406500" cy="35550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9" name="Google Shape;549;p27"/>
          <p:cNvCxnSpPr>
            <a:stCxn id="544" idx="6"/>
            <a:endCxn id="545" idx="2"/>
          </p:cNvCxnSpPr>
          <p:nvPr/>
        </p:nvCxnSpPr>
        <p:spPr>
          <a:xfrm>
            <a:off x="2871950" y="4163150"/>
            <a:ext cx="777900" cy="48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7" name="Google Shape;557;p28"/>
          <p:cNvSpPr txBox="1"/>
          <p:nvPr/>
        </p:nvSpPr>
        <p:spPr>
          <a:xfrm>
            <a:off x="328350" y="892042"/>
            <a:ext cx="8630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F=∑(0,1,2,4,5,6,8,9,12,13,14)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Note: it is allowed to use the same ‘1’ more than once.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8" name="Google Shape;558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59" name="Google Shape;559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2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3780600" y="3236325"/>
            <a:ext cx="1582800" cy="487500"/>
          </a:xfrm>
          <a:prstGeom prst="rightArrow">
            <a:avLst>
              <a:gd fmla="val 18274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523825" y="24464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67" name="Google Shape;567;p28"/>
          <p:cNvGraphicFramePr/>
          <p:nvPr/>
        </p:nvGraphicFramePr>
        <p:xfrm>
          <a:off x="1046675" y="268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68" name="Google Shape;568;p28"/>
          <p:cNvCxnSpPr/>
          <p:nvPr/>
        </p:nvCxnSpPr>
        <p:spPr>
          <a:xfrm rot="10800000">
            <a:off x="668679" y="23165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28"/>
          <p:cNvSpPr txBox="1"/>
          <p:nvPr/>
        </p:nvSpPr>
        <p:spPr>
          <a:xfrm>
            <a:off x="839437" y="225726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28"/>
          <p:cNvSpPr txBox="1"/>
          <p:nvPr/>
        </p:nvSpPr>
        <p:spPr>
          <a:xfrm>
            <a:off x="1092623" y="2387825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28"/>
          <p:cNvSpPr txBox="1"/>
          <p:nvPr/>
        </p:nvSpPr>
        <p:spPr>
          <a:xfrm>
            <a:off x="2254824" y="208807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28"/>
          <p:cNvSpPr/>
          <p:nvPr/>
        </p:nvSpPr>
        <p:spPr>
          <a:xfrm rot="5400000">
            <a:off x="2323375" y="1993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 txBox="1"/>
          <p:nvPr/>
        </p:nvSpPr>
        <p:spPr>
          <a:xfrm>
            <a:off x="2957845" y="339512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28"/>
          <p:cNvSpPr/>
          <p:nvPr/>
        </p:nvSpPr>
        <p:spPr>
          <a:xfrm rot="10800000">
            <a:off x="2880025" y="3129283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8"/>
          <p:cNvSpPr txBox="1"/>
          <p:nvPr/>
        </p:nvSpPr>
        <p:spPr>
          <a:xfrm>
            <a:off x="1809574" y="446367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28"/>
          <p:cNvSpPr/>
          <p:nvPr/>
        </p:nvSpPr>
        <p:spPr>
          <a:xfrm rot="-5400000">
            <a:off x="1878125" y="404352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8"/>
          <p:cNvSpPr txBox="1"/>
          <p:nvPr/>
        </p:nvSpPr>
        <p:spPr>
          <a:xfrm>
            <a:off x="479643" y="3824697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28"/>
          <p:cNvSpPr txBox="1"/>
          <p:nvPr/>
        </p:nvSpPr>
        <p:spPr>
          <a:xfrm>
            <a:off x="729870" y="2749375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720045" y="3553872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8"/>
          <p:cNvSpPr txBox="1"/>
          <p:nvPr/>
        </p:nvSpPr>
        <p:spPr>
          <a:xfrm>
            <a:off x="5465925" y="236907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81" name="Google Shape;581;p28"/>
          <p:cNvGraphicFramePr/>
          <p:nvPr/>
        </p:nvGraphicFramePr>
        <p:xfrm>
          <a:off x="5988775" y="261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82" name="Google Shape;582;p28"/>
          <p:cNvCxnSpPr/>
          <p:nvPr/>
        </p:nvCxnSpPr>
        <p:spPr>
          <a:xfrm rot="10800000">
            <a:off x="5610779" y="22391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28"/>
          <p:cNvSpPr txBox="1"/>
          <p:nvPr/>
        </p:nvSpPr>
        <p:spPr>
          <a:xfrm>
            <a:off x="5781537" y="21799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28"/>
          <p:cNvSpPr txBox="1"/>
          <p:nvPr/>
        </p:nvSpPr>
        <p:spPr>
          <a:xfrm>
            <a:off x="6034723" y="2310475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5" name="Google Shape;585;p28"/>
          <p:cNvSpPr txBox="1"/>
          <p:nvPr/>
        </p:nvSpPr>
        <p:spPr>
          <a:xfrm>
            <a:off x="7196924" y="201072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6" name="Google Shape;586;p28"/>
          <p:cNvSpPr/>
          <p:nvPr/>
        </p:nvSpPr>
        <p:spPr>
          <a:xfrm rot="5400000">
            <a:off x="7265475" y="191659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 txBox="1"/>
          <p:nvPr/>
        </p:nvSpPr>
        <p:spPr>
          <a:xfrm>
            <a:off x="7899945" y="331777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28"/>
          <p:cNvSpPr/>
          <p:nvPr/>
        </p:nvSpPr>
        <p:spPr>
          <a:xfrm rot="10800000">
            <a:off x="7822125" y="3051933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8"/>
          <p:cNvSpPr txBox="1"/>
          <p:nvPr/>
        </p:nvSpPr>
        <p:spPr>
          <a:xfrm>
            <a:off x="6751674" y="438632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0" name="Google Shape;590;p28"/>
          <p:cNvSpPr/>
          <p:nvPr/>
        </p:nvSpPr>
        <p:spPr>
          <a:xfrm rot="-5400000">
            <a:off x="6820225" y="3966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8"/>
          <p:cNvSpPr txBox="1"/>
          <p:nvPr/>
        </p:nvSpPr>
        <p:spPr>
          <a:xfrm>
            <a:off x="5421743" y="3747347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28"/>
          <p:cNvSpPr txBox="1"/>
          <p:nvPr/>
        </p:nvSpPr>
        <p:spPr>
          <a:xfrm>
            <a:off x="5671970" y="2672025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5662145" y="3476522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5863575" y="4564563"/>
            <a:ext cx="24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i="0" lang="en" sz="1800" u="none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w’z’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i="0" lang="en" sz="18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xz’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y’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7394650" y="3129275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cxnSp>
        <p:nvCxnSpPr>
          <p:cNvPr id="596" name="Google Shape;596;p28"/>
          <p:cNvCxnSpPr/>
          <p:nvPr/>
        </p:nvCxnSpPr>
        <p:spPr>
          <a:xfrm flipH="1" rot="10800000">
            <a:off x="7572850" y="2818800"/>
            <a:ext cx="767700" cy="306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97" name="Google Shape;597;p28"/>
          <p:cNvSpPr/>
          <p:nvPr/>
        </p:nvSpPr>
        <p:spPr>
          <a:xfrm flipH="1">
            <a:off x="5988776" y="3129275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598" name="Google Shape;598;p28"/>
          <p:cNvSpPr txBox="1"/>
          <p:nvPr/>
        </p:nvSpPr>
        <p:spPr>
          <a:xfrm>
            <a:off x="6057825" y="2689770"/>
            <a:ext cx="729900" cy="154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7427250" y="2689925"/>
            <a:ext cx="345396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93C47D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00" name="Google Shape;600;p28"/>
          <p:cNvSpPr/>
          <p:nvPr/>
        </p:nvSpPr>
        <p:spPr>
          <a:xfrm rot="10800000">
            <a:off x="5988779" y="2664729"/>
            <a:ext cx="345396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93C47D"/>
            </a:solidFill>
            <a:prstDash val="solid"/>
            <a:miter lim="8000"/>
            <a:headEnd len="med" w="med" type="none"/>
            <a:tailEnd len="med" w="med" type="none"/>
          </a:ln>
        </p:spPr>
      </p:sp>
      <p:cxnSp>
        <p:nvCxnSpPr>
          <p:cNvPr id="601" name="Google Shape;601;p28"/>
          <p:cNvCxnSpPr/>
          <p:nvPr/>
        </p:nvCxnSpPr>
        <p:spPr>
          <a:xfrm flipH="1" rot="10800000">
            <a:off x="7572850" y="2394753"/>
            <a:ext cx="767700" cy="3063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02" name="Google Shape;602;p28"/>
          <p:cNvCxnSpPr/>
          <p:nvPr/>
        </p:nvCxnSpPr>
        <p:spPr>
          <a:xfrm>
            <a:off x="6766425" y="3914550"/>
            <a:ext cx="1500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03" name="Google Shape;603;p28"/>
          <p:cNvSpPr txBox="1"/>
          <p:nvPr/>
        </p:nvSpPr>
        <p:spPr>
          <a:xfrm>
            <a:off x="8340550" y="2241825"/>
            <a:ext cx="58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w’z’</a:t>
            </a:r>
            <a:endParaRPr sz="1700">
              <a:solidFill>
                <a:srgbClr val="93C4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28"/>
          <p:cNvSpPr txBox="1"/>
          <p:nvPr/>
        </p:nvSpPr>
        <p:spPr>
          <a:xfrm>
            <a:off x="8340550" y="261360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28"/>
          <p:cNvSpPr txBox="1"/>
          <p:nvPr/>
        </p:nvSpPr>
        <p:spPr>
          <a:xfrm>
            <a:off x="8340550" y="3724813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1" name="Google Shape;61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13" name="Google Shape;613;p29"/>
          <p:cNvSpPr txBox="1"/>
          <p:nvPr/>
        </p:nvSpPr>
        <p:spPr>
          <a:xfrm>
            <a:off x="328350" y="892038"/>
            <a:ext cx="8630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F=A’B’C’+B’CD’+A’BCD’+AB’C’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14" name="Google Shape;614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15" name="Google Shape;615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8" name="Google Shape;618;p2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29"/>
          <p:cNvSpPr txBox="1"/>
          <p:nvPr/>
        </p:nvSpPr>
        <p:spPr>
          <a:xfrm>
            <a:off x="3238175" y="19610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22" name="Google Shape;622;p29"/>
          <p:cNvGraphicFramePr/>
          <p:nvPr/>
        </p:nvGraphicFramePr>
        <p:xfrm>
          <a:off x="3761025" y="220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623" name="Google Shape;623;p29"/>
          <p:cNvCxnSpPr/>
          <p:nvPr/>
        </p:nvCxnSpPr>
        <p:spPr>
          <a:xfrm rot="10800000">
            <a:off x="3383029" y="18311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29"/>
          <p:cNvSpPr txBox="1"/>
          <p:nvPr/>
        </p:nvSpPr>
        <p:spPr>
          <a:xfrm>
            <a:off x="3553787" y="17718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29"/>
          <p:cNvSpPr txBox="1"/>
          <p:nvPr/>
        </p:nvSpPr>
        <p:spPr>
          <a:xfrm>
            <a:off x="3806973" y="19024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29"/>
          <p:cNvSpPr txBox="1"/>
          <p:nvPr/>
        </p:nvSpPr>
        <p:spPr>
          <a:xfrm>
            <a:off x="4969174" y="16027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29"/>
          <p:cNvSpPr/>
          <p:nvPr/>
        </p:nvSpPr>
        <p:spPr>
          <a:xfrm rot="5400000">
            <a:off x="5037725" y="15085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9"/>
          <p:cNvSpPr txBox="1"/>
          <p:nvPr/>
        </p:nvSpPr>
        <p:spPr>
          <a:xfrm>
            <a:off x="5672195" y="29097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29"/>
          <p:cNvSpPr/>
          <p:nvPr/>
        </p:nvSpPr>
        <p:spPr>
          <a:xfrm rot="10800000">
            <a:off x="5594375" y="26439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9"/>
          <p:cNvSpPr txBox="1"/>
          <p:nvPr/>
        </p:nvSpPr>
        <p:spPr>
          <a:xfrm>
            <a:off x="4523924" y="400062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29"/>
          <p:cNvSpPr/>
          <p:nvPr/>
        </p:nvSpPr>
        <p:spPr>
          <a:xfrm rot="-5400000">
            <a:off x="4592475" y="35581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9"/>
          <p:cNvSpPr txBox="1"/>
          <p:nvPr/>
        </p:nvSpPr>
        <p:spPr>
          <a:xfrm>
            <a:off x="3193993" y="33393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29"/>
          <p:cNvSpPr txBox="1"/>
          <p:nvPr/>
        </p:nvSpPr>
        <p:spPr>
          <a:xfrm>
            <a:off x="3444220" y="22640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3434395" y="30684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0" name="Google Shape;640;p3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9451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41" name="Google Shape;64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43" name="Google Shape;643;p30"/>
          <p:cNvSpPr txBox="1"/>
          <p:nvPr/>
        </p:nvSpPr>
        <p:spPr>
          <a:xfrm>
            <a:off x="328350" y="892038"/>
            <a:ext cx="86307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F=A’B’C’+B’CD’+A’BCD’+AB’C’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4" name="Google Shape;644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5" name="Google Shape;645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8" name="Google Shape;648;p3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30"/>
          <p:cNvSpPr txBox="1"/>
          <p:nvPr/>
        </p:nvSpPr>
        <p:spPr>
          <a:xfrm>
            <a:off x="2721600" y="23035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52" name="Google Shape;652;p30"/>
          <p:cNvGraphicFramePr/>
          <p:nvPr/>
        </p:nvGraphicFramePr>
        <p:xfrm>
          <a:off x="3244450" y="254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653" name="Google Shape;653;p30"/>
          <p:cNvCxnSpPr/>
          <p:nvPr/>
        </p:nvCxnSpPr>
        <p:spPr>
          <a:xfrm rot="10800000">
            <a:off x="2866454" y="21736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30"/>
          <p:cNvSpPr txBox="1"/>
          <p:nvPr/>
        </p:nvSpPr>
        <p:spPr>
          <a:xfrm>
            <a:off x="3037212" y="21143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30"/>
          <p:cNvSpPr txBox="1"/>
          <p:nvPr/>
        </p:nvSpPr>
        <p:spPr>
          <a:xfrm>
            <a:off x="3290398" y="22449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30"/>
          <p:cNvSpPr txBox="1"/>
          <p:nvPr/>
        </p:nvSpPr>
        <p:spPr>
          <a:xfrm>
            <a:off x="4452599" y="19452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30"/>
          <p:cNvSpPr/>
          <p:nvPr/>
        </p:nvSpPr>
        <p:spPr>
          <a:xfrm rot="5400000">
            <a:off x="4521150" y="18510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0"/>
          <p:cNvSpPr txBox="1"/>
          <p:nvPr/>
        </p:nvSpPr>
        <p:spPr>
          <a:xfrm>
            <a:off x="5155620" y="32522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30"/>
          <p:cNvSpPr/>
          <p:nvPr/>
        </p:nvSpPr>
        <p:spPr>
          <a:xfrm rot="10800000">
            <a:off x="5077800" y="29864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0"/>
          <p:cNvSpPr txBox="1"/>
          <p:nvPr/>
        </p:nvSpPr>
        <p:spPr>
          <a:xfrm>
            <a:off x="4007349" y="434312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30"/>
          <p:cNvSpPr/>
          <p:nvPr/>
        </p:nvSpPr>
        <p:spPr>
          <a:xfrm rot="-5400000">
            <a:off x="4075900" y="39006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0"/>
          <p:cNvSpPr txBox="1"/>
          <p:nvPr/>
        </p:nvSpPr>
        <p:spPr>
          <a:xfrm>
            <a:off x="2677418" y="36818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30"/>
          <p:cNvSpPr txBox="1"/>
          <p:nvPr/>
        </p:nvSpPr>
        <p:spPr>
          <a:xfrm>
            <a:off x="2927645" y="26065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2917820" y="34109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0"/>
          <p:cNvSpPr/>
          <p:nvPr/>
        </p:nvSpPr>
        <p:spPr>
          <a:xfrm rot="-5400000">
            <a:off x="3514575" y="2388350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6" name="Google Shape;666;p30"/>
          <p:cNvSpPr/>
          <p:nvPr/>
        </p:nvSpPr>
        <p:spPr>
          <a:xfrm rot="5400000">
            <a:off x="3514575" y="3704100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7" name="Google Shape;667;p30"/>
          <p:cNvSpPr/>
          <p:nvPr/>
        </p:nvSpPr>
        <p:spPr>
          <a:xfrm>
            <a:off x="4692825" y="2557300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8" name="Google Shape;668;p30"/>
          <p:cNvSpPr/>
          <p:nvPr/>
        </p:nvSpPr>
        <p:spPr>
          <a:xfrm rot="5400000">
            <a:off x="4692813" y="3899675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9" name="Google Shape;669;p30"/>
          <p:cNvSpPr/>
          <p:nvPr/>
        </p:nvSpPr>
        <p:spPr>
          <a:xfrm rot="10800000">
            <a:off x="3253123" y="3899688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70" name="Google Shape;670;p30"/>
          <p:cNvSpPr/>
          <p:nvPr/>
        </p:nvSpPr>
        <p:spPr>
          <a:xfrm rot="-5400000">
            <a:off x="3244438" y="2567303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71" name="Google Shape;671;p30"/>
          <p:cNvSpPr txBox="1"/>
          <p:nvPr/>
        </p:nvSpPr>
        <p:spPr>
          <a:xfrm>
            <a:off x="4637700" y="2611350"/>
            <a:ext cx="333000" cy="720300"/>
          </a:xfrm>
          <a:prstGeom prst="rect">
            <a:avLst/>
          </a:prstGeom>
          <a:noFill/>
          <a:ln cap="flat" cmpd="sng" w="28575">
            <a:solidFill>
              <a:srgbClr val="93C4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2" name="Google Shape;672;p30"/>
          <p:cNvCxnSpPr/>
          <p:nvPr/>
        </p:nvCxnSpPr>
        <p:spPr>
          <a:xfrm>
            <a:off x="4057600" y="2834025"/>
            <a:ext cx="1662900" cy="203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3" name="Google Shape;673;p30"/>
          <p:cNvCxnSpPr/>
          <p:nvPr/>
        </p:nvCxnSpPr>
        <p:spPr>
          <a:xfrm flipH="1" rot="10800000">
            <a:off x="4971775" y="2613100"/>
            <a:ext cx="748500" cy="1005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4" name="Google Shape;674;p30"/>
          <p:cNvCxnSpPr/>
          <p:nvPr/>
        </p:nvCxnSpPr>
        <p:spPr>
          <a:xfrm>
            <a:off x="4949875" y="3901475"/>
            <a:ext cx="696300" cy="231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75" name="Google Shape;675;p30"/>
          <p:cNvSpPr txBox="1"/>
          <p:nvPr/>
        </p:nvSpPr>
        <p:spPr>
          <a:xfrm>
            <a:off x="5720375" y="2460200"/>
            <a:ext cx="9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A’CD’</a:t>
            </a:r>
            <a:endParaRPr sz="1700">
              <a:solidFill>
                <a:srgbClr val="93C4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6" name="Google Shape;676;p30"/>
          <p:cNvSpPr txBox="1"/>
          <p:nvPr/>
        </p:nvSpPr>
        <p:spPr>
          <a:xfrm>
            <a:off x="5720375" y="2831975"/>
            <a:ext cx="11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B’C’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30"/>
          <p:cNvSpPr txBox="1"/>
          <p:nvPr/>
        </p:nvSpPr>
        <p:spPr>
          <a:xfrm>
            <a:off x="5720375" y="3943175"/>
            <a:ext cx="9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B’D’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5720275" y="4398213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A’CD’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B’C’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B’D’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4" name="Google Shape;6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86" name="Google Shape;686;p31"/>
          <p:cNvSpPr txBox="1"/>
          <p:nvPr/>
        </p:nvSpPr>
        <p:spPr>
          <a:xfrm>
            <a:off x="328350" y="1018225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Don't cares in a Karnaugh map, or truth table, may be either 1s or 0s, as long as we don't care what the output is for an input condition we never expect to see.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plot these cells with a special sign, ‘X’, among the normal 1s and 0s.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forming groups of cells, treat the don't care cell as either a 1 or a 0, or ignore the don't cares. This is helpful if it allows us to form a larger group than would otherwise be possible without the don't cares.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no requirement to group all or any of the don't cares. (i.e. do not make any group only consisting the don’t cares). Only use them in a group if it simplifies the logic.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7" name="Google Shape;687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8" name="Google Shape;688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1" name="Google Shape;691;p3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Don’t Care condition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9" name="Google Shape;699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40375"/>
            <a:ext cx="1587226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00" name="Google Shape;70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02" name="Google Shape;702;p32"/>
          <p:cNvSpPr txBox="1"/>
          <p:nvPr/>
        </p:nvSpPr>
        <p:spPr>
          <a:xfrm>
            <a:off x="328350" y="892038"/>
            <a:ext cx="86307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F(w,x,y,z)= ∑(1,3,7,11,15) and don’t care d(w,x,y,z)= ∑(0,2,5)</a:t>
            </a:r>
            <a:endParaRPr sz="2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2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3" name="Google Shape;703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04" name="Google Shape;704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3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8" name="Google Shape;708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32"/>
          <p:cNvSpPr/>
          <p:nvPr/>
        </p:nvSpPr>
        <p:spPr>
          <a:xfrm>
            <a:off x="5712500" y="1692050"/>
            <a:ext cx="3409004" cy="1723626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500">
                <a:solidFill>
                  <a:schemeClr val="lt1"/>
                </a:solidFill>
              </a:rPr>
              <a:t>Even though 2 solutions are not same, but either 1 is acceptable. Such scenario only applicable for Don’t care scenarios!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</p:txBody>
      </p:sp>
      <p:sp>
        <p:nvSpPr>
          <p:cNvPr id="711" name="Google Shape;711;p32"/>
          <p:cNvSpPr txBox="1"/>
          <p:nvPr/>
        </p:nvSpPr>
        <p:spPr>
          <a:xfrm>
            <a:off x="177750" y="2356682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12" name="Google Shape;712;p32"/>
          <p:cNvGraphicFramePr/>
          <p:nvPr/>
        </p:nvGraphicFramePr>
        <p:xfrm>
          <a:off x="700600" y="26001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13" name="Google Shape;713;p32"/>
          <p:cNvCxnSpPr/>
          <p:nvPr/>
        </p:nvCxnSpPr>
        <p:spPr>
          <a:xfrm rot="10800000">
            <a:off x="322604" y="2226769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32"/>
          <p:cNvSpPr txBox="1"/>
          <p:nvPr/>
        </p:nvSpPr>
        <p:spPr>
          <a:xfrm>
            <a:off x="493362" y="2167519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32"/>
          <p:cNvSpPr txBox="1"/>
          <p:nvPr/>
        </p:nvSpPr>
        <p:spPr>
          <a:xfrm>
            <a:off x="746548" y="2298082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32"/>
          <p:cNvSpPr txBox="1"/>
          <p:nvPr/>
        </p:nvSpPr>
        <p:spPr>
          <a:xfrm>
            <a:off x="1908749" y="199833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32"/>
          <p:cNvSpPr/>
          <p:nvPr/>
        </p:nvSpPr>
        <p:spPr>
          <a:xfrm rot="5400000">
            <a:off x="1977300" y="1904204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2"/>
          <p:cNvSpPr txBox="1"/>
          <p:nvPr/>
        </p:nvSpPr>
        <p:spPr>
          <a:xfrm>
            <a:off x="2611770" y="3305386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9" name="Google Shape;719;p32"/>
          <p:cNvSpPr/>
          <p:nvPr/>
        </p:nvSpPr>
        <p:spPr>
          <a:xfrm rot="10800000">
            <a:off x="2533950" y="3039540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2"/>
          <p:cNvSpPr txBox="1"/>
          <p:nvPr/>
        </p:nvSpPr>
        <p:spPr>
          <a:xfrm>
            <a:off x="1463499" y="437393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32"/>
          <p:cNvSpPr/>
          <p:nvPr/>
        </p:nvSpPr>
        <p:spPr>
          <a:xfrm rot="-5400000">
            <a:off x="1532050" y="3953779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2"/>
          <p:cNvSpPr txBox="1"/>
          <p:nvPr/>
        </p:nvSpPr>
        <p:spPr>
          <a:xfrm>
            <a:off x="133568" y="37349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32"/>
          <p:cNvSpPr txBox="1"/>
          <p:nvPr/>
        </p:nvSpPr>
        <p:spPr>
          <a:xfrm>
            <a:off x="383795" y="2659632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32"/>
          <p:cNvSpPr/>
          <p:nvPr/>
        </p:nvSpPr>
        <p:spPr>
          <a:xfrm>
            <a:off x="373970" y="346412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2"/>
          <p:cNvSpPr txBox="1"/>
          <p:nvPr/>
        </p:nvSpPr>
        <p:spPr>
          <a:xfrm>
            <a:off x="2742097" y="2521572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w’x’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6" name="Google Shape;726;p32"/>
          <p:cNvSpPr txBox="1"/>
          <p:nvPr/>
        </p:nvSpPr>
        <p:spPr>
          <a:xfrm>
            <a:off x="2742100" y="291348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32"/>
          <p:cNvSpPr txBox="1"/>
          <p:nvPr/>
        </p:nvSpPr>
        <p:spPr>
          <a:xfrm>
            <a:off x="761800" y="2639075"/>
            <a:ext cx="16626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8" name="Google Shape;728;p32"/>
          <p:cNvCxnSpPr>
            <a:stCxn id="727" idx="3"/>
            <a:endCxn id="725" idx="1"/>
          </p:cNvCxnSpPr>
          <p:nvPr/>
        </p:nvCxnSpPr>
        <p:spPr>
          <a:xfrm flipH="1" rot="10800000">
            <a:off x="2424400" y="2690975"/>
            <a:ext cx="317700" cy="11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29" name="Google Shape;729;p32"/>
          <p:cNvCxnSpPr>
            <a:stCxn id="730" idx="3"/>
            <a:endCxn id="726" idx="1"/>
          </p:cNvCxnSpPr>
          <p:nvPr/>
        </p:nvCxnSpPr>
        <p:spPr>
          <a:xfrm flipH="1" rot="10800000">
            <a:off x="2010575" y="3082872"/>
            <a:ext cx="7314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30" name="Google Shape;730;p32"/>
          <p:cNvSpPr txBox="1"/>
          <p:nvPr/>
        </p:nvSpPr>
        <p:spPr>
          <a:xfrm>
            <a:off x="1692875" y="2664522"/>
            <a:ext cx="317700" cy="16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2"/>
          <p:cNvSpPr txBox="1"/>
          <p:nvPr/>
        </p:nvSpPr>
        <p:spPr>
          <a:xfrm>
            <a:off x="50475" y="4535438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w’x’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32"/>
          <p:cNvSpPr txBox="1"/>
          <p:nvPr/>
        </p:nvSpPr>
        <p:spPr>
          <a:xfrm>
            <a:off x="3261525" y="2348969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33" name="Google Shape;733;p32"/>
          <p:cNvGraphicFramePr/>
          <p:nvPr/>
        </p:nvGraphicFramePr>
        <p:xfrm>
          <a:off x="3784375" y="25924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34" name="Google Shape;734;p32"/>
          <p:cNvCxnSpPr/>
          <p:nvPr/>
        </p:nvCxnSpPr>
        <p:spPr>
          <a:xfrm rot="10800000">
            <a:off x="3406379" y="2219057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32"/>
          <p:cNvSpPr txBox="1"/>
          <p:nvPr/>
        </p:nvSpPr>
        <p:spPr>
          <a:xfrm>
            <a:off x="3577137" y="2159807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32"/>
          <p:cNvSpPr txBox="1"/>
          <p:nvPr/>
        </p:nvSpPr>
        <p:spPr>
          <a:xfrm>
            <a:off x="3830323" y="2290369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32"/>
          <p:cNvSpPr txBox="1"/>
          <p:nvPr/>
        </p:nvSpPr>
        <p:spPr>
          <a:xfrm>
            <a:off x="4992524" y="199061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32"/>
          <p:cNvSpPr/>
          <p:nvPr/>
        </p:nvSpPr>
        <p:spPr>
          <a:xfrm rot="5400000">
            <a:off x="5061075" y="1896491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2"/>
          <p:cNvSpPr txBox="1"/>
          <p:nvPr/>
        </p:nvSpPr>
        <p:spPr>
          <a:xfrm>
            <a:off x="5695545" y="329767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32"/>
          <p:cNvSpPr/>
          <p:nvPr/>
        </p:nvSpPr>
        <p:spPr>
          <a:xfrm rot="10800000">
            <a:off x="5617725" y="303182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2"/>
          <p:cNvSpPr txBox="1"/>
          <p:nvPr/>
        </p:nvSpPr>
        <p:spPr>
          <a:xfrm>
            <a:off x="4547274" y="436621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2" name="Google Shape;742;p32"/>
          <p:cNvSpPr/>
          <p:nvPr/>
        </p:nvSpPr>
        <p:spPr>
          <a:xfrm rot="-5400000">
            <a:off x="4615825" y="3946066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2"/>
          <p:cNvSpPr txBox="1"/>
          <p:nvPr/>
        </p:nvSpPr>
        <p:spPr>
          <a:xfrm>
            <a:off x="3217343" y="372724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4" name="Google Shape;744;p32"/>
          <p:cNvSpPr txBox="1"/>
          <p:nvPr/>
        </p:nvSpPr>
        <p:spPr>
          <a:xfrm>
            <a:off x="3467570" y="2651919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3457745" y="3456416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2"/>
          <p:cNvSpPr txBox="1"/>
          <p:nvPr/>
        </p:nvSpPr>
        <p:spPr>
          <a:xfrm>
            <a:off x="5788172" y="3672572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w’z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32"/>
          <p:cNvSpPr txBox="1"/>
          <p:nvPr/>
        </p:nvSpPr>
        <p:spPr>
          <a:xfrm>
            <a:off x="5825875" y="4019699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32"/>
          <p:cNvSpPr txBox="1"/>
          <p:nvPr/>
        </p:nvSpPr>
        <p:spPr>
          <a:xfrm>
            <a:off x="4344225" y="2631375"/>
            <a:ext cx="693900" cy="724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" name="Google Shape;749;p32"/>
          <p:cNvCxnSpPr>
            <a:stCxn id="748" idx="3"/>
            <a:endCxn id="746" idx="1"/>
          </p:cNvCxnSpPr>
          <p:nvPr/>
        </p:nvCxnSpPr>
        <p:spPr>
          <a:xfrm>
            <a:off x="5038125" y="2993475"/>
            <a:ext cx="750000" cy="848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50" name="Google Shape;750;p32"/>
          <p:cNvCxnSpPr>
            <a:stCxn id="751" idx="3"/>
            <a:endCxn id="747" idx="1"/>
          </p:cNvCxnSpPr>
          <p:nvPr/>
        </p:nvCxnSpPr>
        <p:spPr>
          <a:xfrm>
            <a:off x="5094350" y="3464859"/>
            <a:ext cx="731400" cy="72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51" name="Google Shape;751;p32"/>
          <p:cNvSpPr txBox="1"/>
          <p:nvPr/>
        </p:nvSpPr>
        <p:spPr>
          <a:xfrm>
            <a:off x="4776650" y="2656809"/>
            <a:ext cx="317700" cy="16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2"/>
          <p:cNvSpPr txBox="1"/>
          <p:nvPr/>
        </p:nvSpPr>
        <p:spPr>
          <a:xfrm>
            <a:off x="3134250" y="4527725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w’z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59" name="Google Shape;759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61" name="Google Shape;761;p33"/>
          <p:cNvGrpSpPr/>
          <p:nvPr/>
        </p:nvGrpSpPr>
        <p:grpSpPr>
          <a:xfrm>
            <a:off x="55863" y="1096534"/>
            <a:ext cx="7362874" cy="1618375"/>
            <a:chOff x="5351018" y="4955476"/>
            <a:chExt cx="4003085" cy="885422"/>
          </a:xfrm>
        </p:grpSpPr>
        <p:sp>
          <p:nvSpPr>
            <p:cNvPr id="762" name="Google Shape;762;p33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3" name="Google Shape;763;p33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4" name="Google Shape;764;p33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5" name="Google Shape;765;p33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6" name="Google Shape;766;p33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767" name="Google Shape;767;p33"/>
          <p:cNvSpPr/>
          <p:nvPr/>
        </p:nvSpPr>
        <p:spPr>
          <a:xfrm>
            <a:off x="4883091" y="245998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8" name="Google Shape;768;p3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APPLICATIONS OF K-MAP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3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1001825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76" name="Google Shape;776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77" name="Google Shape;777;p34"/>
          <p:cNvSpPr txBox="1"/>
          <p:nvPr/>
        </p:nvSpPr>
        <p:spPr>
          <a:xfrm>
            <a:off x="328350" y="892038"/>
            <a:ext cx="86307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1. Design and draw the circuit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diagram of BCD to Excess-3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code converter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78" name="Google Shape;778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79" name="Google Shape;779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2" name="Google Shape;782;p3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34"/>
          <p:cNvSpPr txBox="1"/>
          <p:nvPr/>
        </p:nvSpPr>
        <p:spPr>
          <a:xfrm>
            <a:off x="107500" y="2648575"/>
            <a:ext cx="3164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. Treat each W, X, Y and Z as a function and write them as SOP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b. 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Based on the SOP, draw the circuit diagram of BCD to Excess-3 code converter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86" name="Google Shape;786;p34"/>
          <p:cNvGraphicFramePr/>
          <p:nvPr/>
        </p:nvGraphicFramePr>
        <p:xfrm>
          <a:off x="4757900" y="15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431000"/>
                <a:gridCol w="431000"/>
                <a:gridCol w="431000"/>
                <a:gridCol w="431000"/>
                <a:gridCol w="431000"/>
                <a:gridCol w="431000"/>
                <a:gridCol w="431000"/>
                <a:gridCol w="619875"/>
              </a:tblGrid>
              <a:tr h="2712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BCD Input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Excess-3 Output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B3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B2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B1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W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Y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Z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87" name="Google Shape;787;p34"/>
          <p:cNvCxnSpPr/>
          <p:nvPr/>
        </p:nvCxnSpPr>
        <p:spPr>
          <a:xfrm flipH="1" rot="10800000">
            <a:off x="4596950" y="3473950"/>
            <a:ext cx="1924200" cy="494100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88" name="Google Shape;788;p34"/>
          <p:cNvSpPr txBox="1"/>
          <p:nvPr/>
        </p:nvSpPr>
        <p:spPr>
          <a:xfrm>
            <a:off x="3134538" y="3906400"/>
            <a:ext cx="1825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Any value higher than 9 will result into don’t care output</a:t>
            </a:r>
            <a:endParaRPr sz="9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9" name="Google Shape;789;p34"/>
          <p:cNvCxnSpPr/>
          <p:nvPr/>
        </p:nvCxnSpPr>
        <p:spPr>
          <a:xfrm>
            <a:off x="4477175" y="4739200"/>
            <a:ext cx="2036400" cy="60000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97" name="Google Shape;797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98" name="Google Shape;798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1" name="Google Shape;801;p3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1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35"/>
          <p:cNvSpPr txBox="1"/>
          <p:nvPr/>
        </p:nvSpPr>
        <p:spPr>
          <a:xfrm>
            <a:off x="954337" y="-1027113"/>
            <a:ext cx="7158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</a:endParaRPr>
          </a:p>
        </p:txBody>
      </p:sp>
      <p:pic>
        <p:nvPicPr>
          <p:cNvPr id="805" name="Google Shape;805;p3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8825" y="1001700"/>
            <a:ext cx="3125100" cy="317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35"/>
          <p:cNvPicPr preferRelativeResize="0"/>
          <p:nvPr/>
        </p:nvPicPr>
        <p:blipFill rotWithShape="1">
          <a:blip r:embed="rId5">
            <a:alphaModFix/>
          </a:blip>
          <a:srcRect b="9187" l="9139" r="11186" t="6524"/>
          <a:stretch/>
        </p:blipFill>
        <p:spPr>
          <a:xfrm>
            <a:off x="295875" y="712900"/>
            <a:ext cx="1748050" cy="20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35"/>
          <p:cNvPicPr preferRelativeResize="0"/>
          <p:nvPr/>
        </p:nvPicPr>
        <p:blipFill rotWithShape="1">
          <a:blip r:embed="rId6">
            <a:alphaModFix/>
          </a:blip>
          <a:srcRect b="5224" l="11224" r="12782" t="9836"/>
          <a:stretch/>
        </p:blipFill>
        <p:spPr>
          <a:xfrm>
            <a:off x="6479000" y="439400"/>
            <a:ext cx="1993450" cy="224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35"/>
          <p:cNvPicPr preferRelativeResize="0"/>
          <p:nvPr/>
        </p:nvPicPr>
        <p:blipFill rotWithShape="1">
          <a:blip r:embed="rId7">
            <a:alphaModFix/>
          </a:blip>
          <a:srcRect b="7003" l="10195" r="8570" t="6865"/>
          <a:stretch/>
        </p:blipFill>
        <p:spPr>
          <a:xfrm>
            <a:off x="6533191" y="2747700"/>
            <a:ext cx="2046784" cy="213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35"/>
          <p:cNvPicPr preferRelativeResize="0"/>
          <p:nvPr/>
        </p:nvPicPr>
        <p:blipFill rotWithShape="1">
          <a:blip r:embed="rId8">
            <a:alphaModFix/>
          </a:blip>
          <a:srcRect b="9381" l="11838" r="8873" t="8035"/>
          <a:stretch/>
        </p:blipFill>
        <p:spPr>
          <a:xfrm>
            <a:off x="50475" y="2713375"/>
            <a:ext cx="1993450" cy="221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35"/>
          <p:cNvSpPr/>
          <p:nvPr/>
        </p:nvSpPr>
        <p:spPr>
          <a:xfrm rot="-4643542">
            <a:off x="2130612" y="1239544"/>
            <a:ext cx="685837" cy="727098"/>
          </a:xfrm>
          <a:prstGeom prst="downArrow">
            <a:avLst>
              <a:gd fmla="val 11413" name="adj1"/>
              <a:gd fmla="val 54046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5"/>
          <p:cNvSpPr/>
          <p:nvPr/>
        </p:nvSpPr>
        <p:spPr>
          <a:xfrm rot="-7271234">
            <a:off x="2007309" y="3243186"/>
            <a:ext cx="685931" cy="726833"/>
          </a:xfrm>
          <a:prstGeom prst="downArrow">
            <a:avLst>
              <a:gd fmla="val 11413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5"/>
          <p:cNvSpPr/>
          <p:nvPr/>
        </p:nvSpPr>
        <p:spPr>
          <a:xfrm rot="4192151">
            <a:off x="5725596" y="1059783"/>
            <a:ext cx="686009" cy="725301"/>
          </a:xfrm>
          <a:prstGeom prst="downArrow">
            <a:avLst>
              <a:gd fmla="val 11391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5"/>
          <p:cNvSpPr/>
          <p:nvPr/>
        </p:nvSpPr>
        <p:spPr>
          <a:xfrm rot="6989868">
            <a:off x="5681249" y="3080692"/>
            <a:ext cx="685847" cy="725560"/>
          </a:xfrm>
          <a:prstGeom prst="downArrow">
            <a:avLst>
              <a:gd fmla="val 11391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9" name="Google Shape;8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8086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21" name="Google Shape;821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22" name="Google Shape;822;p36"/>
          <p:cNvSpPr txBox="1"/>
          <p:nvPr/>
        </p:nvSpPr>
        <p:spPr>
          <a:xfrm>
            <a:off x="328350" y="892050"/>
            <a:ext cx="19638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2: 7 segment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display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board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3" name="Google Shape;823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24" name="Google Shape;824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7" name="Google Shape;827;p3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0" name="Google Shape;830;p36" title="Untitled Diagram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6713" y="338614"/>
            <a:ext cx="5866174" cy="4280274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6"/>
          <p:cNvSpPr txBox="1"/>
          <p:nvPr/>
        </p:nvSpPr>
        <p:spPr>
          <a:xfrm>
            <a:off x="373350" y="2662275"/>
            <a:ext cx="18738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Grey represents that segment is active = 1; 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White represents that segment is inactive = 0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7" name="Google Shape;8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37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8086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39" name="Google Shape;839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40" name="Google Shape;840;p37"/>
          <p:cNvSpPr txBox="1"/>
          <p:nvPr/>
        </p:nvSpPr>
        <p:spPr>
          <a:xfrm>
            <a:off x="328350" y="892038"/>
            <a:ext cx="86307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2: 7 segment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isplay board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1" name="Google Shape;841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42" name="Google Shape;842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5" name="Google Shape;845;p3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48" name="Google Shape;848;p37"/>
          <p:cNvGraphicFramePr/>
          <p:nvPr/>
        </p:nvGraphicFramePr>
        <p:xfrm>
          <a:off x="3019813" y="273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8454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Display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Digit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8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49" name="Google Shape;84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775" y="2117570"/>
            <a:ext cx="1147024" cy="182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2599" y="2044584"/>
            <a:ext cx="1092325" cy="1934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6" name="Google Shape;8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58" name="Google Shape;858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59" name="Google Shape;859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2" name="Google Shape;862;p3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2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5" name="Google Shape;8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0200" y="902687"/>
            <a:ext cx="1387475" cy="175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3937" y="937612"/>
            <a:ext cx="1262062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4625" y="937612"/>
            <a:ext cx="2427287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900" y="2850550"/>
            <a:ext cx="1444625" cy="19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79512" y="2850550"/>
            <a:ext cx="1668462" cy="18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3862" y="2761650"/>
            <a:ext cx="1681162" cy="1846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niqua\Desktop\Untitled.png" id="871" name="Google Shape;871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8350" y="910625"/>
            <a:ext cx="17526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79" name="Google Shape;879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80" name="Google Shape;880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3" name="Google Shape;883;p3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2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39"/>
          <p:cNvSpPr txBox="1"/>
          <p:nvPr/>
        </p:nvSpPr>
        <p:spPr>
          <a:xfrm>
            <a:off x="1519050" y="2180375"/>
            <a:ext cx="424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the circuit 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yourself……..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2" name="Google Shape;8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4" name="Google Shape;894;p40"/>
          <p:cNvSpPr txBox="1"/>
          <p:nvPr/>
        </p:nvSpPr>
        <p:spPr>
          <a:xfrm>
            <a:off x="328350" y="892048"/>
            <a:ext cx="86307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300"/>
              <a:buFont typeface="Lexend"/>
              <a:buChar char="●"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 car garage has a front door and one window, each of which has a sensor to detect whether it is open. A third sensor detects whether it is dark outside. A security system for the garage follows this rule: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alarm rings if the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 switch is turned on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side window is not closed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either the front door is not closed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it is dark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5" name="Google Shape;895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96" name="Google Shape;896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9" name="Google Shape;899;p4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7" name="Google Shape;90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09" name="Google Shape;909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0" name="Google Shape;910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3" name="Google Shape;913;p41"/>
          <p:cNvSpPr txBox="1"/>
          <p:nvPr/>
        </p:nvSpPr>
        <p:spPr>
          <a:xfrm>
            <a:off x="224750" y="177750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6" name="Google Shape;916;p41"/>
          <p:cNvGraphicFramePr/>
          <p:nvPr/>
        </p:nvGraphicFramePr>
        <p:xfrm>
          <a:off x="4408737" y="590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689800"/>
                <a:gridCol w="672250"/>
                <a:gridCol w="830000"/>
                <a:gridCol w="691225"/>
                <a:gridCol w="9617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SwitchOn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Door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Window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Dark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AlarmRing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17" name="Google Shape;917;p41"/>
          <p:cNvSpPr txBox="1"/>
          <p:nvPr/>
        </p:nvSpPr>
        <p:spPr>
          <a:xfrm>
            <a:off x="99101" y="905650"/>
            <a:ext cx="4093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Assuming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AlarmRing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Alarm rings,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Switch On 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 1 if alarm switch is on,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door is not closed,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window is not closed.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Dark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it is dark outside,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0" u="non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3" name="Google Shape;92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25" name="Google Shape;925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26" name="Google Shape;926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9" name="Google Shape;929;p42"/>
          <p:cNvSpPr txBox="1"/>
          <p:nvPr/>
        </p:nvSpPr>
        <p:spPr>
          <a:xfrm>
            <a:off x="224750" y="25350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2" name="Google Shape;932;p42"/>
          <p:cNvGraphicFramePr/>
          <p:nvPr/>
        </p:nvGraphicFramePr>
        <p:xfrm>
          <a:off x="328362" y="668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689800"/>
                <a:gridCol w="672250"/>
                <a:gridCol w="830000"/>
                <a:gridCol w="691225"/>
                <a:gridCol w="9617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SwitchOn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Door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Window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Dark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AlarmRing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3" name="Google Shape;933;p42"/>
          <p:cNvGraphicFramePr/>
          <p:nvPr/>
        </p:nvGraphicFramePr>
        <p:xfrm>
          <a:off x="6133362" y="1143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381725"/>
                <a:gridCol w="372000"/>
                <a:gridCol w="459300"/>
                <a:gridCol w="382500"/>
              </a:tblGrid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34" name="Google Shape;934;p42"/>
          <p:cNvCxnSpPr/>
          <p:nvPr/>
        </p:nvCxnSpPr>
        <p:spPr>
          <a:xfrm rot="10800000">
            <a:off x="5768750" y="767500"/>
            <a:ext cx="378000" cy="37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42"/>
          <p:cNvSpPr txBox="1"/>
          <p:nvPr/>
        </p:nvSpPr>
        <p:spPr>
          <a:xfrm>
            <a:off x="5490950" y="957437"/>
            <a:ext cx="53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SDr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42"/>
          <p:cNvSpPr txBox="1"/>
          <p:nvPr/>
        </p:nvSpPr>
        <p:spPr>
          <a:xfrm>
            <a:off x="5960387" y="72100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WDk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42"/>
          <p:cNvSpPr txBox="1"/>
          <p:nvPr/>
        </p:nvSpPr>
        <p:spPr>
          <a:xfrm>
            <a:off x="5337216" y="2385400"/>
            <a:ext cx="318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AlarmRing=SWDk+SDrW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42"/>
          <p:cNvSpPr txBox="1"/>
          <p:nvPr/>
        </p:nvSpPr>
        <p:spPr>
          <a:xfrm>
            <a:off x="4733437" y="2754700"/>
            <a:ext cx="4224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t/>
            </a:r>
            <a:endParaRPr sz="1700" u="sng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i="0" lang="en" sz="1700" u="sng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Next Step</a:t>
            </a:r>
            <a:endParaRPr i="0" sz="1700" u="none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You do have to draw the circuit for the above function</a:t>
            </a:r>
            <a:endParaRPr i="0" sz="1700" u="none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You may be asked to draw the circuit using basic gates or universal gates</a:t>
            </a:r>
            <a:endParaRPr sz="1700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By now, you should be able to do it yourself. So please try. </a:t>
            </a:r>
            <a:endParaRPr sz="1700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45" name="Google Shape;945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46" name="Google Shape;946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9" name="Google Shape;949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1" name="Google Shape;951;p43"/>
          <p:cNvGraphicFramePr/>
          <p:nvPr/>
        </p:nvGraphicFramePr>
        <p:xfrm>
          <a:off x="222238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52" name="Google Shape;952;p43"/>
          <p:cNvCxnSpPr/>
          <p:nvPr/>
        </p:nvCxnSpPr>
        <p:spPr>
          <a:xfrm rot="10800000">
            <a:off x="1840867" y="3914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43"/>
          <p:cNvSpPr txBox="1"/>
          <p:nvPr/>
        </p:nvSpPr>
        <p:spPr>
          <a:xfrm>
            <a:off x="3826300" y="5393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43"/>
          <p:cNvSpPr txBox="1"/>
          <p:nvPr/>
        </p:nvSpPr>
        <p:spPr>
          <a:xfrm>
            <a:off x="4141912" y="31680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5" name="Google Shape;955;p43"/>
          <p:cNvGraphicFramePr/>
          <p:nvPr/>
        </p:nvGraphicFramePr>
        <p:xfrm>
          <a:off x="431923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56" name="Google Shape;956;p43"/>
          <p:cNvCxnSpPr/>
          <p:nvPr/>
        </p:nvCxnSpPr>
        <p:spPr>
          <a:xfrm rot="10800000">
            <a:off x="3937717" y="3914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57" name="Google Shape;957;p43"/>
          <p:cNvGraphicFramePr/>
          <p:nvPr/>
        </p:nvGraphicFramePr>
        <p:xfrm>
          <a:off x="26708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58" name="Google Shape;958;p43"/>
          <p:cNvSpPr txBox="1"/>
          <p:nvPr/>
        </p:nvSpPr>
        <p:spPr>
          <a:xfrm>
            <a:off x="803500" y="26942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43"/>
          <p:cNvSpPr txBox="1"/>
          <p:nvPr/>
        </p:nvSpPr>
        <p:spPr>
          <a:xfrm>
            <a:off x="1119100" y="247170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0" name="Google Shape;960;p43"/>
          <p:cNvGraphicFramePr/>
          <p:nvPr/>
        </p:nvGraphicFramePr>
        <p:xfrm>
          <a:off x="1296437" y="2922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61" name="Google Shape;961;p43"/>
          <p:cNvCxnSpPr/>
          <p:nvPr/>
        </p:nvCxnSpPr>
        <p:spPr>
          <a:xfrm rot="10800000">
            <a:off x="914917" y="25463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2" name="Google Shape;962;p43"/>
          <p:cNvSpPr txBox="1"/>
          <p:nvPr/>
        </p:nvSpPr>
        <p:spPr>
          <a:xfrm>
            <a:off x="980825" y="30416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43"/>
          <p:cNvSpPr txBox="1"/>
          <p:nvPr/>
        </p:nvSpPr>
        <p:spPr>
          <a:xfrm>
            <a:off x="1384002" y="2616575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43"/>
          <p:cNvSpPr txBox="1"/>
          <p:nvPr/>
        </p:nvSpPr>
        <p:spPr>
          <a:xfrm>
            <a:off x="551224" y="35510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43"/>
          <p:cNvSpPr txBox="1"/>
          <p:nvPr/>
        </p:nvSpPr>
        <p:spPr>
          <a:xfrm>
            <a:off x="2858974" y="21722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43"/>
          <p:cNvSpPr/>
          <p:nvPr/>
        </p:nvSpPr>
        <p:spPr>
          <a:xfrm>
            <a:off x="839975" y="34640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3"/>
          <p:cNvSpPr/>
          <p:nvPr/>
        </p:nvSpPr>
        <p:spPr>
          <a:xfrm rot="5400000">
            <a:off x="2927525" y="20583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3"/>
          <p:cNvSpPr txBox="1"/>
          <p:nvPr/>
        </p:nvSpPr>
        <p:spPr>
          <a:xfrm>
            <a:off x="6130900" y="5666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43"/>
          <p:cNvSpPr txBox="1"/>
          <p:nvPr/>
        </p:nvSpPr>
        <p:spPr>
          <a:xfrm>
            <a:off x="6446501" y="344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0" name="Google Shape;970;p43"/>
          <p:cNvGraphicFramePr/>
          <p:nvPr/>
        </p:nvGraphicFramePr>
        <p:xfrm>
          <a:off x="6623837" y="7945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71" name="Google Shape;971;p43"/>
          <p:cNvCxnSpPr/>
          <p:nvPr/>
        </p:nvCxnSpPr>
        <p:spPr>
          <a:xfrm rot="10800000">
            <a:off x="6242317" y="4187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43"/>
          <p:cNvSpPr txBox="1"/>
          <p:nvPr/>
        </p:nvSpPr>
        <p:spPr>
          <a:xfrm>
            <a:off x="6308225" y="9140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43"/>
          <p:cNvSpPr txBox="1"/>
          <p:nvPr/>
        </p:nvSpPr>
        <p:spPr>
          <a:xfrm>
            <a:off x="6711398" y="488975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43"/>
          <p:cNvSpPr txBox="1"/>
          <p:nvPr/>
        </p:nvSpPr>
        <p:spPr>
          <a:xfrm>
            <a:off x="5878624" y="14234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43"/>
          <p:cNvSpPr txBox="1"/>
          <p:nvPr/>
        </p:nvSpPr>
        <p:spPr>
          <a:xfrm>
            <a:off x="7271974" y="446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43"/>
          <p:cNvSpPr/>
          <p:nvPr/>
        </p:nvSpPr>
        <p:spPr>
          <a:xfrm>
            <a:off x="6167375" y="13364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3"/>
          <p:cNvSpPr/>
          <p:nvPr/>
        </p:nvSpPr>
        <p:spPr>
          <a:xfrm rot="5400000">
            <a:off x="7340525" y="14287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3"/>
          <p:cNvSpPr txBox="1"/>
          <p:nvPr/>
        </p:nvSpPr>
        <p:spPr>
          <a:xfrm>
            <a:off x="2294787" y="42069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43"/>
          <p:cNvSpPr/>
          <p:nvPr/>
        </p:nvSpPr>
        <p:spPr>
          <a:xfrm rot="-5400000">
            <a:off x="2363350" y="36267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43"/>
          <p:cNvSpPr txBox="1"/>
          <p:nvPr/>
        </p:nvSpPr>
        <p:spPr>
          <a:xfrm>
            <a:off x="5031088" y="271791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43"/>
          <p:cNvSpPr txBox="1"/>
          <p:nvPr/>
        </p:nvSpPr>
        <p:spPr>
          <a:xfrm>
            <a:off x="5346687" y="24954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2" name="Google Shape;982;p43"/>
          <p:cNvGraphicFramePr/>
          <p:nvPr/>
        </p:nvGraphicFramePr>
        <p:xfrm>
          <a:off x="5524024" y="2945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{CD83F045-3C10-4385-8959-DC98EF5961D5}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83" name="Google Shape;983;p43"/>
          <p:cNvCxnSpPr/>
          <p:nvPr/>
        </p:nvCxnSpPr>
        <p:spPr>
          <a:xfrm rot="10800000">
            <a:off x="5142504" y="257008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43"/>
          <p:cNvSpPr txBox="1"/>
          <p:nvPr/>
        </p:nvSpPr>
        <p:spPr>
          <a:xfrm>
            <a:off x="5208413" y="306531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43"/>
          <p:cNvSpPr txBox="1"/>
          <p:nvPr/>
        </p:nvSpPr>
        <p:spPr>
          <a:xfrm>
            <a:off x="5611590" y="264028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43"/>
          <p:cNvSpPr txBox="1"/>
          <p:nvPr/>
        </p:nvSpPr>
        <p:spPr>
          <a:xfrm>
            <a:off x="4778812" y="35747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43"/>
          <p:cNvSpPr txBox="1"/>
          <p:nvPr/>
        </p:nvSpPr>
        <p:spPr>
          <a:xfrm>
            <a:off x="7086562" y="21959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43"/>
          <p:cNvSpPr/>
          <p:nvPr/>
        </p:nvSpPr>
        <p:spPr>
          <a:xfrm>
            <a:off x="5067563" y="348771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43"/>
          <p:cNvSpPr/>
          <p:nvPr/>
        </p:nvSpPr>
        <p:spPr>
          <a:xfrm rot="5400000">
            <a:off x="7155113" y="208201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3"/>
          <p:cNvSpPr txBox="1"/>
          <p:nvPr/>
        </p:nvSpPr>
        <p:spPr>
          <a:xfrm>
            <a:off x="6522374" y="42306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43"/>
          <p:cNvSpPr/>
          <p:nvPr/>
        </p:nvSpPr>
        <p:spPr>
          <a:xfrm rot="-5400000">
            <a:off x="6590938" y="365047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98" name="Google Shape;998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99" name="Google Shape;999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2" name="Google Shape;1002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44"/>
          <p:cNvSpPr txBox="1"/>
          <p:nvPr/>
        </p:nvSpPr>
        <p:spPr>
          <a:xfrm>
            <a:off x="6309325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5" name="Google Shape;1005;p44"/>
          <p:cNvGraphicFramePr/>
          <p:nvPr/>
        </p:nvGraphicFramePr>
        <p:xfrm>
          <a:off x="6832175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’x’y’z’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</a:t>
                      </a: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06" name="Google Shape;1006;p44"/>
          <p:cNvCxnSpPr/>
          <p:nvPr/>
        </p:nvCxnSpPr>
        <p:spPr>
          <a:xfrm rot="10800000">
            <a:off x="6454179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7" name="Google Shape;1007;p44"/>
          <p:cNvSpPr txBox="1"/>
          <p:nvPr/>
        </p:nvSpPr>
        <p:spPr>
          <a:xfrm>
            <a:off x="6624937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44"/>
          <p:cNvSpPr txBox="1"/>
          <p:nvPr/>
        </p:nvSpPr>
        <p:spPr>
          <a:xfrm>
            <a:off x="6878123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01   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44"/>
          <p:cNvSpPr txBox="1"/>
          <p:nvPr/>
        </p:nvSpPr>
        <p:spPr>
          <a:xfrm>
            <a:off x="8040324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44"/>
          <p:cNvSpPr/>
          <p:nvPr/>
        </p:nvSpPr>
        <p:spPr>
          <a:xfrm rot="5400000">
            <a:off x="8108875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4"/>
          <p:cNvSpPr txBox="1"/>
          <p:nvPr/>
        </p:nvSpPr>
        <p:spPr>
          <a:xfrm>
            <a:off x="8743345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44"/>
          <p:cNvSpPr/>
          <p:nvPr/>
        </p:nvSpPr>
        <p:spPr>
          <a:xfrm rot="10800000">
            <a:off x="8665525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44"/>
          <p:cNvSpPr txBox="1"/>
          <p:nvPr/>
        </p:nvSpPr>
        <p:spPr>
          <a:xfrm>
            <a:off x="7595074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44"/>
          <p:cNvSpPr/>
          <p:nvPr/>
        </p:nvSpPr>
        <p:spPr>
          <a:xfrm rot="-5400000">
            <a:off x="7663625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4"/>
          <p:cNvSpPr txBox="1"/>
          <p:nvPr/>
        </p:nvSpPr>
        <p:spPr>
          <a:xfrm>
            <a:off x="6265143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44"/>
          <p:cNvSpPr txBox="1"/>
          <p:nvPr/>
        </p:nvSpPr>
        <p:spPr>
          <a:xfrm>
            <a:off x="6515370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44"/>
          <p:cNvSpPr/>
          <p:nvPr/>
        </p:nvSpPr>
        <p:spPr>
          <a:xfrm>
            <a:off x="6505545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44"/>
          <p:cNvSpPr txBox="1"/>
          <p:nvPr/>
        </p:nvSpPr>
        <p:spPr>
          <a:xfrm>
            <a:off x="3264100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9" name="Google Shape;1019;p44"/>
          <p:cNvGraphicFramePr/>
          <p:nvPr/>
        </p:nvGraphicFramePr>
        <p:xfrm>
          <a:off x="3786950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20" name="Google Shape;1020;p44"/>
          <p:cNvCxnSpPr/>
          <p:nvPr/>
        </p:nvCxnSpPr>
        <p:spPr>
          <a:xfrm rot="10800000">
            <a:off x="3408954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1" name="Google Shape;1021;p44"/>
          <p:cNvSpPr txBox="1"/>
          <p:nvPr/>
        </p:nvSpPr>
        <p:spPr>
          <a:xfrm>
            <a:off x="3579712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44"/>
          <p:cNvSpPr txBox="1"/>
          <p:nvPr/>
        </p:nvSpPr>
        <p:spPr>
          <a:xfrm>
            <a:off x="3832898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44"/>
          <p:cNvSpPr txBox="1"/>
          <p:nvPr/>
        </p:nvSpPr>
        <p:spPr>
          <a:xfrm>
            <a:off x="4995099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44"/>
          <p:cNvSpPr/>
          <p:nvPr/>
        </p:nvSpPr>
        <p:spPr>
          <a:xfrm rot="5400000">
            <a:off x="5063650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44"/>
          <p:cNvSpPr txBox="1"/>
          <p:nvPr/>
        </p:nvSpPr>
        <p:spPr>
          <a:xfrm>
            <a:off x="5698120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44"/>
          <p:cNvSpPr/>
          <p:nvPr/>
        </p:nvSpPr>
        <p:spPr>
          <a:xfrm rot="10800000">
            <a:off x="5620300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44"/>
          <p:cNvSpPr txBox="1"/>
          <p:nvPr/>
        </p:nvSpPr>
        <p:spPr>
          <a:xfrm>
            <a:off x="4549849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44"/>
          <p:cNvSpPr/>
          <p:nvPr/>
        </p:nvSpPr>
        <p:spPr>
          <a:xfrm rot="-5400000">
            <a:off x="4618400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4"/>
          <p:cNvSpPr txBox="1"/>
          <p:nvPr/>
        </p:nvSpPr>
        <p:spPr>
          <a:xfrm>
            <a:off x="3219918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44"/>
          <p:cNvSpPr txBox="1"/>
          <p:nvPr/>
        </p:nvSpPr>
        <p:spPr>
          <a:xfrm>
            <a:off x="3470145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44"/>
          <p:cNvSpPr/>
          <p:nvPr/>
        </p:nvSpPr>
        <p:spPr>
          <a:xfrm>
            <a:off x="3460320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4"/>
          <p:cNvSpPr txBox="1"/>
          <p:nvPr/>
        </p:nvSpPr>
        <p:spPr>
          <a:xfrm>
            <a:off x="356350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33" name="Google Shape;1033;p44"/>
          <p:cNvGraphicFramePr/>
          <p:nvPr/>
        </p:nvGraphicFramePr>
        <p:xfrm>
          <a:off x="879200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{D8120664-79BB-4E9C-8FEF-70D475F9DB43}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34" name="Google Shape;1034;p44"/>
          <p:cNvCxnSpPr/>
          <p:nvPr/>
        </p:nvCxnSpPr>
        <p:spPr>
          <a:xfrm rot="10800000">
            <a:off x="501204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44"/>
          <p:cNvSpPr txBox="1"/>
          <p:nvPr/>
        </p:nvSpPr>
        <p:spPr>
          <a:xfrm>
            <a:off x="671962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44"/>
          <p:cNvSpPr txBox="1"/>
          <p:nvPr/>
        </p:nvSpPr>
        <p:spPr>
          <a:xfrm>
            <a:off x="925148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44"/>
          <p:cNvSpPr txBox="1"/>
          <p:nvPr/>
        </p:nvSpPr>
        <p:spPr>
          <a:xfrm>
            <a:off x="2087349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44"/>
          <p:cNvSpPr/>
          <p:nvPr/>
        </p:nvSpPr>
        <p:spPr>
          <a:xfrm rot="5400000">
            <a:off x="2155900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4"/>
          <p:cNvSpPr txBox="1"/>
          <p:nvPr/>
        </p:nvSpPr>
        <p:spPr>
          <a:xfrm>
            <a:off x="2790370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44"/>
          <p:cNvSpPr/>
          <p:nvPr/>
        </p:nvSpPr>
        <p:spPr>
          <a:xfrm rot="10800000">
            <a:off x="2712550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4"/>
          <p:cNvSpPr txBox="1"/>
          <p:nvPr/>
        </p:nvSpPr>
        <p:spPr>
          <a:xfrm>
            <a:off x="1642099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44"/>
          <p:cNvSpPr/>
          <p:nvPr/>
        </p:nvSpPr>
        <p:spPr>
          <a:xfrm rot="-5400000">
            <a:off x="1710650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44"/>
          <p:cNvSpPr txBox="1"/>
          <p:nvPr/>
        </p:nvSpPr>
        <p:spPr>
          <a:xfrm>
            <a:off x="312168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44"/>
          <p:cNvSpPr txBox="1"/>
          <p:nvPr/>
        </p:nvSpPr>
        <p:spPr>
          <a:xfrm>
            <a:off x="562395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44"/>
          <p:cNvSpPr/>
          <p:nvPr/>
        </p:nvSpPr>
        <p:spPr>
          <a:xfrm>
            <a:off x="552570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