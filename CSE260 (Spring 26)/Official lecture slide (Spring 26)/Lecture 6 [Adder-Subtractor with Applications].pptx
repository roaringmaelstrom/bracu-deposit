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y="5143500" cx="9144000"/>
  <p:notesSz cx="6858000" cy="9144000"/>
  <p:embeddedFontLst>
    <p:embeddedFont>
      <p:font typeface="Lexend Light"/>
      <p:regular r:id="rId41"/>
      <p:bold r:id="rId42"/>
    </p:embeddedFont>
    <p:embeddedFont>
      <p:font typeface="Lexend Medium"/>
      <p:regular r:id="rId43"/>
      <p:bold r:id="rId44"/>
    </p:embeddedFont>
    <p:embeddedFont>
      <p:font typeface="Lexend"/>
      <p:regular r:id="rId45"/>
      <p:bold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1E18CAC-6FB8-4D9C-BE91-A2013CE57BB7}">
  <a:tblStyle styleId="{91E18CAC-6FB8-4D9C-BE91-A2013CE57BB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font" Target="fonts/LexendLight-bold.fntdata"/><Relationship Id="rId41" Type="http://schemas.openxmlformats.org/officeDocument/2006/relationships/font" Target="fonts/LexendLight-regular.fntdata"/><Relationship Id="rId22" Type="http://schemas.openxmlformats.org/officeDocument/2006/relationships/slide" Target="slides/slide16.xml"/><Relationship Id="rId44" Type="http://schemas.openxmlformats.org/officeDocument/2006/relationships/font" Target="fonts/LexendMedium-bold.fntdata"/><Relationship Id="rId21" Type="http://schemas.openxmlformats.org/officeDocument/2006/relationships/slide" Target="slides/slide15.xml"/><Relationship Id="rId43" Type="http://schemas.openxmlformats.org/officeDocument/2006/relationships/font" Target="fonts/LexendMedium-regular.fntdata"/><Relationship Id="rId24" Type="http://schemas.openxmlformats.org/officeDocument/2006/relationships/slide" Target="slides/slide18.xml"/><Relationship Id="rId46" Type="http://schemas.openxmlformats.org/officeDocument/2006/relationships/font" Target="fonts/Lexend-bold.fntdata"/><Relationship Id="rId23" Type="http://schemas.openxmlformats.org/officeDocument/2006/relationships/slide" Target="slides/slide17.xml"/><Relationship Id="rId45" Type="http://schemas.openxmlformats.org/officeDocument/2006/relationships/font" Target="fonts/Lexend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61df1bc679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61df1bc679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606c41cc50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606c41cc50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606c41cc50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606c41cc50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606c41cc50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606c41cc50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606c41cc50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606c41cc50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606c41cc50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606c41cc50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606c41cc50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606c41cc50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606c41cc50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606c41cc50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65cd0781e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65cd0781e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65cd0781e3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65cd0781e3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65cd0781e3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65cd0781e3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65cd0781e3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65cd0781e3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65cd0781e3_0_4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65cd0781e3_0_4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65cd0781e3_0_4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65cd0781e3_0_4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65cd0781e3_0_4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365cd0781e3_0_4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65cf5ae00a_0_14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365cf5ae00a_0_14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65cf5ae00a_0_15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365cf5ae00a_0_15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65edb05e2a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365edb05e2a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70c71de3c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370c71de3c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65edb05e2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365edb05e2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65edb05e2a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365edb05e2a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65edb05e2a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365edb05e2a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65cd0781e3_0_6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g365cd0781e3_0_6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365cf5ae00a_0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365cf5ae00a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365cf5ae00a_0_4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365cf5ae00a_0_4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365cf5ae00a_0_1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" name="Google Shape;609;g365cf5ae00a_0_1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365cf5ae00a_0_1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5" name="Google Shape;625;g365cf5ae00a_0_1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365cf5ae00a_0_1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2" name="Google Shape;642;g365cf5ae00a_0_1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365cf5ae00a_0_1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8" name="Google Shape;658;g365cf5ae00a_0_1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365cf5ae00a_0_1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4" name="Google Shape;674;g365cf5ae00a_0_1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360609e3544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1" name="Google Shape;691;g360609e3544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g365cf5ae00a_0_1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1" name="Google Shape;721;g365cf5ae00a_0_1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65cf5ae00a_0_1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4" name="Google Shape;744;g365cf5ae00a_0_1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85800" y="4572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85800" y="148590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858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2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1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1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1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1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208725" y="344175"/>
            <a:ext cx="8501100" cy="20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0">
                <a:latin typeface="Lexend"/>
                <a:ea typeface="Lexend"/>
                <a:cs typeface="Lexend"/>
                <a:sym typeface="Lexend"/>
              </a:rPr>
              <a:t>Lecture 6</a:t>
            </a:r>
            <a:endParaRPr sz="6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200">
                <a:latin typeface="Lexend"/>
                <a:ea typeface="Lexend"/>
                <a:cs typeface="Lexend"/>
                <a:sym typeface="Lexend"/>
              </a:rPr>
              <a:t>Adder-Subtractor with Applications</a:t>
            </a:r>
            <a:endParaRPr sz="4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0" y="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Engineering, BRAC University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321450" y="4484225"/>
            <a:ext cx="8501100" cy="10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>
                <a:latin typeface="Lexend"/>
                <a:ea typeface="Lexend"/>
                <a:cs typeface="Lexend"/>
                <a:sym typeface="Lexend"/>
              </a:rPr>
              <a:t>CSE260 : Digital Logic Design</a:t>
            </a:r>
            <a:endParaRPr sz="50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17375" y="2732296"/>
            <a:ext cx="4709251" cy="169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328350" y="766838"/>
            <a:ext cx="8630700" cy="25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94665" lvl="0" marL="447675" rtl="0" algn="l">
              <a:spcBef>
                <a:spcPts val="360"/>
              </a:spcBef>
              <a:spcAft>
                <a:spcPts val="0"/>
              </a:spcAft>
              <a:buClr>
                <a:srgbClr val="CC9900"/>
              </a:buClr>
              <a:buSzPts val="2000"/>
              <a:buFont typeface="Lexend"/>
              <a:buChar char="■"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The combinational circuit that performs the addition of two bits is called a half-adder.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If the bits are X and Y, we will get C (Carry) &amp; S (Sum)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	 X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 u="sng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 + </a:t>
            </a:r>
            <a:r>
              <a:rPr lang="en" sz="2000" u="sng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 sz="2000" u="sng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		  C	 S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3" name="Google Shape;73;p15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74" name="Google Shape;74;p1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5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Half Adder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0" name="Google Shape;80;p15"/>
          <p:cNvGrpSpPr/>
          <p:nvPr/>
        </p:nvGrpSpPr>
        <p:grpSpPr>
          <a:xfrm>
            <a:off x="2505075" y="2913675"/>
            <a:ext cx="4133850" cy="1466849"/>
            <a:chOff x="1584" y="2736"/>
            <a:chExt cx="2604" cy="924"/>
          </a:xfrm>
        </p:grpSpPr>
        <p:sp>
          <p:nvSpPr>
            <p:cNvPr id="81" name="Google Shape;81;p15"/>
            <p:cNvSpPr txBox="1"/>
            <p:nvPr/>
          </p:nvSpPr>
          <p:spPr>
            <a:xfrm>
              <a:off x="2424" y="2736"/>
              <a:ext cx="900" cy="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2" name="Google Shape;82;p15"/>
            <p:cNvSpPr txBox="1"/>
            <p:nvPr/>
          </p:nvSpPr>
          <p:spPr>
            <a:xfrm>
              <a:off x="2496" y="2832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Half</a:t>
              </a:r>
              <a:endParaRPr i="0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Adder</a:t>
              </a:r>
              <a:endParaRPr i="0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83" name="Google Shape;83;p15"/>
            <p:cNvCxnSpPr/>
            <p:nvPr/>
          </p:nvCxnSpPr>
          <p:spPr>
            <a:xfrm>
              <a:off x="1824" y="2928"/>
              <a:ext cx="6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84" name="Google Shape;84;p15"/>
            <p:cNvCxnSpPr/>
            <p:nvPr/>
          </p:nvCxnSpPr>
          <p:spPr>
            <a:xfrm>
              <a:off x="1824" y="3216"/>
              <a:ext cx="6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85" name="Google Shape;85;p15"/>
            <p:cNvCxnSpPr/>
            <p:nvPr/>
          </p:nvCxnSpPr>
          <p:spPr>
            <a:xfrm>
              <a:off x="3312" y="2928"/>
              <a:ext cx="6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86" name="Google Shape;86;p15"/>
            <p:cNvCxnSpPr/>
            <p:nvPr/>
          </p:nvCxnSpPr>
          <p:spPr>
            <a:xfrm>
              <a:off x="3312" y="3216"/>
              <a:ext cx="6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87" name="Google Shape;87;p15"/>
            <p:cNvSpPr txBox="1"/>
            <p:nvPr/>
          </p:nvSpPr>
          <p:spPr>
            <a:xfrm>
              <a:off x="1584" y="2832"/>
              <a:ext cx="3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X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Y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8" name="Google Shape;88;p15"/>
            <p:cNvSpPr txBox="1"/>
            <p:nvPr/>
          </p:nvSpPr>
          <p:spPr>
            <a:xfrm>
              <a:off x="3888" y="2832"/>
              <a:ext cx="3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S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9" name="Google Shape;89;p15"/>
            <p:cNvSpPr txBox="1"/>
            <p:nvPr/>
          </p:nvSpPr>
          <p:spPr>
            <a:xfrm>
              <a:off x="2544" y="3360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(X + Y)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5" name="Google Shape;9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97" name="Google Shape;97;p16"/>
          <p:cNvSpPr txBox="1"/>
          <p:nvPr/>
        </p:nvSpPr>
        <p:spPr>
          <a:xfrm>
            <a:off x="328350" y="766838"/>
            <a:ext cx="8630700" cy="3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Now, we draw the truth table for all possible input combinations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	 0			 0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 u="sng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 + 0		</a:t>
            </a:r>
            <a:r>
              <a:rPr lang="en" sz="2000" u="sng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 + 1</a:t>
            </a:r>
            <a:endParaRPr sz="2000" u="sng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		  0	 0</a:t>
            </a: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		  0	 1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457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	 1			 1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457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u="sng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 + 0		    + 1</a:t>
            </a:r>
            <a:endParaRPr sz="2000" u="sng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		  0	 1 		  1	 0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8" name="Google Shape;98;p16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99" name="Google Shape;99;p16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6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6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2" name="Google Shape;102;p16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Half Adder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" name="Google Shape;103;p16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" name="Google Shape;104;p16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05" name="Google Shape;105;p16"/>
          <p:cNvGraphicFramePr/>
          <p:nvPr/>
        </p:nvGraphicFramePr>
        <p:xfrm>
          <a:off x="5654125" y="2110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{91E18CAC-6FB8-4D9C-BE91-A2013CE57BB7}</a:tableStyleId>
              </a:tblPr>
              <a:tblGrid>
                <a:gridCol w="410250"/>
                <a:gridCol w="410250"/>
                <a:gridCol w="410250"/>
                <a:gridCol w="410250"/>
              </a:tblGrid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1" name="Google Shape;11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13" name="Google Shape;113;p17"/>
          <p:cNvSpPr txBox="1"/>
          <p:nvPr/>
        </p:nvSpPr>
        <p:spPr>
          <a:xfrm>
            <a:off x="328350" y="766838"/>
            <a:ext cx="86307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From the truth table, we find out the SOP to get the boolean function &amp; simplify it.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C = XY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S = X'Y + XY' = X⊕Y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4" name="Google Shape;114;p17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115" name="Google Shape;115;p17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7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7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8" name="Google Shape;118;p17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Half Adder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" name="Google Shape;119;p17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7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21" name="Google Shape;121;p17"/>
          <p:cNvGraphicFramePr/>
          <p:nvPr/>
        </p:nvGraphicFramePr>
        <p:xfrm>
          <a:off x="684300" y="1567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{91E18CAC-6FB8-4D9C-BE91-A2013CE57BB7}</a:tableStyleId>
              </a:tblPr>
              <a:tblGrid>
                <a:gridCol w="410250"/>
                <a:gridCol w="410250"/>
                <a:gridCol w="410250"/>
                <a:gridCol w="410250"/>
              </a:tblGrid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b="1"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</a:t>
                      </a:r>
                      <a:endParaRPr b="1"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2" name="Google Shape;122;p17"/>
          <p:cNvSpPr txBox="1"/>
          <p:nvPr/>
        </p:nvSpPr>
        <p:spPr>
          <a:xfrm>
            <a:off x="3780575" y="1921250"/>
            <a:ext cx="5178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Now, we draw the logic diagram.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3" name="Google Shape;12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08421" y="2966401"/>
            <a:ext cx="4689628" cy="196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8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9" name="Google Shape;12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31" name="Google Shape;131;p18"/>
          <p:cNvSpPr txBox="1"/>
          <p:nvPr/>
        </p:nvSpPr>
        <p:spPr>
          <a:xfrm>
            <a:off x="328350" y="902674"/>
            <a:ext cx="8630700" cy="25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Half-adder adds up only two bits. 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To add two binary numbers, we need to add 3 bits (including the carry).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Example: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Need </a:t>
            </a:r>
            <a:r>
              <a:rPr b="1"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Full Adder</a:t>
            </a: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(so called as it can be made from two half-adders).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2" name="Google Shape;132;p18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133" name="Google Shape;133;p18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8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8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6" name="Google Shape;136;p18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Full Adder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" name="Google Shape;137;p18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" name="Google Shape;138;p18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9" name="Google Shape;13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32150" y="1939125"/>
            <a:ext cx="2679699" cy="126523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0" name="Google Shape;140;p18"/>
          <p:cNvGrpSpPr/>
          <p:nvPr/>
        </p:nvGrpSpPr>
        <p:grpSpPr>
          <a:xfrm>
            <a:off x="2505075" y="3417000"/>
            <a:ext cx="4133850" cy="1466849"/>
            <a:chOff x="2208" y="3072"/>
            <a:chExt cx="2604" cy="924"/>
          </a:xfrm>
        </p:grpSpPr>
        <p:sp>
          <p:nvSpPr>
            <p:cNvPr id="141" name="Google Shape;141;p18"/>
            <p:cNvSpPr txBox="1"/>
            <p:nvPr/>
          </p:nvSpPr>
          <p:spPr>
            <a:xfrm>
              <a:off x="3024" y="3072"/>
              <a:ext cx="900" cy="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2" name="Google Shape;142;p18"/>
            <p:cNvSpPr txBox="1"/>
            <p:nvPr/>
          </p:nvSpPr>
          <p:spPr>
            <a:xfrm>
              <a:off x="3120" y="3168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rPr b="1" i="0" lang="en" sz="16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Full</a:t>
              </a:r>
              <a:endParaRPr i="0" sz="10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rPr b="1" i="0" lang="en" sz="16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Adder</a:t>
              </a:r>
              <a:endParaRPr i="0" sz="10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43" name="Google Shape;143;p18"/>
            <p:cNvCxnSpPr/>
            <p:nvPr/>
          </p:nvCxnSpPr>
          <p:spPr>
            <a:xfrm>
              <a:off x="2448" y="3216"/>
              <a:ext cx="6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44" name="Google Shape;144;p18"/>
            <p:cNvCxnSpPr/>
            <p:nvPr/>
          </p:nvCxnSpPr>
          <p:spPr>
            <a:xfrm>
              <a:off x="2448" y="3408"/>
              <a:ext cx="6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45" name="Google Shape;145;p18"/>
            <p:cNvCxnSpPr/>
            <p:nvPr/>
          </p:nvCxnSpPr>
          <p:spPr>
            <a:xfrm>
              <a:off x="3936" y="3264"/>
              <a:ext cx="6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46" name="Google Shape;146;p18"/>
            <p:cNvCxnSpPr/>
            <p:nvPr/>
          </p:nvCxnSpPr>
          <p:spPr>
            <a:xfrm>
              <a:off x="3936" y="3552"/>
              <a:ext cx="6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47" name="Google Shape;147;p18"/>
            <p:cNvSpPr txBox="1"/>
            <p:nvPr/>
          </p:nvSpPr>
          <p:spPr>
            <a:xfrm>
              <a:off x="2208" y="3072"/>
              <a:ext cx="3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X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8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Y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8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Z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8" name="Google Shape;148;p18"/>
            <p:cNvSpPr txBox="1"/>
            <p:nvPr/>
          </p:nvSpPr>
          <p:spPr>
            <a:xfrm>
              <a:off x="4512" y="3168"/>
              <a:ext cx="3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S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9" name="Google Shape;149;p18"/>
            <p:cNvSpPr txBox="1"/>
            <p:nvPr/>
          </p:nvSpPr>
          <p:spPr>
            <a:xfrm>
              <a:off x="3072" y="3696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(X + Y + Z)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50" name="Google Shape;150;p18"/>
            <p:cNvCxnSpPr/>
            <p:nvPr/>
          </p:nvCxnSpPr>
          <p:spPr>
            <a:xfrm>
              <a:off x="2448" y="3600"/>
              <a:ext cx="6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9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6" name="Google Shape;15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58" name="Google Shape;158;p19"/>
          <p:cNvSpPr txBox="1"/>
          <p:nvPr/>
        </p:nvSpPr>
        <p:spPr>
          <a:xfrm>
            <a:off x="328350" y="766838"/>
            <a:ext cx="8630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From the truth table, we find out the SOP to get the boolean function &amp; simplify it.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9" name="Google Shape;159;p19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160" name="Google Shape;160;p19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9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9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3" name="Google Shape;163;p19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Full </a:t>
            </a: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Adder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6" name="Google Shape;166;p19"/>
          <p:cNvGraphicFramePr/>
          <p:nvPr/>
        </p:nvGraphicFramePr>
        <p:xfrm>
          <a:off x="328350" y="18462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{91E18CAC-6FB8-4D9C-BE91-A2013CE57BB7}</a:tableStyleId>
              </a:tblPr>
              <a:tblGrid>
                <a:gridCol w="431000"/>
                <a:gridCol w="431000"/>
                <a:gridCol w="431000"/>
                <a:gridCol w="431000"/>
                <a:gridCol w="431000"/>
              </a:tblGrid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X</a:t>
                      </a:r>
                      <a:endParaRPr sz="12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Y</a:t>
                      </a:r>
                      <a:endParaRPr sz="12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Z</a:t>
                      </a:r>
                      <a:endParaRPr sz="12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C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S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2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2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2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2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7" name="Google Shape;167;p19"/>
          <p:cNvSpPr/>
          <p:nvPr/>
        </p:nvSpPr>
        <p:spPr>
          <a:xfrm>
            <a:off x="5783825" y="1567250"/>
            <a:ext cx="3360177" cy="1265417"/>
          </a:xfrm>
          <a:custGeom>
            <a:rect b="b" l="l" r="r" t="t"/>
            <a:pathLst>
              <a:path extrusionOk="0" h="949656" w="1775523">
                <a:moveTo>
                  <a:pt x="1439418" y="0"/>
                </a:moveTo>
                <a:lnTo>
                  <a:pt x="336232" y="0"/>
                </a:lnTo>
                <a:cubicBezTo>
                  <a:pt x="151320" y="0"/>
                  <a:pt x="0" y="151321"/>
                  <a:pt x="0" y="336233"/>
                </a:cubicBezTo>
                <a:lnTo>
                  <a:pt x="0" y="336233"/>
                </a:lnTo>
                <a:cubicBezTo>
                  <a:pt x="0" y="521145"/>
                  <a:pt x="151320" y="672465"/>
                  <a:pt x="336232" y="672465"/>
                </a:cubicBezTo>
                <a:lnTo>
                  <a:pt x="1208912" y="672465"/>
                </a:lnTo>
                <a:cubicBezTo>
                  <a:pt x="1243330" y="724091"/>
                  <a:pt x="1406017" y="956183"/>
                  <a:pt x="1544827" y="949516"/>
                </a:cubicBezTo>
                <a:lnTo>
                  <a:pt x="1545018" y="949516"/>
                </a:lnTo>
                <a:cubicBezTo>
                  <a:pt x="1551939" y="949516"/>
                  <a:pt x="1555750" y="941515"/>
                  <a:pt x="1551305" y="936181"/>
                </a:cubicBezTo>
                <a:cubicBezTo>
                  <a:pt x="1540700" y="923481"/>
                  <a:pt x="1529143" y="904431"/>
                  <a:pt x="1523364" y="893763"/>
                </a:cubicBezTo>
                <a:cubicBezTo>
                  <a:pt x="1516825" y="881761"/>
                  <a:pt x="1463992" y="766191"/>
                  <a:pt x="1473073" y="670751"/>
                </a:cubicBezTo>
                <a:cubicBezTo>
                  <a:pt x="1642300" y="653669"/>
                  <a:pt x="1775523" y="509778"/>
                  <a:pt x="1775523" y="336233"/>
                </a:cubicBezTo>
                <a:lnTo>
                  <a:pt x="1775523" y="336233"/>
                </a:lnTo>
                <a:cubicBezTo>
                  <a:pt x="1775523" y="151321"/>
                  <a:pt x="1624202" y="0"/>
                  <a:pt x="1439291" y="0"/>
                </a:cubicBezTo>
                <a:close/>
              </a:path>
            </a:pathLst>
          </a:custGeom>
          <a:solidFill>
            <a:srgbClr val="28C8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lt1"/>
                </a:solidFill>
              </a:rPr>
              <a:t>Note:</a:t>
            </a:r>
            <a:endParaRPr b="1" sz="15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lt1"/>
                </a:solidFill>
              </a:rPr>
              <a:t>Z - carry in (to the current position)</a:t>
            </a:r>
            <a:endParaRPr b="1" sz="15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lt1"/>
                </a:solidFill>
              </a:rPr>
              <a:t>C - carry out (to the next position) </a:t>
            </a:r>
            <a:endParaRPr b="1" sz="15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5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500">
              <a:solidFill>
                <a:schemeClr val="lt1"/>
              </a:solidFill>
            </a:endParaRPr>
          </a:p>
        </p:txBody>
      </p:sp>
      <p:sp>
        <p:nvSpPr>
          <p:cNvPr id="168" name="Google Shape;168;p19"/>
          <p:cNvSpPr txBox="1"/>
          <p:nvPr/>
        </p:nvSpPr>
        <p:spPr>
          <a:xfrm>
            <a:off x="2946600" y="3022650"/>
            <a:ext cx="41349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C = X’YZ + XY’Z + XYZ’ + XYZ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S = X'Y'Z + XYZ + X'YZ' + XY'Z'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0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4" name="Google Shape;17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328350" y="766838"/>
            <a:ext cx="8630700" cy="40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Simplifying,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C = X’YZ + XY’Z + XYZ’ + XYZ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= Z (X’Y + XY’) + XY (Z + Z’)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= Z (X ⊕ Y) + XY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S = X’Y’Z + X’YZ’ + XY’Z’ + XYZ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= X’ (Y’Z + YZ’) + X (Y’Z’ + YZ)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= X’ (Y⊕ Z) + X (Y⊕ Z)’ [</a:t>
            </a:r>
            <a:r>
              <a:rPr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(Y ⊕ Z) = A</a:t>
            </a: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]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= X’</a:t>
            </a:r>
            <a:r>
              <a:rPr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+ X</a:t>
            </a:r>
            <a:r>
              <a:rPr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’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= X ⊕ </a:t>
            </a:r>
            <a:r>
              <a:rPr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20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= X ⊕ </a:t>
            </a:r>
            <a:r>
              <a:rPr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Y ⊕ Z</a:t>
            </a:r>
            <a:endParaRPr sz="20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7" name="Google Shape;177;p20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178" name="Google Shape;178;p20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20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20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1" name="Google Shape;181;p20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Full Adder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1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9" name="Google Shape;18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91" name="Google Shape;191;p21"/>
          <p:cNvSpPr txBox="1"/>
          <p:nvPr/>
        </p:nvSpPr>
        <p:spPr>
          <a:xfrm>
            <a:off x="328350" y="766838"/>
            <a:ext cx="8630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Circuit</a:t>
            </a:r>
            <a:endParaRPr sz="20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2" name="Google Shape;192;p21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193" name="Google Shape;193;p21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21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21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6" name="Google Shape;196;p21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Full Adder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1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9" name="Google Shape;19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317509"/>
            <a:ext cx="9144000" cy="32876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2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07" name="Google Shape;207;p22"/>
          <p:cNvSpPr txBox="1"/>
          <p:nvPr/>
        </p:nvSpPr>
        <p:spPr>
          <a:xfrm>
            <a:off x="328350" y="4304688"/>
            <a:ext cx="8630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Full Adder made from two Half-Adders (+ OR gate).</a:t>
            </a:r>
            <a:endParaRPr sz="20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8" name="Google Shape;208;p22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209" name="Google Shape;209;p22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22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22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2" name="Google Shape;212;p22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Why It Is Called Full Adder?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2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2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5" name="Google Shape;21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959859"/>
            <a:ext cx="9144000" cy="3287657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2"/>
          <p:cNvSpPr txBox="1"/>
          <p:nvPr/>
        </p:nvSpPr>
        <p:spPr>
          <a:xfrm>
            <a:off x="2579850" y="1100875"/>
            <a:ext cx="1734900" cy="2486100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2"/>
          <p:cNvSpPr txBox="1"/>
          <p:nvPr/>
        </p:nvSpPr>
        <p:spPr>
          <a:xfrm>
            <a:off x="4896450" y="1100875"/>
            <a:ext cx="1734900" cy="2486100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8" name="Google Shape;218;p22"/>
          <p:cNvCxnSpPr>
            <a:stCxn id="207" idx="0"/>
            <a:endCxn id="216" idx="2"/>
          </p:cNvCxnSpPr>
          <p:nvPr/>
        </p:nvCxnSpPr>
        <p:spPr>
          <a:xfrm rot="10800000">
            <a:off x="3447300" y="3587088"/>
            <a:ext cx="1196400" cy="7176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219" name="Google Shape;219;p22"/>
          <p:cNvCxnSpPr>
            <a:stCxn id="207" idx="0"/>
            <a:endCxn id="217" idx="2"/>
          </p:cNvCxnSpPr>
          <p:nvPr/>
        </p:nvCxnSpPr>
        <p:spPr>
          <a:xfrm flipH="1" rot="10800000">
            <a:off x="4643700" y="3587088"/>
            <a:ext cx="1120200" cy="7176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220" name="Google Shape;220;p22"/>
          <p:cNvCxnSpPr/>
          <p:nvPr/>
        </p:nvCxnSpPr>
        <p:spPr>
          <a:xfrm flipH="1" rot="10800000">
            <a:off x="6206825" y="3768425"/>
            <a:ext cx="1023900" cy="6675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miter lim="800000"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3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6" name="Google Shape;22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228" name="Google Shape;228;p23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229" name="Google Shape;229;p23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23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23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2" name="Google Shape;232;p23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4-bit Parallel Adder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3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3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3"/>
          <p:cNvSpPr txBox="1"/>
          <p:nvPr/>
        </p:nvSpPr>
        <p:spPr>
          <a:xfrm>
            <a:off x="328350" y="766838"/>
            <a:ext cx="8630700" cy="1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Consider a circuit to add two 4-bit numbers together and a carry-in, to produce a 5-bit result: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6" name="Google Shape;236;p23"/>
          <p:cNvGrpSpPr/>
          <p:nvPr/>
        </p:nvGrpSpPr>
        <p:grpSpPr>
          <a:xfrm>
            <a:off x="1933575" y="1550250"/>
            <a:ext cx="5062200" cy="2537600"/>
            <a:chOff x="1392" y="1872"/>
            <a:chExt cx="3324" cy="1692"/>
          </a:xfrm>
        </p:grpSpPr>
        <p:sp>
          <p:nvSpPr>
            <p:cNvPr id="237" name="Google Shape;237;p23"/>
            <p:cNvSpPr txBox="1"/>
            <p:nvPr/>
          </p:nvSpPr>
          <p:spPr>
            <a:xfrm>
              <a:off x="2160" y="2400"/>
              <a:ext cx="2100" cy="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8" name="Google Shape;238;p23"/>
            <p:cNvSpPr txBox="1"/>
            <p:nvPr/>
          </p:nvSpPr>
          <p:spPr>
            <a:xfrm>
              <a:off x="2496" y="2496"/>
              <a:ext cx="15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rPr b="1" i="0" lang="en" sz="20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4-bit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rPr b="1" i="0" lang="en" sz="20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Parallel Adder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9" name="Google Shape;239;p23"/>
            <p:cNvSpPr txBox="1"/>
            <p:nvPr/>
          </p:nvSpPr>
          <p:spPr>
            <a:xfrm>
              <a:off x="1392" y="2592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40" name="Google Shape;240;p23"/>
            <p:cNvCxnSpPr/>
            <p:nvPr/>
          </p:nvCxnSpPr>
          <p:spPr>
            <a:xfrm rot="10800000">
              <a:off x="1860" y="2736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41" name="Google Shape;241;p23"/>
            <p:cNvCxnSpPr/>
            <p:nvPr/>
          </p:nvCxnSpPr>
          <p:spPr>
            <a:xfrm rot="5400000">
              <a:off x="2586" y="2262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42" name="Google Shape;242;p23"/>
            <p:cNvCxnSpPr/>
            <p:nvPr/>
          </p:nvCxnSpPr>
          <p:spPr>
            <a:xfrm rot="10800000">
              <a:off x="4164" y="2736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43" name="Google Shape;243;p23"/>
            <p:cNvCxnSpPr/>
            <p:nvPr/>
          </p:nvCxnSpPr>
          <p:spPr>
            <a:xfrm rot="5400000">
              <a:off x="2778" y="2262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44" name="Google Shape;244;p23"/>
            <p:cNvCxnSpPr/>
            <p:nvPr/>
          </p:nvCxnSpPr>
          <p:spPr>
            <a:xfrm rot="5400000">
              <a:off x="3258" y="2262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45" name="Google Shape;245;p23"/>
            <p:cNvCxnSpPr/>
            <p:nvPr/>
          </p:nvCxnSpPr>
          <p:spPr>
            <a:xfrm rot="5400000">
              <a:off x="3450" y="2262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246" name="Google Shape;246;p23"/>
            <p:cNvSpPr txBox="1"/>
            <p:nvPr/>
          </p:nvSpPr>
          <p:spPr>
            <a:xfrm>
              <a:off x="4416" y="2640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0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7" name="Google Shape;247;p23"/>
            <p:cNvSpPr txBox="1"/>
            <p:nvPr/>
          </p:nvSpPr>
          <p:spPr>
            <a:xfrm>
              <a:off x="2544" y="187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X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8" name="Google Shape;248;p23"/>
            <p:cNvSpPr txBox="1"/>
            <p:nvPr/>
          </p:nvSpPr>
          <p:spPr>
            <a:xfrm>
              <a:off x="2736" y="187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X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0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9" name="Google Shape;249;p23"/>
            <p:cNvSpPr txBox="1"/>
            <p:nvPr/>
          </p:nvSpPr>
          <p:spPr>
            <a:xfrm>
              <a:off x="3216" y="187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Y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0" name="Google Shape;250;p23"/>
            <p:cNvSpPr txBox="1"/>
            <p:nvPr/>
          </p:nvSpPr>
          <p:spPr>
            <a:xfrm>
              <a:off x="3456" y="187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Y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1" name="Google Shape;251;p23"/>
            <p:cNvSpPr txBox="1"/>
            <p:nvPr/>
          </p:nvSpPr>
          <p:spPr>
            <a:xfrm>
              <a:off x="2736" y="3264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S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2" name="Google Shape;252;p23"/>
            <p:cNvSpPr txBox="1"/>
            <p:nvPr/>
          </p:nvSpPr>
          <p:spPr>
            <a:xfrm>
              <a:off x="2928" y="3264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S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3" name="Google Shape;253;p23"/>
            <p:cNvSpPr txBox="1"/>
            <p:nvPr/>
          </p:nvSpPr>
          <p:spPr>
            <a:xfrm>
              <a:off x="3140" y="3264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S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4" name="Google Shape;254;p23"/>
            <p:cNvSpPr txBox="1"/>
            <p:nvPr/>
          </p:nvSpPr>
          <p:spPr>
            <a:xfrm>
              <a:off x="3312" y="3264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S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0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55" name="Google Shape;255;p23"/>
            <p:cNvCxnSpPr/>
            <p:nvPr/>
          </p:nvCxnSpPr>
          <p:spPr>
            <a:xfrm rot="5400000">
              <a:off x="2730" y="3174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56" name="Google Shape;256;p23"/>
            <p:cNvCxnSpPr/>
            <p:nvPr/>
          </p:nvCxnSpPr>
          <p:spPr>
            <a:xfrm rot="5400000">
              <a:off x="2922" y="3174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57" name="Google Shape;257;p23"/>
            <p:cNvCxnSpPr/>
            <p:nvPr/>
          </p:nvCxnSpPr>
          <p:spPr>
            <a:xfrm rot="5400000">
              <a:off x="3114" y="3174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58" name="Google Shape;258;p23"/>
            <p:cNvCxnSpPr/>
            <p:nvPr/>
          </p:nvCxnSpPr>
          <p:spPr>
            <a:xfrm rot="5400000">
              <a:off x="3306" y="3174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59" name="Google Shape;259;p23"/>
            <p:cNvCxnSpPr/>
            <p:nvPr/>
          </p:nvCxnSpPr>
          <p:spPr>
            <a:xfrm rot="5400000">
              <a:off x="3642" y="2262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60" name="Google Shape;260;p23"/>
            <p:cNvCxnSpPr/>
            <p:nvPr/>
          </p:nvCxnSpPr>
          <p:spPr>
            <a:xfrm rot="5400000">
              <a:off x="3834" y="2262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261" name="Google Shape;261;p23"/>
            <p:cNvSpPr txBox="1"/>
            <p:nvPr/>
          </p:nvSpPr>
          <p:spPr>
            <a:xfrm>
              <a:off x="3648" y="187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Y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2" name="Google Shape;262;p23"/>
            <p:cNvSpPr txBox="1"/>
            <p:nvPr/>
          </p:nvSpPr>
          <p:spPr>
            <a:xfrm>
              <a:off x="3840" y="187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Y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0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63" name="Google Shape;263;p23"/>
            <p:cNvCxnSpPr/>
            <p:nvPr/>
          </p:nvCxnSpPr>
          <p:spPr>
            <a:xfrm rot="5400000">
              <a:off x="2202" y="2262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64" name="Google Shape;264;p23"/>
            <p:cNvCxnSpPr/>
            <p:nvPr/>
          </p:nvCxnSpPr>
          <p:spPr>
            <a:xfrm rot="5400000">
              <a:off x="2394" y="2262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265" name="Google Shape;265;p23"/>
            <p:cNvSpPr txBox="1"/>
            <p:nvPr/>
          </p:nvSpPr>
          <p:spPr>
            <a:xfrm>
              <a:off x="2160" y="187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X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6" name="Google Shape;266;p23"/>
            <p:cNvSpPr txBox="1"/>
            <p:nvPr/>
          </p:nvSpPr>
          <p:spPr>
            <a:xfrm>
              <a:off x="2352" y="187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X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67" name="Google Shape;267;p23"/>
          <p:cNvSpPr txBox="1"/>
          <p:nvPr/>
        </p:nvSpPr>
        <p:spPr>
          <a:xfrm>
            <a:off x="328350" y="4114853"/>
            <a:ext cx="8630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5-bit result is sufficient because the largest result is: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		(1111)</a:t>
            </a:r>
            <a:r>
              <a:rPr baseline="-25000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+(1111)</a:t>
            </a:r>
            <a:r>
              <a:rPr baseline="-25000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+(1)</a:t>
            </a:r>
            <a:r>
              <a:rPr baseline="-25000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(11111)</a:t>
            </a:r>
            <a:r>
              <a:rPr baseline="-25000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-25000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" name="Google Shape;268;p23"/>
          <p:cNvSpPr/>
          <p:nvPr/>
        </p:nvSpPr>
        <p:spPr>
          <a:xfrm>
            <a:off x="6569500" y="3346675"/>
            <a:ext cx="2574508" cy="1227430"/>
          </a:xfrm>
          <a:custGeom>
            <a:rect b="b" l="l" r="r" t="t"/>
            <a:pathLst>
              <a:path extrusionOk="0" h="949656" w="1775523">
                <a:moveTo>
                  <a:pt x="1439418" y="0"/>
                </a:moveTo>
                <a:lnTo>
                  <a:pt x="336232" y="0"/>
                </a:lnTo>
                <a:cubicBezTo>
                  <a:pt x="151320" y="0"/>
                  <a:pt x="0" y="151321"/>
                  <a:pt x="0" y="336233"/>
                </a:cubicBezTo>
                <a:lnTo>
                  <a:pt x="0" y="336233"/>
                </a:lnTo>
                <a:cubicBezTo>
                  <a:pt x="0" y="521145"/>
                  <a:pt x="151320" y="672465"/>
                  <a:pt x="336232" y="672465"/>
                </a:cubicBezTo>
                <a:lnTo>
                  <a:pt x="1208912" y="672465"/>
                </a:lnTo>
                <a:cubicBezTo>
                  <a:pt x="1243330" y="724091"/>
                  <a:pt x="1406017" y="956183"/>
                  <a:pt x="1544827" y="949516"/>
                </a:cubicBezTo>
                <a:lnTo>
                  <a:pt x="1545018" y="949516"/>
                </a:lnTo>
                <a:cubicBezTo>
                  <a:pt x="1551939" y="949516"/>
                  <a:pt x="1555750" y="941515"/>
                  <a:pt x="1551305" y="936181"/>
                </a:cubicBezTo>
                <a:cubicBezTo>
                  <a:pt x="1540700" y="923481"/>
                  <a:pt x="1529143" y="904431"/>
                  <a:pt x="1523364" y="893763"/>
                </a:cubicBezTo>
                <a:cubicBezTo>
                  <a:pt x="1516825" y="881761"/>
                  <a:pt x="1463992" y="766191"/>
                  <a:pt x="1473073" y="670751"/>
                </a:cubicBezTo>
                <a:cubicBezTo>
                  <a:pt x="1642300" y="653669"/>
                  <a:pt x="1775523" y="509778"/>
                  <a:pt x="1775523" y="336233"/>
                </a:cubicBezTo>
                <a:lnTo>
                  <a:pt x="1775523" y="336233"/>
                </a:lnTo>
                <a:cubicBezTo>
                  <a:pt x="1775523" y="151321"/>
                  <a:pt x="1624202" y="0"/>
                  <a:pt x="1439291" y="0"/>
                </a:cubicBezTo>
                <a:close/>
              </a:path>
            </a:pathLst>
          </a:custGeom>
          <a:solidFill>
            <a:srgbClr val="119B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Black-box view of 4-bit parallel adder</a:t>
            </a:r>
            <a:endParaRPr sz="19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4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4" name="Google Shape;27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276" name="Google Shape;276;p24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277" name="Google Shape;277;p2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2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2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0" name="Google Shape;280;p24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4-bit Parallel Adder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" name="Google Shape;281;p24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" name="Google Shape;282;p24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" name="Google Shape;283;p24"/>
          <p:cNvSpPr txBox="1"/>
          <p:nvPr/>
        </p:nvSpPr>
        <p:spPr>
          <a:xfrm>
            <a:off x="328350" y="766838"/>
            <a:ext cx="8630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SSI design technique should not be used.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Truth table for 9 inputs very big, i.e. 29=512 entries: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84" name="Google Shape;284;p24"/>
          <p:cNvGraphicFramePr/>
          <p:nvPr/>
        </p:nvGraphicFramePr>
        <p:xfrm>
          <a:off x="1360750" y="1599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{91E18CAC-6FB8-4D9C-BE91-A2013CE57BB7}</a:tableStyleId>
              </a:tblPr>
              <a:tblGrid>
                <a:gridCol w="1284500"/>
                <a:gridCol w="1284500"/>
                <a:gridCol w="1284500"/>
                <a:gridCol w="1284500"/>
                <a:gridCol w="1284500"/>
              </a:tblGrid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X</a:t>
                      </a:r>
                      <a:r>
                        <a:rPr baseline="-25000" lang="en" sz="15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3</a:t>
                      </a:r>
                      <a:r>
                        <a:rPr lang="en" sz="15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X</a:t>
                      </a:r>
                      <a:r>
                        <a:rPr baseline="-25000" lang="en" sz="15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2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X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X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baseline="-25000" sz="15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Y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3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Y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2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Y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Y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2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C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2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C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4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S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3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S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2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S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S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0 0 0 0</a:t>
                      </a:r>
                      <a:endParaRPr sz="12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0 0 0 0</a:t>
                      </a:r>
                      <a:endParaRPr sz="12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2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0 0 0 0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0 0 0 0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0 0 0 0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0 0 0 1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0 0 0 0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0 0 0 1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0 0 0 </a:t>
                      </a: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…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…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…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…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…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0 1 0 1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1 1 0 1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0 0 1 1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1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…</a:t>
                      </a:r>
                      <a:endParaRPr/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…</a:t>
                      </a:r>
                      <a:endParaRPr/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…</a:t>
                      </a:r>
                      <a:endParaRPr/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…</a:t>
                      </a:r>
                      <a:endParaRPr/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…</a:t>
                      </a:r>
                      <a:endParaRPr/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1 1 1 1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1 1 1 1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1 1 1 1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5" name="Google Shape;285;p24"/>
          <p:cNvSpPr txBox="1"/>
          <p:nvPr/>
        </p:nvSpPr>
        <p:spPr>
          <a:xfrm>
            <a:off x="328350" y="4152288"/>
            <a:ext cx="8630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Simplification very complicated as no. of input is 9 so 512(=2</a:t>
            </a:r>
            <a:r>
              <a:rPr baseline="30000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possible combination will be there in truth table!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5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1" name="Google Shape;29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293" name="Google Shape;293;p25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294" name="Google Shape;294;p2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2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2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7" name="Google Shape;297;p25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4-bit Parallel Adder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5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9" name="Google Shape;299;p25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5"/>
          <p:cNvSpPr txBox="1"/>
          <p:nvPr/>
        </p:nvSpPr>
        <p:spPr>
          <a:xfrm>
            <a:off x="328350" y="766838"/>
            <a:ext cx="8630700" cy="26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242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▪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Alternative design possible.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12420" lvl="0" marL="3429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▪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ddition formula for each pair of bits (with carry in),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		C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i+1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X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+ Y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+ C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has the same function as a full adder.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		C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i+1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= X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Y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+ (X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⊕ Y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) C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		S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= X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⊕ Y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 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⊕ C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5"/>
          <p:cNvSpPr/>
          <p:nvPr/>
        </p:nvSpPr>
        <p:spPr>
          <a:xfrm>
            <a:off x="5668425" y="3151550"/>
            <a:ext cx="3475586" cy="1780605"/>
          </a:xfrm>
          <a:custGeom>
            <a:rect b="b" l="l" r="r" t="t"/>
            <a:pathLst>
              <a:path extrusionOk="0" h="949656" w="1775523">
                <a:moveTo>
                  <a:pt x="1439418" y="0"/>
                </a:moveTo>
                <a:lnTo>
                  <a:pt x="336232" y="0"/>
                </a:lnTo>
                <a:cubicBezTo>
                  <a:pt x="151320" y="0"/>
                  <a:pt x="0" y="151321"/>
                  <a:pt x="0" y="336233"/>
                </a:cubicBezTo>
                <a:lnTo>
                  <a:pt x="0" y="336233"/>
                </a:lnTo>
                <a:cubicBezTo>
                  <a:pt x="0" y="521145"/>
                  <a:pt x="151320" y="672465"/>
                  <a:pt x="336232" y="672465"/>
                </a:cubicBezTo>
                <a:lnTo>
                  <a:pt x="1208912" y="672465"/>
                </a:lnTo>
                <a:cubicBezTo>
                  <a:pt x="1243330" y="724091"/>
                  <a:pt x="1406017" y="956183"/>
                  <a:pt x="1544827" y="949516"/>
                </a:cubicBezTo>
                <a:lnTo>
                  <a:pt x="1545018" y="949516"/>
                </a:lnTo>
                <a:cubicBezTo>
                  <a:pt x="1551939" y="949516"/>
                  <a:pt x="1555750" y="941515"/>
                  <a:pt x="1551305" y="936181"/>
                </a:cubicBezTo>
                <a:cubicBezTo>
                  <a:pt x="1540700" y="923481"/>
                  <a:pt x="1529143" y="904431"/>
                  <a:pt x="1523364" y="893763"/>
                </a:cubicBezTo>
                <a:cubicBezTo>
                  <a:pt x="1516825" y="881761"/>
                  <a:pt x="1463992" y="766191"/>
                  <a:pt x="1473073" y="670751"/>
                </a:cubicBezTo>
                <a:cubicBezTo>
                  <a:pt x="1642300" y="653669"/>
                  <a:pt x="1775523" y="509778"/>
                  <a:pt x="1775523" y="336233"/>
                </a:cubicBezTo>
                <a:lnTo>
                  <a:pt x="1775523" y="336233"/>
                </a:lnTo>
                <a:cubicBezTo>
                  <a:pt x="1775523" y="151321"/>
                  <a:pt x="1624202" y="0"/>
                  <a:pt x="1439291" y="0"/>
                </a:cubicBezTo>
                <a:close/>
              </a:path>
            </a:pathLst>
          </a:custGeom>
          <a:solidFill>
            <a:srgbClr val="28C8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NB: Similar to FA equation</a:t>
            </a:r>
            <a:endParaRPr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 = XY + (X⊕Y)Z</a:t>
            </a:r>
            <a:endParaRPr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S = (X⊕Y)⊕Z</a:t>
            </a:r>
            <a:endParaRPr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6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7" name="Google Shape;30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309" name="Google Shape;309;p26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310" name="Google Shape;310;p26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26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26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3" name="Google Shape;313;p26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4-bit Parallel Adder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6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26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26"/>
          <p:cNvSpPr txBox="1"/>
          <p:nvPr/>
        </p:nvSpPr>
        <p:spPr>
          <a:xfrm>
            <a:off x="328350" y="766838"/>
            <a:ext cx="8630700" cy="9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Cascading 4 full adders via their carries, we get: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17" name="Google Shape;317;p26" title="4 Bit PA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9636" y="1351214"/>
            <a:ext cx="7364716" cy="2873238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6"/>
          <p:cNvSpPr txBox="1"/>
          <p:nvPr/>
        </p:nvSpPr>
        <p:spPr>
          <a:xfrm>
            <a:off x="1736950" y="2111300"/>
            <a:ext cx="5862300" cy="1452600"/>
          </a:xfrm>
          <a:prstGeom prst="rect">
            <a:avLst/>
          </a:prstGeom>
          <a:noFill/>
          <a:ln cap="flat" cmpd="sng" w="28575">
            <a:solidFill>
              <a:srgbClr val="00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26"/>
          <p:cNvSpPr txBox="1"/>
          <p:nvPr/>
        </p:nvSpPr>
        <p:spPr>
          <a:xfrm>
            <a:off x="468850" y="3520850"/>
            <a:ext cx="228600" cy="2286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0" name="Google Shape;320;p26"/>
          <p:cNvSpPr txBox="1"/>
          <p:nvPr/>
        </p:nvSpPr>
        <p:spPr>
          <a:xfrm>
            <a:off x="697450" y="3444650"/>
            <a:ext cx="914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i="0" lang="en" sz="16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Output</a:t>
            </a:r>
            <a:endParaRPr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26"/>
          <p:cNvSpPr txBox="1"/>
          <p:nvPr/>
        </p:nvSpPr>
        <p:spPr>
          <a:xfrm>
            <a:off x="468850" y="3216050"/>
            <a:ext cx="228600" cy="228600"/>
          </a:xfrm>
          <a:prstGeom prst="rect">
            <a:avLst/>
          </a:prstGeom>
          <a:solidFill>
            <a:srgbClr val="0000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2" name="Google Shape;322;p26"/>
          <p:cNvSpPr txBox="1"/>
          <p:nvPr/>
        </p:nvSpPr>
        <p:spPr>
          <a:xfrm>
            <a:off x="697450" y="3139850"/>
            <a:ext cx="914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i="0" lang="en" sz="16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Input</a:t>
            </a:r>
            <a:endParaRPr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3" name="Google Shape;323;p26"/>
          <p:cNvSpPr txBox="1"/>
          <p:nvPr/>
        </p:nvSpPr>
        <p:spPr>
          <a:xfrm>
            <a:off x="328350" y="4267253"/>
            <a:ext cx="8630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n-bit parallel adder requires n full- adders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7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9" name="Google Shape;32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2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331" name="Google Shape;331;p27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332" name="Google Shape;332;p27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27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27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5" name="Google Shape;335;p27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Examples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27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27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27"/>
          <p:cNvSpPr txBox="1"/>
          <p:nvPr/>
        </p:nvSpPr>
        <p:spPr>
          <a:xfrm>
            <a:off x="328350" y="766838"/>
            <a:ext cx="8630700" cy="16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26059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▪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Simple examples using 4-bit parallel adder as building blocks: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5273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❖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Adder cum Subtractor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5273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❖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16-Bit Parallel Adder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5273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❖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BCD to excess 3 code converter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8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44" name="Google Shape;34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2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346" name="Google Shape;346;p28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347" name="Google Shape;347;p28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28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28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0" name="Google Shape;350;p28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4-bit Parallel Adder-Subtractor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1" name="Google Shape;351;p28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" name="Google Shape;352;p28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28"/>
          <p:cNvSpPr txBox="1"/>
          <p:nvPr/>
        </p:nvSpPr>
        <p:spPr>
          <a:xfrm>
            <a:off x="328350" y="766838"/>
            <a:ext cx="86307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▪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Subtraction can be performed through addition using 2s-complement numbers.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▪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Hence, we can design a circuit which can perform </a:t>
            </a:r>
            <a:r>
              <a:rPr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both addition and subtraction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using a parallel adder.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54" name="Google Shape;354;p28"/>
          <p:cNvGrpSpPr/>
          <p:nvPr/>
        </p:nvGrpSpPr>
        <p:grpSpPr>
          <a:xfrm>
            <a:off x="3210506" y="2125625"/>
            <a:ext cx="5263234" cy="2622828"/>
            <a:chOff x="2160" y="1872"/>
            <a:chExt cx="3456" cy="1749"/>
          </a:xfrm>
        </p:grpSpPr>
        <p:sp>
          <p:nvSpPr>
            <p:cNvPr id="355" name="Google Shape;355;p28"/>
            <p:cNvSpPr txBox="1"/>
            <p:nvPr/>
          </p:nvSpPr>
          <p:spPr>
            <a:xfrm>
              <a:off x="2160" y="2400"/>
              <a:ext cx="2100" cy="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6" name="Google Shape;356;p28"/>
            <p:cNvSpPr txBox="1"/>
            <p:nvPr/>
          </p:nvSpPr>
          <p:spPr>
            <a:xfrm>
              <a:off x="2496" y="2496"/>
              <a:ext cx="15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rPr b="1" i="0" lang="en" sz="20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4-bit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rPr b="1" i="0" lang="en" sz="20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Parallel Adder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57" name="Google Shape;357;p28"/>
            <p:cNvCxnSpPr/>
            <p:nvPr/>
          </p:nvCxnSpPr>
          <p:spPr>
            <a:xfrm rot="5400000">
              <a:off x="2586" y="2262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58" name="Google Shape;358;p28"/>
            <p:cNvCxnSpPr/>
            <p:nvPr/>
          </p:nvCxnSpPr>
          <p:spPr>
            <a:xfrm rot="10800000">
              <a:off x="4164" y="2736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59" name="Google Shape;359;p28"/>
            <p:cNvCxnSpPr/>
            <p:nvPr/>
          </p:nvCxnSpPr>
          <p:spPr>
            <a:xfrm rot="5400000">
              <a:off x="2778" y="2262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60" name="Google Shape;360;p28"/>
            <p:cNvCxnSpPr/>
            <p:nvPr/>
          </p:nvCxnSpPr>
          <p:spPr>
            <a:xfrm rot="5400000">
              <a:off x="3258" y="2262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61" name="Google Shape;361;p28"/>
            <p:cNvCxnSpPr/>
            <p:nvPr/>
          </p:nvCxnSpPr>
          <p:spPr>
            <a:xfrm rot="5400000">
              <a:off x="3450" y="2262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62" name="Google Shape;362;p28"/>
            <p:cNvSpPr txBox="1"/>
            <p:nvPr/>
          </p:nvSpPr>
          <p:spPr>
            <a:xfrm>
              <a:off x="4416" y="2640"/>
              <a:ext cx="12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>
                  <a:latin typeface="Lexend"/>
                  <a:ea typeface="Lexend"/>
                  <a:cs typeface="Lexend"/>
                  <a:sym typeface="Lexend"/>
                </a:rPr>
                <a:t>S: control signal for add/subtract</a:t>
              </a:r>
              <a:endParaRPr b="1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63" name="Google Shape;363;p28"/>
            <p:cNvSpPr txBox="1"/>
            <p:nvPr/>
          </p:nvSpPr>
          <p:spPr>
            <a:xfrm>
              <a:off x="2544" y="187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X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64" name="Google Shape;364;p28"/>
            <p:cNvSpPr txBox="1"/>
            <p:nvPr/>
          </p:nvSpPr>
          <p:spPr>
            <a:xfrm>
              <a:off x="2736" y="187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X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0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65" name="Google Shape;365;p28"/>
            <p:cNvSpPr txBox="1"/>
            <p:nvPr/>
          </p:nvSpPr>
          <p:spPr>
            <a:xfrm>
              <a:off x="3216" y="187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Y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66" name="Google Shape;366;p28"/>
            <p:cNvSpPr txBox="1"/>
            <p:nvPr/>
          </p:nvSpPr>
          <p:spPr>
            <a:xfrm>
              <a:off x="3456" y="187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Y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67" name="Google Shape;367;p28"/>
            <p:cNvSpPr txBox="1"/>
            <p:nvPr/>
          </p:nvSpPr>
          <p:spPr>
            <a:xfrm>
              <a:off x="2172" y="3321"/>
              <a:ext cx="18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>
                  <a:latin typeface="Lexend"/>
                  <a:ea typeface="Lexend"/>
                  <a:cs typeface="Lexend"/>
                  <a:sym typeface="Lexend"/>
                </a:rPr>
                <a:t>Result: either X+Y or X-Y</a:t>
              </a:r>
              <a:r>
                <a:rPr b="1" lang="en" sz="1800"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b="1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68" name="Google Shape;368;p28"/>
            <p:cNvCxnSpPr/>
            <p:nvPr/>
          </p:nvCxnSpPr>
          <p:spPr>
            <a:xfrm rot="5400000">
              <a:off x="2730" y="3174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69" name="Google Shape;369;p28"/>
            <p:cNvCxnSpPr/>
            <p:nvPr/>
          </p:nvCxnSpPr>
          <p:spPr>
            <a:xfrm rot="5400000">
              <a:off x="2922" y="3174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70" name="Google Shape;370;p28"/>
            <p:cNvCxnSpPr/>
            <p:nvPr/>
          </p:nvCxnSpPr>
          <p:spPr>
            <a:xfrm rot="5400000">
              <a:off x="3114" y="3174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71" name="Google Shape;371;p28"/>
            <p:cNvCxnSpPr/>
            <p:nvPr/>
          </p:nvCxnSpPr>
          <p:spPr>
            <a:xfrm rot="5400000">
              <a:off x="3306" y="3174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72" name="Google Shape;372;p28"/>
            <p:cNvCxnSpPr/>
            <p:nvPr/>
          </p:nvCxnSpPr>
          <p:spPr>
            <a:xfrm rot="5400000">
              <a:off x="3642" y="2262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73" name="Google Shape;373;p28"/>
            <p:cNvCxnSpPr/>
            <p:nvPr/>
          </p:nvCxnSpPr>
          <p:spPr>
            <a:xfrm rot="5400000">
              <a:off x="3834" y="2262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74" name="Google Shape;374;p28"/>
            <p:cNvSpPr txBox="1"/>
            <p:nvPr/>
          </p:nvSpPr>
          <p:spPr>
            <a:xfrm>
              <a:off x="3648" y="187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Y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75" name="Google Shape;375;p28"/>
            <p:cNvSpPr txBox="1"/>
            <p:nvPr/>
          </p:nvSpPr>
          <p:spPr>
            <a:xfrm>
              <a:off x="3840" y="187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Y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0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76" name="Google Shape;376;p28"/>
            <p:cNvCxnSpPr/>
            <p:nvPr/>
          </p:nvCxnSpPr>
          <p:spPr>
            <a:xfrm rot="5400000">
              <a:off x="2202" y="2262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77" name="Google Shape;377;p28"/>
            <p:cNvCxnSpPr/>
            <p:nvPr/>
          </p:nvCxnSpPr>
          <p:spPr>
            <a:xfrm rot="5400000">
              <a:off x="2394" y="2262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78" name="Google Shape;378;p28"/>
            <p:cNvSpPr txBox="1"/>
            <p:nvPr/>
          </p:nvSpPr>
          <p:spPr>
            <a:xfrm>
              <a:off x="2160" y="187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X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79" name="Google Shape;379;p28"/>
            <p:cNvSpPr txBox="1"/>
            <p:nvPr/>
          </p:nvSpPr>
          <p:spPr>
            <a:xfrm>
              <a:off x="2352" y="187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X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380" name="Google Shape;380;p28"/>
          <p:cNvCxnSpPr/>
          <p:nvPr/>
        </p:nvCxnSpPr>
        <p:spPr>
          <a:xfrm rot="5400000">
            <a:off x="3785211" y="4073528"/>
            <a:ext cx="450000" cy="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9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6" name="Google Shape;38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2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388" name="Google Shape;388;p29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389" name="Google Shape;389;p29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29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29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2" name="Google Shape;392;p29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4-bit Parallel Adder-Subtractor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3" name="Google Shape;393;p29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4" name="Google Shape;394;p29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5" name="Google Shape;395;p29"/>
          <p:cNvSpPr txBox="1"/>
          <p:nvPr/>
        </p:nvSpPr>
        <p:spPr>
          <a:xfrm>
            <a:off x="328350" y="766838"/>
            <a:ext cx="8630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●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Design requires: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(i) </a:t>
            </a:r>
            <a:r>
              <a:rPr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XOR gates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6" name="Google Shape;396;p29"/>
          <p:cNvSpPr/>
          <p:nvPr/>
        </p:nvSpPr>
        <p:spPr>
          <a:xfrm>
            <a:off x="3097213" y="1643450"/>
            <a:ext cx="107442" cy="586359"/>
          </a:xfrm>
          <a:custGeom>
            <a:rect b="b" l="l" r="r" t="t"/>
            <a:pathLst>
              <a:path extrusionOk="0" h="864" w="288">
                <a:moveTo>
                  <a:pt x="0" y="0"/>
                </a:moveTo>
                <a:cubicBezTo>
                  <a:pt x="144" y="144"/>
                  <a:pt x="288" y="288"/>
                  <a:pt x="288" y="432"/>
                </a:cubicBezTo>
                <a:cubicBezTo>
                  <a:pt x="288" y="576"/>
                  <a:pt x="48" y="792"/>
                  <a:pt x="0" y="864"/>
                </a:cubicBez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97" name="Google Shape;397;p29"/>
          <p:cNvCxnSpPr/>
          <p:nvPr/>
        </p:nvCxnSpPr>
        <p:spPr>
          <a:xfrm>
            <a:off x="3097213" y="1643450"/>
            <a:ext cx="278400" cy="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98" name="Google Shape;398;p29"/>
          <p:cNvCxnSpPr/>
          <p:nvPr/>
        </p:nvCxnSpPr>
        <p:spPr>
          <a:xfrm flipH="1" rot="10800000">
            <a:off x="3097213" y="2229625"/>
            <a:ext cx="275700" cy="120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99" name="Google Shape;399;p29"/>
          <p:cNvSpPr/>
          <p:nvPr/>
        </p:nvSpPr>
        <p:spPr>
          <a:xfrm>
            <a:off x="3367088" y="1643450"/>
            <a:ext cx="486918" cy="320611"/>
          </a:xfrm>
          <a:custGeom>
            <a:rect b="b" l="l" r="r" t="t"/>
            <a:pathLst>
              <a:path extrusionOk="0" h="432" w="576">
                <a:moveTo>
                  <a:pt x="0" y="0"/>
                </a:moveTo>
                <a:cubicBezTo>
                  <a:pt x="168" y="36"/>
                  <a:pt x="336" y="72"/>
                  <a:pt x="432" y="144"/>
                </a:cubicBezTo>
                <a:cubicBezTo>
                  <a:pt x="528" y="216"/>
                  <a:pt x="552" y="324"/>
                  <a:pt x="576" y="432"/>
                </a:cubicBez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0" name="Google Shape;400;p29"/>
          <p:cNvSpPr/>
          <p:nvPr/>
        </p:nvSpPr>
        <p:spPr>
          <a:xfrm flipH="1" rot="10800000">
            <a:off x="3367088" y="1910213"/>
            <a:ext cx="486918" cy="320611"/>
          </a:xfrm>
          <a:custGeom>
            <a:rect b="b" l="l" r="r" t="t"/>
            <a:pathLst>
              <a:path extrusionOk="0" h="432" w="576">
                <a:moveTo>
                  <a:pt x="0" y="0"/>
                </a:moveTo>
                <a:cubicBezTo>
                  <a:pt x="168" y="36"/>
                  <a:pt x="336" y="72"/>
                  <a:pt x="432" y="144"/>
                </a:cubicBezTo>
                <a:cubicBezTo>
                  <a:pt x="528" y="216"/>
                  <a:pt x="552" y="324"/>
                  <a:pt x="576" y="432"/>
                </a:cubicBez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1" name="Google Shape;401;p29"/>
          <p:cNvSpPr/>
          <p:nvPr/>
        </p:nvSpPr>
        <p:spPr>
          <a:xfrm>
            <a:off x="3022600" y="1643450"/>
            <a:ext cx="107442" cy="586359"/>
          </a:xfrm>
          <a:custGeom>
            <a:rect b="b" l="l" r="r" t="t"/>
            <a:pathLst>
              <a:path extrusionOk="0" h="864" w="288">
                <a:moveTo>
                  <a:pt x="0" y="0"/>
                </a:moveTo>
                <a:cubicBezTo>
                  <a:pt x="144" y="144"/>
                  <a:pt x="288" y="288"/>
                  <a:pt x="288" y="432"/>
                </a:cubicBezTo>
                <a:cubicBezTo>
                  <a:pt x="288" y="576"/>
                  <a:pt x="48" y="792"/>
                  <a:pt x="0" y="864"/>
                </a:cubicBez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02" name="Google Shape;402;p29"/>
          <p:cNvCxnSpPr/>
          <p:nvPr/>
        </p:nvCxnSpPr>
        <p:spPr>
          <a:xfrm>
            <a:off x="2641600" y="1795850"/>
            <a:ext cx="4545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03" name="Google Shape;403;p29"/>
          <p:cNvCxnSpPr/>
          <p:nvPr/>
        </p:nvCxnSpPr>
        <p:spPr>
          <a:xfrm>
            <a:off x="2641600" y="2100650"/>
            <a:ext cx="445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04" name="Google Shape;404;p29"/>
          <p:cNvSpPr txBox="1"/>
          <p:nvPr/>
        </p:nvSpPr>
        <p:spPr>
          <a:xfrm>
            <a:off x="1911350" y="1916500"/>
            <a:ext cx="95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 = 0</a:t>
            </a:r>
            <a:endParaRPr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29"/>
          <p:cNvSpPr txBox="1"/>
          <p:nvPr/>
        </p:nvSpPr>
        <p:spPr>
          <a:xfrm>
            <a:off x="3860800" y="1567250"/>
            <a:ext cx="476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6" name="Google Shape;406;p29"/>
          <p:cNvSpPr txBox="1"/>
          <p:nvPr/>
        </p:nvSpPr>
        <p:spPr>
          <a:xfrm>
            <a:off x="2368550" y="1591062"/>
            <a:ext cx="476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07" name="Google Shape;407;p29"/>
          <p:cNvCxnSpPr/>
          <p:nvPr/>
        </p:nvCxnSpPr>
        <p:spPr>
          <a:xfrm>
            <a:off x="3841750" y="1927612"/>
            <a:ext cx="47625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08" name="Google Shape;408;p29"/>
          <p:cNvSpPr/>
          <p:nvPr/>
        </p:nvSpPr>
        <p:spPr>
          <a:xfrm>
            <a:off x="6429613" y="1644525"/>
            <a:ext cx="107442" cy="586358"/>
          </a:xfrm>
          <a:custGeom>
            <a:rect b="b" l="l" r="r" t="t"/>
            <a:pathLst>
              <a:path extrusionOk="0" h="864" w="288">
                <a:moveTo>
                  <a:pt x="0" y="0"/>
                </a:moveTo>
                <a:cubicBezTo>
                  <a:pt x="144" y="144"/>
                  <a:pt x="288" y="288"/>
                  <a:pt x="288" y="432"/>
                </a:cubicBezTo>
                <a:cubicBezTo>
                  <a:pt x="288" y="576"/>
                  <a:pt x="48" y="792"/>
                  <a:pt x="0" y="864"/>
                </a:cubicBez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09" name="Google Shape;409;p29"/>
          <p:cNvCxnSpPr/>
          <p:nvPr/>
        </p:nvCxnSpPr>
        <p:spPr>
          <a:xfrm>
            <a:off x="6429613" y="1644525"/>
            <a:ext cx="278400" cy="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10" name="Google Shape;410;p29"/>
          <p:cNvCxnSpPr/>
          <p:nvPr/>
        </p:nvCxnSpPr>
        <p:spPr>
          <a:xfrm flipH="1" rot="10800000">
            <a:off x="6429613" y="2230700"/>
            <a:ext cx="275700" cy="120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11" name="Google Shape;411;p29"/>
          <p:cNvSpPr/>
          <p:nvPr/>
        </p:nvSpPr>
        <p:spPr>
          <a:xfrm>
            <a:off x="6699488" y="1644525"/>
            <a:ext cx="486919" cy="320611"/>
          </a:xfrm>
          <a:custGeom>
            <a:rect b="b" l="l" r="r" t="t"/>
            <a:pathLst>
              <a:path extrusionOk="0" h="432" w="576">
                <a:moveTo>
                  <a:pt x="0" y="0"/>
                </a:moveTo>
                <a:cubicBezTo>
                  <a:pt x="168" y="36"/>
                  <a:pt x="336" y="72"/>
                  <a:pt x="432" y="144"/>
                </a:cubicBezTo>
                <a:cubicBezTo>
                  <a:pt x="528" y="216"/>
                  <a:pt x="552" y="324"/>
                  <a:pt x="576" y="432"/>
                </a:cubicBez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2" name="Google Shape;412;p29"/>
          <p:cNvSpPr/>
          <p:nvPr/>
        </p:nvSpPr>
        <p:spPr>
          <a:xfrm flipH="1" rot="10800000">
            <a:off x="6699488" y="1911289"/>
            <a:ext cx="486919" cy="320611"/>
          </a:xfrm>
          <a:custGeom>
            <a:rect b="b" l="l" r="r" t="t"/>
            <a:pathLst>
              <a:path extrusionOk="0" h="432" w="576">
                <a:moveTo>
                  <a:pt x="0" y="0"/>
                </a:moveTo>
                <a:cubicBezTo>
                  <a:pt x="168" y="36"/>
                  <a:pt x="336" y="72"/>
                  <a:pt x="432" y="144"/>
                </a:cubicBezTo>
                <a:cubicBezTo>
                  <a:pt x="528" y="216"/>
                  <a:pt x="552" y="324"/>
                  <a:pt x="576" y="432"/>
                </a:cubicBez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3" name="Google Shape;413;p29"/>
          <p:cNvSpPr/>
          <p:nvPr/>
        </p:nvSpPr>
        <p:spPr>
          <a:xfrm>
            <a:off x="6355000" y="1644525"/>
            <a:ext cx="107442" cy="586358"/>
          </a:xfrm>
          <a:custGeom>
            <a:rect b="b" l="l" r="r" t="t"/>
            <a:pathLst>
              <a:path extrusionOk="0" h="864" w="288">
                <a:moveTo>
                  <a:pt x="0" y="0"/>
                </a:moveTo>
                <a:cubicBezTo>
                  <a:pt x="144" y="144"/>
                  <a:pt x="288" y="288"/>
                  <a:pt x="288" y="432"/>
                </a:cubicBezTo>
                <a:cubicBezTo>
                  <a:pt x="288" y="576"/>
                  <a:pt x="48" y="792"/>
                  <a:pt x="0" y="864"/>
                </a:cubicBez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14" name="Google Shape;414;p29"/>
          <p:cNvCxnSpPr/>
          <p:nvPr/>
        </p:nvCxnSpPr>
        <p:spPr>
          <a:xfrm>
            <a:off x="5974000" y="1796925"/>
            <a:ext cx="4545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15" name="Google Shape;415;p29"/>
          <p:cNvCxnSpPr/>
          <p:nvPr/>
        </p:nvCxnSpPr>
        <p:spPr>
          <a:xfrm>
            <a:off x="5974000" y="2101725"/>
            <a:ext cx="445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16" name="Google Shape;416;p29"/>
          <p:cNvSpPr txBox="1"/>
          <p:nvPr/>
        </p:nvSpPr>
        <p:spPr>
          <a:xfrm>
            <a:off x="5243750" y="1917575"/>
            <a:ext cx="95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 = </a:t>
            </a:r>
            <a:r>
              <a:rPr b="1" lang="en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7" name="Google Shape;417;p29"/>
          <p:cNvSpPr txBox="1"/>
          <p:nvPr/>
        </p:nvSpPr>
        <p:spPr>
          <a:xfrm>
            <a:off x="7193200" y="1568325"/>
            <a:ext cx="476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r>
              <a:rPr b="1" lang="en" sz="1800">
                <a:latin typeface="Lexend"/>
                <a:ea typeface="Lexend"/>
                <a:cs typeface="Lexend"/>
                <a:sym typeface="Lexend"/>
              </a:rPr>
              <a:t>’</a:t>
            </a:r>
            <a:endParaRPr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8" name="Google Shape;418;p29"/>
          <p:cNvSpPr txBox="1"/>
          <p:nvPr/>
        </p:nvSpPr>
        <p:spPr>
          <a:xfrm>
            <a:off x="5700950" y="1592137"/>
            <a:ext cx="476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19" name="Google Shape;419;p29"/>
          <p:cNvCxnSpPr/>
          <p:nvPr/>
        </p:nvCxnSpPr>
        <p:spPr>
          <a:xfrm>
            <a:off x="7174150" y="1928687"/>
            <a:ext cx="476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20" name="Google Shape;420;p29"/>
          <p:cNvSpPr txBox="1"/>
          <p:nvPr/>
        </p:nvSpPr>
        <p:spPr>
          <a:xfrm>
            <a:off x="256650" y="2308138"/>
            <a:ext cx="86307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such that: output = Y when S=0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			           = Y' when S=1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(ii) </a:t>
            </a:r>
            <a:r>
              <a:rPr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S connected to carry-in</a:t>
            </a:r>
            <a:r>
              <a:rPr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0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421" name="Google Shape;421;p29"/>
          <p:cNvGraphicFramePr/>
          <p:nvPr/>
        </p:nvGraphicFramePr>
        <p:xfrm>
          <a:off x="6013350" y="31437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{91E18CAC-6FB8-4D9C-BE91-A2013CE57BB7}</a:tableStyleId>
              </a:tblPr>
              <a:tblGrid>
                <a:gridCol w="886000"/>
                <a:gridCol w="886000"/>
                <a:gridCol w="886000"/>
              </a:tblGrid>
              <a:tr h="341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S</a:t>
                      </a:r>
                      <a:endParaRPr sz="17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Y</a:t>
                      </a:r>
                      <a:endParaRPr sz="17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Output</a:t>
                      </a:r>
                      <a:endParaRPr sz="16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1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7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7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6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2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6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6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6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2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6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6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6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2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6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6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6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0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7" name="Google Shape;42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3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429" name="Google Shape;429;p30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430" name="Google Shape;430;p30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30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30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3" name="Google Shape;433;p30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4-bit Parallel Adder-Subtractor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4" name="Google Shape;434;p30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5" name="Google Shape;435;p30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6" name="Google Shape;436;p30"/>
          <p:cNvSpPr txBox="1"/>
          <p:nvPr/>
        </p:nvSpPr>
        <p:spPr>
          <a:xfrm>
            <a:off x="328350" y="766838"/>
            <a:ext cx="8630700" cy="4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Adder cum subtractor circuit: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Analysis: 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If </a:t>
            </a:r>
            <a:r>
              <a:rPr b="1"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</a:t>
            </a: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=1, then 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b="1"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+ (1's complement of </a:t>
            </a:r>
            <a:r>
              <a:rPr b="1"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+1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appears as the result. 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If </a:t>
            </a:r>
            <a:r>
              <a:rPr b="1"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</a:t>
            </a: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=0, then </a:t>
            </a:r>
            <a:r>
              <a:rPr b="1"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</a:t>
            </a:r>
            <a:r>
              <a:rPr b="1"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appears as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the result.  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37" name="Google Shape;437;p30" title="260_new_Slides-Overflow Detector.drawio (2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10000" y="1198450"/>
            <a:ext cx="5211150" cy="3733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31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43" name="Google Shape;443;p31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0" y="902675"/>
            <a:ext cx="2365851" cy="3372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444" name="Google Shape;444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3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446" name="Google Shape;446;p31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447" name="Google Shape;447;p31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31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31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0" name="Google Shape;450;p31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1" name="Google Shape;451;p31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2" name="Google Shape;452;p31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3" name="Google Shape;453;p31"/>
          <p:cNvSpPr txBox="1"/>
          <p:nvPr/>
        </p:nvSpPr>
        <p:spPr>
          <a:xfrm>
            <a:off x="328350" y="766838"/>
            <a:ext cx="86307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Applications: Condition Based Adder Subtractor 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Design a circuit that takes two binary number A, B and performs A-B, if 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certain condition is met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or else perform A+B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Two Methods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●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Brute Force Approach: Find the minterms and use the SOP(s) directly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●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Smart Approach: Find existing patterns within the SOP(s)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32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9" name="Google Shape;45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3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461" name="Google Shape;461;p32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462" name="Google Shape;462;p32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32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32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5" name="Google Shape;465;p32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6" name="Google Shape;466;p32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7" name="Google Shape;467;p32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8" name="Google Shape;468;p32"/>
          <p:cNvSpPr txBox="1"/>
          <p:nvPr/>
        </p:nvSpPr>
        <p:spPr>
          <a:xfrm>
            <a:off x="328350" y="766838"/>
            <a:ext cx="86307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 a calculator that can add or subtract two 4-bit numbers: X and Y. Now, if both of the numbers are greater than or equal to 8, then the calculator will do the operation X+Y (addition). Otherwise, the calculator will do the operation X-Y(subtraction). </a:t>
            </a: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circuit using a 4-bit parallel adder-subtractor.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69" name="Google Shape;469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82200" y="1379650"/>
            <a:ext cx="4120302" cy="3504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33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75" name="Google Shape;47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3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477" name="Google Shape;477;p33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478" name="Google Shape;478;p33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33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33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1" name="Google Shape;481;p33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33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3" name="Google Shape;483;p33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4" name="Google Shape;484;p33"/>
          <p:cNvSpPr txBox="1"/>
          <p:nvPr/>
        </p:nvSpPr>
        <p:spPr>
          <a:xfrm>
            <a:off x="328350" y="766838"/>
            <a:ext cx="8630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Perform A-B, if B is Divisible by 12 using Brute Force Approach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3"/>
          <p:cNvSpPr txBox="1"/>
          <p:nvPr/>
        </p:nvSpPr>
        <p:spPr>
          <a:xfrm>
            <a:off x="5543675" y="1332750"/>
            <a:ext cx="3600600" cy="3189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Only the numbers 0 and 12 are divisible by 12 among all 4-bit numbers, So the following expression will solve the problem, 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F(B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,B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,B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,B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= B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'B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' + B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'B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'B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'B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'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If the number of minterm increases, you may use KMAP to simplify the circuit.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highlight>
                <a:srgbClr val="ECECEC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486" name="Google Shape;486;p33"/>
          <p:cNvGraphicFramePr/>
          <p:nvPr/>
        </p:nvGraphicFramePr>
        <p:xfrm>
          <a:off x="5788700" y="13004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{91E18CAC-6FB8-4D9C-BE91-A2013CE57BB7}</a:tableStyleId>
              </a:tblPr>
              <a:tblGrid>
                <a:gridCol w="1314300"/>
                <a:gridCol w="1314300"/>
              </a:tblGrid>
              <a:tr h="341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Minterm</a:t>
                      </a:r>
                      <a:endParaRPr sz="17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Product</a:t>
                      </a:r>
                      <a:endParaRPr sz="17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1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7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B</a:t>
                      </a:r>
                      <a:r>
                        <a:rPr baseline="-25000" lang="en" sz="17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3</a:t>
                      </a:r>
                      <a:r>
                        <a:rPr lang="en" sz="17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’</a:t>
                      </a:r>
                      <a:r>
                        <a:rPr lang="en" sz="17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B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2</a:t>
                      </a:r>
                      <a:r>
                        <a:rPr lang="en" sz="17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’B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r>
                        <a:rPr lang="en" sz="17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’B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r>
                        <a:rPr lang="en" sz="17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’</a:t>
                      </a:r>
                      <a:endParaRPr sz="17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2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12</a:t>
                      </a:r>
                      <a:endParaRPr sz="16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B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3</a:t>
                      </a:r>
                      <a:r>
                        <a:rPr lang="en" sz="17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B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2</a:t>
                      </a:r>
                      <a:r>
                        <a:rPr lang="en" sz="17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B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r>
                        <a:rPr lang="en" sz="17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’B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r>
                        <a:rPr lang="en" sz="17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’</a:t>
                      </a:r>
                      <a:endParaRPr sz="16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87" name="Google Shape;487;p33" title="brute 32.drawi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9773" y="1190675"/>
            <a:ext cx="4859425" cy="3693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34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93" name="Google Shape;49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3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495" name="Google Shape;495;p34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496" name="Google Shape;496;p3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3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3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9" name="Google Shape;499;p34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0" name="Google Shape;500;p34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1" name="Google Shape;501;p34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2" name="Google Shape;502;p34"/>
          <p:cNvSpPr txBox="1"/>
          <p:nvPr/>
        </p:nvSpPr>
        <p:spPr>
          <a:xfrm>
            <a:off x="328350" y="766838"/>
            <a:ext cx="8630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Perform A-B, if B is 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Divisible by 12 using Patterns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3" name="Google Shape;503;p34"/>
          <p:cNvSpPr txBox="1"/>
          <p:nvPr/>
        </p:nvSpPr>
        <p:spPr>
          <a:xfrm>
            <a:off x="5566625" y="1332750"/>
            <a:ext cx="3577500" cy="3189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Possible combinations 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among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B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and B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are 00 and 11, 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hence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XNOR gate was used to combine them as only XNOR gate will provide 1 for these two unique combinations. NOR gate was used for latter variables for the same reason. 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Finally, combining them with AND gate ensures the output of the AND gate will only be 1 if the current combination is indeed divisible by 12. If C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receives 1 then it will perform A-B.  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04" name="Google Shape;504;p34" title="DIv by 12 pattern-Overflow Detector.drawio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1200" y="1199600"/>
            <a:ext cx="5353650" cy="3684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35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10" name="Google Shape;51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3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512" name="Google Shape;512;p35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513" name="Google Shape;513;p3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3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3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6" name="Google Shape;516;p35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7" name="Google Shape;517;p35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8" name="Google Shape;518;p35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9" name="Google Shape;519;p35"/>
          <p:cNvSpPr txBox="1"/>
          <p:nvPr/>
        </p:nvSpPr>
        <p:spPr>
          <a:xfrm>
            <a:off x="328350" y="766838"/>
            <a:ext cx="8630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Perform A-B, if B is Divisible by 12 using Patterns (Cont)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0" name="Google Shape;520;p35"/>
          <p:cNvSpPr txBox="1"/>
          <p:nvPr/>
        </p:nvSpPr>
        <p:spPr>
          <a:xfrm>
            <a:off x="1188650" y="3198775"/>
            <a:ext cx="6092400" cy="16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solution is simulated for both valid combinations who are divisible by 12, 0000 and 1100. The red circled elements indicate that the 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output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of the intermediary gates cannot mismatch, any mismatch in those circled outputs means that the current combination is not divisible by 12 and the final output will give 0 which will result in C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being 0 hence, performing A+B likewise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21" name="Google Shape;521;p35" title="div 12 11.drawi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1575" y="1197050"/>
            <a:ext cx="4317475" cy="211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2" name="Google Shape;522;p35" title="div 12 00.drawi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8325" y="1166925"/>
            <a:ext cx="4120624" cy="21441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36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28" name="Google Shape;52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3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530" name="Google Shape;530;p36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531" name="Google Shape;531;p36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36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36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4" name="Google Shape;534;p36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5" name="Google Shape;535;p36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6" name="Google Shape;536;p36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7" name="Google Shape;537;p36"/>
          <p:cNvSpPr txBox="1"/>
          <p:nvPr/>
        </p:nvSpPr>
        <p:spPr>
          <a:xfrm>
            <a:off x="279575" y="766850"/>
            <a:ext cx="8679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Perform A-B, if B is Divisible by 12 using Patterns (Alternate Solution)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8" name="Google Shape;538;p36"/>
          <p:cNvSpPr txBox="1"/>
          <p:nvPr/>
        </p:nvSpPr>
        <p:spPr>
          <a:xfrm>
            <a:off x="1188650" y="3974450"/>
            <a:ext cx="6092400" cy="8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alternate </a:t>
            </a: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solution</a:t>
            </a: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using different logic gates also fulfill the same logic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39" name="Google Shape;539;p36" title="div 12 00 alt.drawi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0225" y="1212099"/>
            <a:ext cx="4476976" cy="2329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40" name="Google Shape;540;p36" title="div 12 11 alt.drawi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2500" y="1314475"/>
            <a:ext cx="4245300" cy="220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37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46" name="Google Shape;546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3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548" name="Google Shape;548;p37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549" name="Google Shape;549;p37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37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37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52" name="Google Shape;552;p37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16-bit Parallel Adder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3" name="Google Shape;553;p37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37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5" name="Google Shape;555;p37"/>
          <p:cNvSpPr txBox="1"/>
          <p:nvPr/>
        </p:nvSpPr>
        <p:spPr>
          <a:xfrm>
            <a:off x="328350" y="766838"/>
            <a:ext cx="86307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▪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Larger parallel adders can be built from smaller ones.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▪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Example: a </a:t>
            </a:r>
            <a:r>
              <a:rPr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16-bit parallel adder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can be constructed from four 4-bit parallel adders: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56" name="Google Shape;556;p37" title="16 bit pa.drawio.png"/>
          <p:cNvPicPr preferRelativeResize="0"/>
          <p:nvPr/>
        </p:nvPicPr>
        <p:blipFill rotWithShape="1">
          <a:blip r:embed="rId4">
            <a:alphaModFix/>
          </a:blip>
          <a:srcRect b="0" l="0" r="0" t="14163"/>
          <a:stretch/>
        </p:blipFill>
        <p:spPr>
          <a:xfrm>
            <a:off x="497100" y="2233350"/>
            <a:ext cx="8149801" cy="2582275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37"/>
          <p:cNvSpPr txBox="1"/>
          <p:nvPr/>
        </p:nvSpPr>
        <p:spPr>
          <a:xfrm>
            <a:off x="1169200" y="1908000"/>
            <a:ext cx="973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r>
              <a:rPr baseline="-25000"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15</a:t>
            </a:r>
            <a:r>
              <a:rPr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…X</a:t>
            </a:r>
            <a:r>
              <a:rPr baseline="-25000"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12</a:t>
            </a:r>
            <a:endParaRPr baseline="-25000" i="1" sz="15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8" name="Google Shape;558;p37"/>
          <p:cNvSpPr txBox="1"/>
          <p:nvPr/>
        </p:nvSpPr>
        <p:spPr>
          <a:xfrm>
            <a:off x="2907525" y="1891325"/>
            <a:ext cx="973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r>
              <a:rPr baseline="-25000"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11</a:t>
            </a:r>
            <a:r>
              <a:rPr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…X</a:t>
            </a:r>
            <a:r>
              <a:rPr baseline="-25000"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baseline="-25000" i="1" sz="15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9" name="Google Shape;559;p37"/>
          <p:cNvSpPr txBox="1"/>
          <p:nvPr/>
        </p:nvSpPr>
        <p:spPr>
          <a:xfrm>
            <a:off x="4645850" y="1908000"/>
            <a:ext cx="973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r>
              <a:rPr baseline="-25000"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r>
              <a:rPr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…X</a:t>
            </a:r>
            <a:r>
              <a:rPr baseline="-25000"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baseline="-25000" i="1" sz="15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0" name="Google Shape;560;p37"/>
          <p:cNvSpPr txBox="1"/>
          <p:nvPr/>
        </p:nvSpPr>
        <p:spPr>
          <a:xfrm>
            <a:off x="6384175" y="1908000"/>
            <a:ext cx="973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r>
              <a:rPr baseline="-25000"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…X</a:t>
            </a:r>
            <a:r>
              <a:rPr baseline="-25000"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baseline="-25000" i="1" sz="15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1" name="Google Shape;561;p37"/>
          <p:cNvSpPr txBox="1"/>
          <p:nvPr/>
        </p:nvSpPr>
        <p:spPr>
          <a:xfrm>
            <a:off x="1885963" y="1916338"/>
            <a:ext cx="973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r>
              <a:rPr baseline="-25000"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15</a:t>
            </a:r>
            <a:r>
              <a:rPr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…Y</a:t>
            </a:r>
            <a:r>
              <a:rPr baseline="-25000"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12</a:t>
            </a:r>
            <a:endParaRPr baseline="-25000" i="1" sz="15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2" name="Google Shape;562;p37"/>
          <p:cNvSpPr txBox="1"/>
          <p:nvPr/>
        </p:nvSpPr>
        <p:spPr>
          <a:xfrm>
            <a:off x="3624288" y="1899663"/>
            <a:ext cx="973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r>
              <a:rPr baseline="-25000"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11</a:t>
            </a:r>
            <a:r>
              <a:rPr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…Y</a:t>
            </a:r>
            <a:r>
              <a:rPr baseline="-25000"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baseline="-25000" i="1" sz="15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3" name="Google Shape;563;p37"/>
          <p:cNvSpPr txBox="1"/>
          <p:nvPr/>
        </p:nvSpPr>
        <p:spPr>
          <a:xfrm>
            <a:off x="5362613" y="1916338"/>
            <a:ext cx="973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r>
              <a:rPr baseline="-25000"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r>
              <a:rPr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…Y</a:t>
            </a:r>
            <a:r>
              <a:rPr baseline="-25000"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baseline="-25000" i="1" sz="15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4" name="Google Shape;564;p37"/>
          <p:cNvSpPr txBox="1"/>
          <p:nvPr/>
        </p:nvSpPr>
        <p:spPr>
          <a:xfrm>
            <a:off x="7100938" y="1916338"/>
            <a:ext cx="973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r>
              <a:rPr baseline="-25000"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…Y</a:t>
            </a:r>
            <a:r>
              <a:rPr baseline="-25000"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baseline="-25000" i="1" sz="15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38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70" name="Google Shape;57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3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572" name="Google Shape;572;p38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573" name="Google Shape;573;p38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38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38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6" name="Google Shape;576;p38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16-bit Parallel Adder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7" name="Google Shape;577;p38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8" name="Google Shape;578;p38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9" name="Google Shape;579;p38"/>
          <p:cNvSpPr txBox="1"/>
          <p:nvPr/>
        </p:nvSpPr>
        <p:spPr>
          <a:xfrm>
            <a:off x="328350" y="766838"/>
            <a:ext cx="8630700" cy="37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▪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Shorten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ed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notation for multiple lines.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16-bit parallel adder ripples carry from one 4-bit block to the next.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Such ripple-carry circuits are “slow” because of long delays needed to propagate the carries.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80" name="Google Shape;580;p38"/>
          <p:cNvCxnSpPr/>
          <p:nvPr/>
        </p:nvCxnSpPr>
        <p:spPr>
          <a:xfrm>
            <a:off x="2857500" y="1311850"/>
            <a:ext cx="0" cy="914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81" name="Google Shape;581;p38"/>
          <p:cNvCxnSpPr/>
          <p:nvPr/>
        </p:nvCxnSpPr>
        <p:spPr>
          <a:xfrm flipH="1">
            <a:off x="2628900" y="154045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82" name="Google Shape;582;p38"/>
          <p:cNvSpPr txBox="1"/>
          <p:nvPr/>
        </p:nvSpPr>
        <p:spPr>
          <a:xfrm>
            <a:off x="2833687" y="1530925"/>
            <a:ext cx="30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38"/>
          <p:cNvSpPr txBox="1"/>
          <p:nvPr/>
        </p:nvSpPr>
        <p:spPr>
          <a:xfrm>
            <a:off x="2324100" y="2226250"/>
            <a:ext cx="114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1" baseline="-25000" lang="en" sz="2000"/>
              <a:t>3</a:t>
            </a: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.. S</a:t>
            </a:r>
            <a:r>
              <a:rPr b="1" baseline="-25000" lang="en" sz="2000"/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4" name="Google Shape;584;p38"/>
          <p:cNvCxnSpPr/>
          <p:nvPr/>
        </p:nvCxnSpPr>
        <p:spPr>
          <a:xfrm>
            <a:off x="5600700" y="1311850"/>
            <a:ext cx="0" cy="914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85" name="Google Shape;585;p38"/>
          <p:cNvCxnSpPr/>
          <p:nvPr/>
        </p:nvCxnSpPr>
        <p:spPr>
          <a:xfrm>
            <a:off x="5905500" y="1311850"/>
            <a:ext cx="0" cy="914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86" name="Google Shape;586;p38"/>
          <p:cNvCxnSpPr/>
          <p:nvPr/>
        </p:nvCxnSpPr>
        <p:spPr>
          <a:xfrm>
            <a:off x="6515100" y="1311850"/>
            <a:ext cx="0" cy="914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87" name="Google Shape;587;p38"/>
          <p:cNvCxnSpPr/>
          <p:nvPr/>
        </p:nvCxnSpPr>
        <p:spPr>
          <a:xfrm>
            <a:off x="6210300" y="1311850"/>
            <a:ext cx="0" cy="914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88" name="Google Shape;588;p38"/>
          <p:cNvSpPr txBox="1"/>
          <p:nvPr/>
        </p:nvSpPr>
        <p:spPr>
          <a:xfrm>
            <a:off x="5372100" y="2302450"/>
            <a:ext cx="144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1" baseline="-25000" lang="en" sz="2000"/>
              <a:t>3</a:t>
            </a: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</a:t>
            </a:r>
            <a:r>
              <a:rPr b="1" baseline="-25000" lang="en" sz="2000"/>
              <a:t>2</a:t>
            </a:r>
            <a:r>
              <a:rPr b="1" baseline="-25000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1" baseline="-25000" lang="en" sz="2000"/>
              <a:t>1</a:t>
            </a: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</a:t>
            </a:r>
            <a:r>
              <a:rPr b="1" baseline="-25000" lang="en" sz="2000"/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38"/>
          <p:cNvSpPr txBox="1"/>
          <p:nvPr/>
        </p:nvSpPr>
        <p:spPr>
          <a:xfrm>
            <a:off x="3467100" y="1464250"/>
            <a:ext cx="1905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 a shortened notation for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39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95" name="Google Shape;595;p39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0" y="849000"/>
            <a:ext cx="1901673" cy="3372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596" name="Google Shape;596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97" name="Google Shape;597;p3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598" name="Google Shape;598;p39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599" name="Google Shape;599;p39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39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39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2" name="Google Shape;602;p39"/>
          <p:cNvSpPr txBox="1"/>
          <p:nvPr/>
        </p:nvSpPr>
        <p:spPr>
          <a:xfrm>
            <a:off x="209775" y="163775"/>
            <a:ext cx="9045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Arithmetic Circuits: Cascading Adders</a:t>
            </a:r>
            <a:endParaRPr sz="3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3" name="Google Shape;603;p39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4" name="Google Shape;604;p39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5" name="Google Shape;605;p39"/>
          <p:cNvSpPr txBox="1"/>
          <p:nvPr/>
        </p:nvSpPr>
        <p:spPr>
          <a:xfrm>
            <a:off x="328350" y="766838"/>
            <a:ext cx="86307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Application: 6-person voting system.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●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Use FAs and a 4-bit binary parallel adder.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●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Each FA can sum up to 3 votes.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6" name="Google Shape;606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94161" y="1936550"/>
            <a:ext cx="4955686" cy="287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40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12" name="Google Shape;612;p40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0" y="849000"/>
            <a:ext cx="1594701" cy="3372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613" name="Google Shape;613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614" name="Google Shape;614;p4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615" name="Google Shape;615;p40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616" name="Google Shape;616;p40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40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40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9" name="Google Shape;619;p40"/>
          <p:cNvSpPr txBox="1"/>
          <p:nvPr/>
        </p:nvSpPr>
        <p:spPr>
          <a:xfrm>
            <a:off x="209775" y="163775"/>
            <a:ext cx="90459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Try it yourself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0" name="Google Shape;620;p40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1" name="Google Shape;621;p40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2" name="Google Shape;622;p40"/>
          <p:cNvSpPr txBox="1"/>
          <p:nvPr/>
        </p:nvSpPr>
        <p:spPr>
          <a:xfrm>
            <a:off x="328350" y="766838"/>
            <a:ext cx="86307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  Using Full adders and 4 Bit Parallel Adder,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AutoNum type="arabicPeriod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Design a 12 person voting system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AutoNum type="arabicPeriod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Design a 13 person voting system, your circuit must be efficient.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AutoNum type="arabicPeriod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Design a 14 person voting system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Using Half Adder and 4 Bit Parallel Adder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AutoNum type="arabicPeriod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Design 10 person voting system. Your circuit must be efficient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41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28" name="Google Shape;628;p41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0" y="849000"/>
            <a:ext cx="793602" cy="3372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629" name="Google Shape;629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4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631" name="Google Shape;631;p41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632" name="Google Shape;632;p41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41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41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5" name="Google Shape;635;p41"/>
          <p:cNvSpPr txBox="1"/>
          <p:nvPr/>
        </p:nvSpPr>
        <p:spPr>
          <a:xfrm>
            <a:off x="209775" y="163775"/>
            <a:ext cx="90459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Solution of 1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6" name="Google Shape;636;p41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1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8" name="Google Shape;638;p41"/>
          <p:cNvSpPr txBox="1"/>
          <p:nvPr/>
        </p:nvSpPr>
        <p:spPr>
          <a:xfrm>
            <a:off x="328350" y="766838"/>
            <a:ext cx="8630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AutoNum type="arabicPeriod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Design a 12 person voting system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39" name="Google Shape;639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05039" y="1259450"/>
            <a:ext cx="4733924" cy="358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42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45" name="Google Shape;645;p42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0" y="849000"/>
            <a:ext cx="1242826" cy="3372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646" name="Google Shape;646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648" name="Google Shape;648;p42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649" name="Google Shape;649;p42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42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42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52" name="Google Shape;652;p42"/>
          <p:cNvSpPr txBox="1"/>
          <p:nvPr/>
        </p:nvSpPr>
        <p:spPr>
          <a:xfrm>
            <a:off x="209775" y="163775"/>
            <a:ext cx="90459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BCD to excess 3 code converter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3" name="Google Shape;653;p42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4" name="Google Shape;654;p42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5" name="Google Shape;655;p42"/>
          <p:cNvSpPr txBox="1"/>
          <p:nvPr/>
        </p:nvSpPr>
        <p:spPr>
          <a:xfrm>
            <a:off x="328350" y="766838"/>
            <a:ext cx="86307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Think: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code converter that will take 4 bit BCD code as input and generate the Excess 3 output using 4 bit parallel adder.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43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61" name="Google Shape;661;p43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0" y="849000"/>
            <a:ext cx="1617175" cy="3372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662" name="Google Shape;662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4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664" name="Google Shape;664;p43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665" name="Google Shape;665;p43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43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43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8" name="Google Shape;668;p43"/>
          <p:cNvSpPr txBox="1"/>
          <p:nvPr/>
        </p:nvSpPr>
        <p:spPr>
          <a:xfrm>
            <a:off x="209775" y="163775"/>
            <a:ext cx="90459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BCD to excess 3 code converter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9" name="Google Shape;669;p43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0" name="Google Shape;670;p43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1" name="Google Shape;671;p43"/>
          <p:cNvSpPr txBox="1"/>
          <p:nvPr/>
        </p:nvSpPr>
        <p:spPr>
          <a:xfrm>
            <a:off x="328350" y="766838"/>
            <a:ext cx="8630700" cy="25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Solution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Inspection of truth table of ‘excess 3 from BCD’ shows that we can get excess-3 code from 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BCD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by adding ‘0011’ to each BCD number. This addition can be implemented by means of 4-bit full adder MSI circuit.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Let, ABCD as BCD input and WXYZ as Excess 3 output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44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77" name="Google Shape;677;p44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0" y="849000"/>
            <a:ext cx="1617175" cy="3372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678" name="Google Shape;678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4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680" name="Google Shape;680;p44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681" name="Google Shape;681;p4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4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4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84" name="Google Shape;684;p44"/>
          <p:cNvSpPr txBox="1"/>
          <p:nvPr/>
        </p:nvSpPr>
        <p:spPr>
          <a:xfrm>
            <a:off x="209775" y="163775"/>
            <a:ext cx="90459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BCD to excess 3 code converter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5" name="Google Shape;685;p44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6" name="Google Shape;686;p44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7" name="Google Shape;687;p44"/>
          <p:cNvSpPr txBox="1"/>
          <p:nvPr/>
        </p:nvSpPr>
        <p:spPr>
          <a:xfrm>
            <a:off x="328350" y="766838"/>
            <a:ext cx="8630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Solution: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Let, ABCD as BCD input and WXYZ as Excess 3 output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88" name="Google Shape;688;p44" title="260_new_Slides-Overflow Detector.drawio (1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67013" y="1543375"/>
            <a:ext cx="3209971" cy="333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45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94" name="Google Shape;694;p45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0" y="3409525"/>
            <a:ext cx="1946599" cy="3372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695" name="Google Shape;695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696" name="Google Shape;696;p4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697" name="Google Shape;697;p45"/>
          <p:cNvSpPr txBox="1"/>
          <p:nvPr/>
        </p:nvSpPr>
        <p:spPr>
          <a:xfrm>
            <a:off x="256650" y="1120638"/>
            <a:ext cx="8630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92929"/>
              </a:buClr>
              <a:buSzPts val="2000"/>
              <a:buFont typeface="Lexend"/>
              <a:buChar char="●"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Code converters – take an input code, translate to its equivalent output code. 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698" name="Google Shape;698;p45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699" name="Google Shape;699;p4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4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4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02" name="Google Shape;702;p45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Code Converters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3" name="Google Shape;703;p45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4" name="Google Shape;704;p45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05" name="Google Shape;705;p45"/>
          <p:cNvGrpSpPr/>
          <p:nvPr/>
        </p:nvGrpSpPr>
        <p:grpSpPr>
          <a:xfrm>
            <a:off x="2000250" y="1891850"/>
            <a:ext cx="5143500" cy="952500"/>
            <a:chOff x="1536" y="1728"/>
            <a:chExt cx="3240" cy="600"/>
          </a:xfrm>
        </p:grpSpPr>
        <p:sp>
          <p:nvSpPr>
            <p:cNvPr id="706" name="Google Shape;706;p45"/>
            <p:cNvSpPr txBox="1"/>
            <p:nvPr/>
          </p:nvSpPr>
          <p:spPr>
            <a:xfrm>
              <a:off x="2640" y="1728"/>
              <a:ext cx="900" cy="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07" name="Google Shape;707;p45"/>
            <p:cNvSpPr txBox="1"/>
            <p:nvPr/>
          </p:nvSpPr>
          <p:spPr>
            <a:xfrm>
              <a:off x="2688" y="1824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Code</a:t>
              </a:r>
              <a:endParaRPr i="0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converter</a:t>
              </a:r>
              <a:endParaRPr i="0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708" name="Google Shape;708;p45"/>
            <p:cNvCxnSpPr/>
            <p:nvPr/>
          </p:nvCxnSpPr>
          <p:spPr>
            <a:xfrm>
              <a:off x="2064" y="1824"/>
              <a:ext cx="6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709" name="Google Shape;709;p45"/>
            <p:cNvCxnSpPr/>
            <p:nvPr/>
          </p:nvCxnSpPr>
          <p:spPr>
            <a:xfrm>
              <a:off x="2064" y="1968"/>
              <a:ext cx="6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710" name="Google Shape;710;p45"/>
            <p:cNvSpPr txBox="1"/>
            <p:nvPr/>
          </p:nvSpPr>
          <p:spPr>
            <a:xfrm>
              <a:off x="1536" y="1872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16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Input</a:t>
              </a:r>
              <a:endParaRPr i="0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18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16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code</a:t>
              </a:r>
              <a:endParaRPr i="0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711" name="Google Shape;711;p45"/>
            <p:cNvCxnSpPr/>
            <p:nvPr/>
          </p:nvCxnSpPr>
          <p:spPr>
            <a:xfrm>
              <a:off x="2064" y="2112"/>
              <a:ext cx="6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712" name="Google Shape;712;p45"/>
            <p:cNvCxnSpPr/>
            <p:nvPr/>
          </p:nvCxnSpPr>
          <p:spPr>
            <a:xfrm>
              <a:off x="2064" y="2256"/>
              <a:ext cx="6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713" name="Google Shape;713;p45"/>
            <p:cNvCxnSpPr/>
            <p:nvPr/>
          </p:nvCxnSpPr>
          <p:spPr>
            <a:xfrm>
              <a:off x="3552" y="1824"/>
              <a:ext cx="6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714" name="Google Shape;714;p45"/>
            <p:cNvCxnSpPr/>
            <p:nvPr/>
          </p:nvCxnSpPr>
          <p:spPr>
            <a:xfrm>
              <a:off x="3552" y="1968"/>
              <a:ext cx="6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715" name="Google Shape;715;p45"/>
            <p:cNvSpPr txBox="1"/>
            <p:nvPr/>
          </p:nvSpPr>
          <p:spPr>
            <a:xfrm>
              <a:off x="4176" y="1872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16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Output</a:t>
              </a:r>
              <a:endParaRPr i="0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18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16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code</a:t>
              </a:r>
              <a:endParaRPr i="0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716" name="Google Shape;716;p45"/>
            <p:cNvCxnSpPr/>
            <p:nvPr/>
          </p:nvCxnSpPr>
          <p:spPr>
            <a:xfrm>
              <a:off x="3552" y="2112"/>
              <a:ext cx="6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717" name="Google Shape;717;p45"/>
            <p:cNvCxnSpPr/>
            <p:nvPr/>
          </p:nvCxnSpPr>
          <p:spPr>
            <a:xfrm>
              <a:off x="3552" y="2256"/>
              <a:ext cx="6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718" name="Google Shape;718;p45"/>
          <p:cNvSpPr txBox="1"/>
          <p:nvPr/>
        </p:nvSpPr>
        <p:spPr>
          <a:xfrm>
            <a:off x="256650" y="3308025"/>
            <a:ext cx="8630700" cy="1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92929"/>
              </a:buClr>
              <a:buSzPts val="2000"/>
              <a:buFont typeface="Lexend"/>
              <a:buChar char="●"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Example: </a:t>
            </a:r>
            <a:r>
              <a:rPr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BCD to Excess-3 Code Converter.</a:t>
            </a:r>
            <a:endParaRPr sz="20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		Input: BCD digit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		Output: Excess-3 digit 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46"/>
          <p:cNvSpPr/>
          <p:nvPr/>
        </p:nvSpPr>
        <p:spPr>
          <a:xfrm>
            <a:off x="0" y="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4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726" name="Google Shape;726;p46"/>
          <p:cNvSpPr txBox="1"/>
          <p:nvPr/>
        </p:nvSpPr>
        <p:spPr>
          <a:xfrm>
            <a:off x="328350" y="830863"/>
            <a:ext cx="8630700" cy="17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Lexend"/>
              <a:buChar char="●"/>
            </a:pPr>
            <a:r>
              <a:rPr lang="en" sz="18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An overflow condition can be detected by observing the carry into the sign bit position (C3) and the carry out of the sign bit position (C4).</a:t>
            </a:r>
            <a:endParaRPr sz="18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Lexend"/>
              <a:buChar char="●"/>
            </a:pPr>
            <a:r>
              <a:rPr lang="en" sz="18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If these </a:t>
            </a:r>
            <a:r>
              <a:rPr lang="en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two</a:t>
            </a:r>
            <a:r>
              <a:rPr lang="en" sz="18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carries are not equal</a:t>
            </a:r>
            <a:r>
              <a:rPr lang="en" sz="18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, an overflow has occurred.</a:t>
            </a:r>
            <a:endParaRPr sz="18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Lexend"/>
              <a:buChar char="●"/>
            </a:pPr>
            <a:r>
              <a:rPr lang="en" sz="18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The two carries are applied to an exclusive-OR gate(XOR), an overflow is detected when the output(V) of the XOR gate is equal to 1.</a:t>
            </a:r>
            <a:endParaRPr sz="18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27" name="Google Shape;727;p46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728" name="Google Shape;728;p46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46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46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31" name="Google Shape;731;p46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46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46"/>
          <p:cNvSpPr txBox="1"/>
          <p:nvPr/>
        </p:nvSpPr>
        <p:spPr>
          <a:xfrm>
            <a:off x="194750" y="122875"/>
            <a:ext cx="9045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Overflow Detection [Self Study]</a:t>
            </a:r>
            <a:endParaRPr sz="3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46"/>
          <p:cNvSpPr txBox="1"/>
          <p:nvPr/>
        </p:nvSpPr>
        <p:spPr>
          <a:xfrm>
            <a:off x="395075" y="2832475"/>
            <a:ext cx="1821600" cy="1547700"/>
          </a:xfrm>
          <a:prstGeom prst="rect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Carry:  </a:t>
            </a:r>
            <a:r>
              <a:rPr lang="en" sz="1800">
                <a:solidFill>
                  <a:srgbClr val="FF0000"/>
                </a:solidFill>
              </a:rPr>
              <a:t>0 1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+7		 0 111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+6		 0 110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____	_____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+48		 </a:t>
            </a:r>
            <a:r>
              <a:rPr lang="en" sz="1800">
                <a:solidFill>
                  <a:srgbClr val="FF0000"/>
                </a:solidFill>
              </a:rPr>
              <a:t>1 </a:t>
            </a:r>
            <a:r>
              <a:rPr lang="en" sz="1800">
                <a:solidFill>
                  <a:schemeClr val="dk2"/>
                </a:solidFill>
              </a:rPr>
              <a:t>101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35" name="Google Shape;735;p46"/>
          <p:cNvSpPr txBox="1"/>
          <p:nvPr/>
        </p:nvSpPr>
        <p:spPr>
          <a:xfrm>
            <a:off x="2491812" y="2832475"/>
            <a:ext cx="1742400" cy="1547700"/>
          </a:xfrm>
          <a:prstGeom prst="rect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Carry:  </a:t>
            </a:r>
            <a:r>
              <a:rPr lang="en" sz="1800">
                <a:solidFill>
                  <a:srgbClr val="FF0000"/>
                </a:solidFill>
              </a:rPr>
              <a:t>1	0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-7		1 001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-6		1 010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____	_____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-13		</a:t>
            </a:r>
            <a:r>
              <a:rPr lang="en" sz="1800">
                <a:solidFill>
                  <a:srgbClr val="FF0000"/>
                </a:solidFill>
              </a:rPr>
              <a:t>0</a:t>
            </a:r>
            <a:r>
              <a:rPr lang="en" sz="1800">
                <a:solidFill>
                  <a:schemeClr val="dk2"/>
                </a:solidFill>
              </a:rPr>
              <a:t> 011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36" name="Google Shape;736;p46"/>
          <p:cNvSpPr txBox="1"/>
          <p:nvPr/>
        </p:nvSpPr>
        <p:spPr>
          <a:xfrm>
            <a:off x="4500625" y="2832475"/>
            <a:ext cx="1821600" cy="1547700"/>
          </a:xfrm>
          <a:prstGeom prst="rect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Carry:  </a:t>
            </a:r>
            <a:r>
              <a:rPr lang="en" sz="1800">
                <a:solidFill>
                  <a:srgbClr val="FF0000"/>
                </a:solidFill>
              </a:rPr>
              <a:t>1	1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-3		1 101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-2		1 110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____	_____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-5		</a:t>
            </a:r>
            <a:r>
              <a:rPr lang="en" sz="1800">
                <a:solidFill>
                  <a:srgbClr val="FF0000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 011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37" name="Google Shape;737;p46"/>
          <p:cNvSpPr txBox="1"/>
          <p:nvPr/>
        </p:nvSpPr>
        <p:spPr>
          <a:xfrm>
            <a:off x="6622025" y="2832475"/>
            <a:ext cx="1779600" cy="1547700"/>
          </a:xfrm>
          <a:prstGeom prst="rect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Carry:  </a:t>
            </a:r>
            <a:r>
              <a:rPr lang="en" sz="1800">
                <a:solidFill>
                  <a:srgbClr val="FF0000"/>
                </a:solidFill>
              </a:rPr>
              <a:t>0	0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+2		0 010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- 4		1 100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____	_____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-2		</a:t>
            </a:r>
            <a:r>
              <a:rPr lang="en" sz="1800">
                <a:solidFill>
                  <a:srgbClr val="FF0000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 110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38" name="Google Shape;738;p46"/>
          <p:cNvSpPr txBox="1"/>
          <p:nvPr/>
        </p:nvSpPr>
        <p:spPr>
          <a:xfrm>
            <a:off x="642425" y="4380175"/>
            <a:ext cx="1143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Overflow</a:t>
            </a:r>
            <a:endParaRPr sz="17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46"/>
          <p:cNvSpPr txBox="1"/>
          <p:nvPr/>
        </p:nvSpPr>
        <p:spPr>
          <a:xfrm>
            <a:off x="2787150" y="4380175"/>
            <a:ext cx="1143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Overflow</a:t>
            </a:r>
            <a:endParaRPr sz="17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46"/>
          <p:cNvSpPr txBox="1"/>
          <p:nvPr/>
        </p:nvSpPr>
        <p:spPr>
          <a:xfrm>
            <a:off x="4645299" y="4380175"/>
            <a:ext cx="1742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 Overflow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1" name="Google Shape;741;p46"/>
          <p:cNvSpPr txBox="1"/>
          <p:nvPr/>
        </p:nvSpPr>
        <p:spPr>
          <a:xfrm>
            <a:off x="6761375" y="4380175"/>
            <a:ext cx="15009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 Overflow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47"/>
          <p:cNvSpPr/>
          <p:nvPr/>
        </p:nvSpPr>
        <p:spPr>
          <a:xfrm>
            <a:off x="-3264" y="328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7" name="Google Shape;747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748" name="Google Shape;748;p4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749" name="Google Shape;749;p47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750" name="Google Shape;750;p47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47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47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53" name="Google Shape;753;p47"/>
          <p:cNvSpPr txBox="1"/>
          <p:nvPr/>
        </p:nvSpPr>
        <p:spPr>
          <a:xfrm>
            <a:off x="194750" y="122875"/>
            <a:ext cx="9045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3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Overflow Detection [Self Study]</a:t>
            </a:r>
            <a:endParaRPr sz="3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4" name="Google Shape;754;p47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5" name="Google Shape;755;p47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6" name="Google Shape;756;p47"/>
          <p:cNvSpPr txBox="1"/>
          <p:nvPr/>
        </p:nvSpPr>
        <p:spPr>
          <a:xfrm>
            <a:off x="1212675" y="4477950"/>
            <a:ext cx="684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Figure: 4-bit Adder-Subtractor with Overflow Detection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57" name="Google Shape;757;p47" title="260_new_Slides-Overflow Detector.drawio (3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2500" y="639425"/>
            <a:ext cx="7087498" cy="3907125"/>
          </a:xfrm>
          <a:prstGeom prst="rect">
            <a:avLst/>
          </a:prstGeom>
          <a:noFill/>
          <a:ln>
            <a:noFill/>
          </a:ln>
        </p:spPr>
      </p:pic>
      <p:sp>
        <p:nvSpPr>
          <p:cNvPr id="758" name="Google Shape;758;p47"/>
          <p:cNvSpPr/>
          <p:nvPr/>
        </p:nvSpPr>
        <p:spPr>
          <a:xfrm>
            <a:off x="2564325" y="3087450"/>
            <a:ext cx="548700" cy="514200"/>
          </a:xfrm>
          <a:prstGeom prst="rect">
            <a:avLst/>
          </a:prstGeom>
          <a:solidFill>
            <a:srgbClr val="DAE8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900">
                <a:latin typeface="Lexend"/>
                <a:ea typeface="Lexend"/>
                <a:cs typeface="Lexend"/>
                <a:sym typeface="Lexend"/>
              </a:rPr>
              <a:t>Full Adder</a:t>
            </a:r>
            <a:endParaRPr b="1" i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9" name="Google Shape;759;p47"/>
          <p:cNvSpPr/>
          <p:nvPr/>
        </p:nvSpPr>
        <p:spPr>
          <a:xfrm>
            <a:off x="3787175" y="3087450"/>
            <a:ext cx="548700" cy="514200"/>
          </a:xfrm>
          <a:prstGeom prst="rect">
            <a:avLst/>
          </a:prstGeom>
          <a:solidFill>
            <a:srgbClr val="DAE8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900">
                <a:latin typeface="Lexend"/>
                <a:ea typeface="Lexend"/>
                <a:cs typeface="Lexend"/>
                <a:sym typeface="Lexend"/>
              </a:rPr>
              <a:t>Full Adder</a:t>
            </a:r>
            <a:endParaRPr b="1" i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0" name="Google Shape;760;p47"/>
          <p:cNvSpPr/>
          <p:nvPr/>
        </p:nvSpPr>
        <p:spPr>
          <a:xfrm>
            <a:off x="5010025" y="3087450"/>
            <a:ext cx="548700" cy="514200"/>
          </a:xfrm>
          <a:prstGeom prst="rect">
            <a:avLst/>
          </a:prstGeom>
          <a:solidFill>
            <a:srgbClr val="DAE8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900">
                <a:latin typeface="Lexend"/>
                <a:ea typeface="Lexend"/>
                <a:cs typeface="Lexend"/>
                <a:sym typeface="Lexend"/>
              </a:rPr>
              <a:t>Full Adder</a:t>
            </a:r>
            <a:endParaRPr b="1" i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1" name="Google Shape;761;p47"/>
          <p:cNvSpPr/>
          <p:nvPr/>
        </p:nvSpPr>
        <p:spPr>
          <a:xfrm>
            <a:off x="6197400" y="3087450"/>
            <a:ext cx="548700" cy="514200"/>
          </a:xfrm>
          <a:prstGeom prst="rect">
            <a:avLst/>
          </a:prstGeom>
          <a:solidFill>
            <a:srgbClr val="DAE8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900">
                <a:latin typeface="Lexend"/>
                <a:ea typeface="Lexend"/>
                <a:cs typeface="Lexend"/>
                <a:sym typeface="Lexend"/>
              </a:rPr>
              <a:t>Full Adder</a:t>
            </a:r>
            <a:endParaRPr b="1" i="1" sz="9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