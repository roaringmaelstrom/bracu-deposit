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Lexend Light"/>
      <p:regular r:id="rId68"/>
      <p:bold r:id="rId69"/>
    </p:embeddedFont>
    <p:embeddedFont>
      <p:font typeface="Lexend Medium"/>
      <p:regular r:id="rId70"/>
      <p:bold r:id="rId71"/>
    </p:embeddedFont>
    <p:embeddedFont>
      <p:font typeface="Lexend"/>
      <p:regular r:id="rId72"/>
      <p:bold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9043D2A-02A2-4C3A-B289-3E6D6C1B2619}">
  <a:tblStyle styleId="{89043D2A-02A2-4C3A-B289-3E6D6C1B261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6579D49-83E5-4EAA-99B0-B4FCA156BC75}" styleName="Table_1">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B89442D-220A-4500-B633-C9F5DED07BAD}"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Lexend-bold.fntdata"/><Relationship Id="rId72" Type="http://schemas.openxmlformats.org/officeDocument/2006/relationships/font" Target="fonts/Lexend-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LexendMedium-bold.fntdata"/><Relationship Id="rId70" Type="http://schemas.openxmlformats.org/officeDocument/2006/relationships/font" Target="fonts/LexendMedium-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LexendLight-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exendLight-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e3b8c75c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e3b8c75c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6e3b8c75c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6e3b8c75c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6e3b8c75cc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6e3b8c75cc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6e3b8c75cc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6e3b8c75cc_0_1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e3b8c75cc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6e3b8c75cc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e3b8c75cc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6e3b8c75cc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6e3b8c75cc_0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6e3b8c75cc_0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6e3b8c75cc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6e3b8c75cc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6e3b8c75cc_0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6e3b8c75cc_0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6e3b8c75cc_0_1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6e3b8c75cc_0_1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e3b8c75cc_0_1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e3b8c75cc_0_1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6e3b8c75cc_0_1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6e3b8c75cc_0_1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e3b8c75cc_0_1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6e3b8c75cc_0_1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6e3b8c75cc_0_1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6e3b8c75cc_0_1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6e3b8c75cc_0_1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6e3b8c75cc_0_1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6e3b8c75cc_0_1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6e3b8c75cc_0_1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6e3b8c75cc_0_1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6e3b8c75cc_0_1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6e3b8c75cc_0_18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6e3b8c75cc_0_18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6e3b8c75cc_0_1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6e3b8c75cc_0_1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6e3b8c75cc_0_1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6e3b8c75cc_0_1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6e3b8c75cc_0_1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6e3b8c75cc_0_1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6e3b8c75cc_0_1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6e3b8c75cc_0_1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6e3b8c75cc_0_1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6e3b8c75cc_0_1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6e3b8c75cc_0_20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6e3b8c75cc_0_2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6e3b8c75cc_0_2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6e3b8c75cc_0_2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6e3b8c75cc_0_2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6e3b8c75cc_0_2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6da8b810c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6da8b810c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6da8b810c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6da8b810c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6da8b810c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6da8b810c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6da8b810c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6da8b810c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6da8b810c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6da8b810c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6da8b810c5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6da8b810c5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6da8b810c5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6da8b810c5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6da8b810c5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6da8b810c5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6da8b810c5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6da8b810c5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6da8b810c5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6da8b810c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6da8b810c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36da8b810c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6da8b810c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6da8b810c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6da8b810c5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36da8b810c5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6da8b810c5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6da8b810c5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6da8b810c5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6da8b810c5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6da8b810c5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6da8b810c5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6da8b810c5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6da8b810c5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6da8b810c5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6da8b810c5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6da8b810c5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6da8b810c5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6da8b810c5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6da8b810c5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6da8b810c5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6da8b810c5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6da8b810c5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36da8b810c5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36da8b810c5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36da8b810c5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6da8b810c5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36da8b810c5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6da8b810c5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36da8b810c5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6da8b810c5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36da8b810c5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6da8b810c5_0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1" name="Google Shape;1141;g36da8b810c5_0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6da8b810c5_0_10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6da8b810c5_0_10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6da8b810c5_0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36da8b810c5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7329b8843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37329b8843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37329b8843d_3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37329b8843d_3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37329b8843d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37329b8843d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7329b8843d_3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6" name="Google Shape;1246;g37329b8843d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7329b8843d_3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7329b8843d_3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37329b8843d_3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0" name="Google Shape;1280;g37329b8843d_3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png"/><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2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hyperlink" Target="https://www.youtube.com/watch?v=c8lhlAX2JMk"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5.png"/><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png"/><Relationship Id="rId4" Type="http://schemas.openxmlformats.org/officeDocument/2006/relationships/image" Target="../media/image36.png"/><Relationship Id="rId5"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png"/><Relationship Id="rId4" Type="http://schemas.openxmlformats.org/officeDocument/2006/relationships/image" Target="../media/image38.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png"/><Relationship Id="rId4" Type="http://schemas.openxmlformats.org/officeDocument/2006/relationships/image" Target="../media/image37.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08725" y="344175"/>
            <a:ext cx="8501100" cy="20052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1100"/>
              <a:buFont typeface="Arial"/>
              <a:buNone/>
            </a:pPr>
            <a:r>
              <a:rPr lang="en" sz="6000">
                <a:latin typeface="Lexend"/>
                <a:ea typeface="Lexend"/>
                <a:cs typeface="Lexend"/>
                <a:sym typeface="Lexend"/>
              </a:rPr>
              <a:t>Lecture 7</a:t>
            </a:r>
            <a:endParaRPr sz="6000">
              <a:latin typeface="Lexend"/>
              <a:ea typeface="Lexend"/>
              <a:cs typeface="Lexend"/>
              <a:sym typeface="Lexend"/>
            </a:endParaRPr>
          </a:p>
          <a:p>
            <a:pPr indent="0" lvl="0" marL="0" rtl="0" algn="ctr">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Combinational Circuits - </a:t>
            </a:r>
            <a:endParaRPr sz="4200">
              <a:latin typeface="Lexend"/>
              <a:ea typeface="Lexend"/>
              <a:cs typeface="Lexend"/>
              <a:sym typeface="Lexend"/>
            </a:endParaRPr>
          </a:p>
          <a:p>
            <a:pPr indent="0" lvl="0" marL="0" rtl="0" algn="ctr">
              <a:lnSpc>
                <a:spcPct val="90000"/>
              </a:lnSpc>
              <a:spcBef>
                <a:spcPts val="0"/>
              </a:spcBef>
              <a:spcAft>
                <a:spcPts val="0"/>
              </a:spcAft>
              <a:buClr>
                <a:schemeClr val="dk1"/>
              </a:buClr>
              <a:buSzPts val="1100"/>
              <a:buFont typeface="Arial"/>
              <a:buNone/>
            </a:pPr>
            <a:r>
              <a:rPr lang="en" sz="4200">
                <a:latin typeface="Lexend"/>
                <a:ea typeface="Lexend"/>
                <a:cs typeface="Lexend"/>
                <a:sym typeface="Lexend"/>
              </a:rPr>
              <a:t>MSI Circuits</a:t>
            </a:r>
            <a:endParaRPr sz="4200">
              <a:latin typeface="Lexend"/>
              <a:ea typeface="Lexend"/>
              <a:cs typeface="Lexend"/>
              <a:sym typeface="Lexend"/>
            </a:endParaRPr>
          </a:p>
        </p:txBody>
      </p:sp>
      <p:sp>
        <p:nvSpPr>
          <p:cNvPr id="55" name="Google Shape;55;p13"/>
          <p:cNvSpPr txBox="1"/>
          <p:nvPr/>
        </p:nvSpPr>
        <p:spPr>
          <a:xfrm>
            <a:off x="0" y="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 BRAC University</a:t>
            </a:r>
            <a:endParaRPr b="1" sz="900">
              <a:solidFill>
                <a:srgbClr val="4F4F4F"/>
              </a:solidFill>
              <a:latin typeface="Lexend"/>
              <a:ea typeface="Lexend"/>
              <a:cs typeface="Lexend"/>
              <a:sym typeface="Lexend"/>
            </a:endParaRPr>
          </a:p>
        </p:txBody>
      </p:sp>
      <p:pic>
        <p:nvPicPr>
          <p:cNvPr id="56" name="Google Shape;56;p1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 name="Google Shape;57;p13"/>
          <p:cNvSpPr txBox="1"/>
          <p:nvPr/>
        </p:nvSpPr>
        <p:spPr>
          <a:xfrm>
            <a:off x="321450" y="4484225"/>
            <a:ext cx="8501100" cy="1010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CSE260 : Digital Logic Design</a:t>
            </a:r>
            <a:endParaRPr sz="500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 name="Google Shape;63;p1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4" name="Google Shape;64;p1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5" name="Google Shape;65;p14"/>
          <p:cNvSpPr txBox="1"/>
          <p:nvPr/>
        </p:nvSpPr>
        <p:spPr>
          <a:xfrm>
            <a:off x="328350" y="1699496"/>
            <a:ext cx="8630700" cy="17445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2400">
                <a:solidFill>
                  <a:schemeClr val="dk1"/>
                </a:solidFill>
                <a:latin typeface="Lexend"/>
                <a:ea typeface="Lexend"/>
                <a:cs typeface="Lexend"/>
                <a:sym typeface="Lexend"/>
              </a:rPr>
              <a:t>The design of combinational circuits starts from the verbal outline of the problem and ends in a logic circuit diagram</a:t>
            </a:r>
            <a:endParaRPr sz="2400">
              <a:solidFill>
                <a:schemeClr val="dk1"/>
              </a:solidFill>
              <a:latin typeface="Lexend"/>
              <a:ea typeface="Lexend"/>
              <a:cs typeface="Lexend"/>
              <a:sym typeface="Lexend"/>
            </a:endParaRPr>
          </a:p>
          <a:p>
            <a:pPr indent="0" lvl="0" marL="0" rtl="0" algn="l">
              <a:spcBef>
                <a:spcPts val="640"/>
              </a:spcBef>
              <a:spcAft>
                <a:spcPts val="0"/>
              </a:spcAft>
              <a:buNone/>
            </a:pPr>
            <a:r>
              <a:t/>
            </a:r>
            <a:endParaRPr sz="2400">
              <a:solidFill>
                <a:schemeClr val="dk1"/>
              </a:solidFill>
              <a:latin typeface="Lexend"/>
              <a:ea typeface="Lexend"/>
              <a:cs typeface="Lexend"/>
              <a:sym typeface="Lexend"/>
            </a:endParaRPr>
          </a:p>
        </p:txBody>
      </p:sp>
      <p:grpSp>
        <p:nvGrpSpPr>
          <p:cNvPr id="66" name="Google Shape;66;p14"/>
          <p:cNvGrpSpPr/>
          <p:nvPr/>
        </p:nvGrpSpPr>
        <p:grpSpPr>
          <a:xfrm>
            <a:off x="50480" y="122879"/>
            <a:ext cx="277873" cy="68400"/>
            <a:chOff x="411700" y="2416840"/>
            <a:chExt cx="277873" cy="68400"/>
          </a:xfrm>
        </p:grpSpPr>
        <p:sp>
          <p:nvSpPr>
            <p:cNvPr id="67" name="Google Shape;67;p1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0" name="Google Shape;70;p1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71" name="Google Shape;71;p1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2" name="Google Shape;72;p1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 name="Google Shape;78;p1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 name="Google Shape;79;p1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0" name="Google Shape;80;p15"/>
          <p:cNvSpPr txBox="1"/>
          <p:nvPr/>
        </p:nvSpPr>
        <p:spPr>
          <a:xfrm>
            <a:off x="328350" y="766846"/>
            <a:ext cx="8630700" cy="4926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2000">
                <a:solidFill>
                  <a:schemeClr val="dk1"/>
                </a:solidFill>
                <a:latin typeface="Lexend"/>
                <a:ea typeface="Lexend"/>
                <a:cs typeface="Lexend"/>
                <a:sym typeface="Lexend"/>
              </a:rPr>
              <a:t>The procedure involves the following steps:</a:t>
            </a:r>
            <a:endParaRPr sz="2000">
              <a:solidFill>
                <a:schemeClr val="dk1"/>
              </a:solidFill>
              <a:latin typeface="Lexend"/>
              <a:ea typeface="Lexend"/>
              <a:cs typeface="Lexend"/>
              <a:sym typeface="Lexend"/>
            </a:endParaRPr>
          </a:p>
        </p:txBody>
      </p:sp>
      <p:grpSp>
        <p:nvGrpSpPr>
          <p:cNvPr id="81" name="Google Shape;81;p15"/>
          <p:cNvGrpSpPr/>
          <p:nvPr/>
        </p:nvGrpSpPr>
        <p:grpSpPr>
          <a:xfrm>
            <a:off x="50480" y="122879"/>
            <a:ext cx="277873" cy="68400"/>
            <a:chOff x="411700" y="2416840"/>
            <a:chExt cx="277873" cy="68400"/>
          </a:xfrm>
        </p:grpSpPr>
        <p:sp>
          <p:nvSpPr>
            <p:cNvPr id="82" name="Google Shape;82;p1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5" name="Google Shape;85;p1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Procedure:</a:t>
            </a:r>
            <a:endParaRPr sz="3600">
              <a:latin typeface="Lexend"/>
              <a:ea typeface="Lexend"/>
              <a:cs typeface="Lexend"/>
              <a:sym typeface="Lexend"/>
            </a:endParaRPr>
          </a:p>
        </p:txBody>
      </p:sp>
      <p:sp>
        <p:nvSpPr>
          <p:cNvPr id="86" name="Google Shape;86;p1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7" name="Google Shape;87;p1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 name="Google Shape;88;p15"/>
          <p:cNvGrpSpPr/>
          <p:nvPr/>
        </p:nvGrpSpPr>
        <p:grpSpPr>
          <a:xfrm>
            <a:off x="457017" y="3050600"/>
            <a:ext cx="1894923" cy="1422645"/>
            <a:chOff x="6575700" y="2242475"/>
            <a:chExt cx="1258500" cy="902350"/>
          </a:xfrm>
        </p:grpSpPr>
        <p:sp>
          <p:nvSpPr>
            <p:cNvPr id="89" name="Google Shape;89;p15"/>
            <p:cNvSpPr/>
            <p:nvPr/>
          </p:nvSpPr>
          <p:spPr>
            <a:xfrm>
              <a:off x="6596750" y="2242475"/>
              <a:ext cx="411300" cy="81600"/>
            </a:xfrm>
            <a:prstGeom prst="round2SameRect">
              <a:avLst>
                <a:gd fmla="val 50000" name="adj1"/>
                <a:gd fmla="val 0" name="adj2"/>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p:nvPr/>
          </p:nvSpPr>
          <p:spPr>
            <a:xfrm>
              <a:off x="6575700" y="2318025"/>
              <a:ext cx="1258500" cy="826800"/>
            </a:xfrm>
            <a:prstGeom prst="roundRect">
              <a:avLst>
                <a:gd fmla="val 5261" name="adj"/>
              </a:avLst>
            </a:prstGeom>
            <a:solidFill>
              <a:srgbClr val="28C8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6. The logic diagram is drawn</a:t>
              </a:r>
              <a:endParaRPr/>
            </a:p>
          </p:txBody>
        </p:sp>
        <p:cxnSp>
          <p:nvCxnSpPr>
            <p:cNvPr id="91" name="Google Shape;91;p15"/>
            <p:cNvCxnSpPr/>
            <p:nvPr/>
          </p:nvCxnSpPr>
          <p:spPr>
            <a:xfrm>
              <a:off x="6576540" y="3091250"/>
              <a:ext cx="1256700" cy="0"/>
            </a:xfrm>
            <a:prstGeom prst="straightConnector1">
              <a:avLst/>
            </a:prstGeom>
            <a:noFill/>
            <a:ln cap="flat" cmpd="sng" w="9525">
              <a:solidFill>
                <a:srgbClr val="28C84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92" name="Google Shape;92;p15"/>
          <p:cNvGrpSpPr/>
          <p:nvPr/>
        </p:nvGrpSpPr>
        <p:grpSpPr>
          <a:xfrm>
            <a:off x="3624546" y="1295397"/>
            <a:ext cx="1894923" cy="1422645"/>
            <a:chOff x="2998000" y="2242475"/>
            <a:chExt cx="1258500" cy="902350"/>
          </a:xfrm>
        </p:grpSpPr>
        <p:sp>
          <p:nvSpPr>
            <p:cNvPr id="93" name="Google Shape;93;p15"/>
            <p:cNvSpPr/>
            <p:nvPr/>
          </p:nvSpPr>
          <p:spPr>
            <a:xfrm>
              <a:off x="3019050" y="2242475"/>
              <a:ext cx="411300" cy="81600"/>
            </a:xfrm>
            <a:prstGeom prst="round2SameRect">
              <a:avLst>
                <a:gd fmla="val 50000" name="adj1"/>
                <a:gd fmla="val 0" name="adj2"/>
              </a:avLst>
            </a:prstGeom>
            <a:solidFill>
              <a:srgbClr val="119B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5"/>
            <p:cNvSpPr/>
            <p:nvPr/>
          </p:nvSpPr>
          <p:spPr>
            <a:xfrm>
              <a:off x="2998000" y="2318025"/>
              <a:ext cx="1258500" cy="826800"/>
            </a:xfrm>
            <a:prstGeom prst="roundRect">
              <a:avLst>
                <a:gd fmla="val 5261" name="adj"/>
              </a:avLst>
            </a:prstGeom>
            <a:solidFill>
              <a:srgbClr val="119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2. Input and Output variables are determined</a:t>
              </a:r>
              <a:endParaRPr sz="1600">
                <a:solidFill>
                  <a:schemeClr val="dk1"/>
                </a:solidFill>
                <a:latin typeface="Lexend Medium"/>
                <a:ea typeface="Lexend Medium"/>
                <a:cs typeface="Lexend Medium"/>
                <a:sym typeface="Lexend Medium"/>
              </a:endParaRPr>
            </a:p>
          </p:txBody>
        </p:sp>
        <p:cxnSp>
          <p:nvCxnSpPr>
            <p:cNvPr id="95" name="Google Shape;95;p15"/>
            <p:cNvCxnSpPr/>
            <p:nvPr/>
          </p:nvCxnSpPr>
          <p:spPr>
            <a:xfrm>
              <a:off x="2998840" y="3091250"/>
              <a:ext cx="1256700" cy="0"/>
            </a:xfrm>
            <a:prstGeom prst="straightConnector1">
              <a:avLst/>
            </a:prstGeom>
            <a:noFill/>
            <a:ln cap="flat" cmpd="sng" w="9525">
              <a:solidFill>
                <a:srgbClr val="119BFE"/>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96" name="Google Shape;96;p15"/>
          <p:cNvGrpSpPr/>
          <p:nvPr/>
        </p:nvGrpSpPr>
        <p:grpSpPr>
          <a:xfrm>
            <a:off x="3624532" y="3050600"/>
            <a:ext cx="1894923" cy="1422645"/>
            <a:chOff x="4786850" y="2242475"/>
            <a:chExt cx="1258500" cy="902350"/>
          </a:xfrm>
        </p:grpSpPr>
        <p:sp>
          <p:nvSpPr>
            <p:cNvPr id="97" name="Google Shape;97;p15"/>
            <p:cNvSpPr/>
            <p:nvPr/>
          </p:nvSpPr>
          <p:spPr>
            <a:xfrm>
              <a:off x="4807900" y="2242475"/>
              <a:ext cx="411300" cy="81600"/>
            </a:xfrm>
            <a:prstGeom prst="round2SameRect">
              <a:avLst>
                <a:gd fmla="val 50000" name="adj1"/>
                <a:gd fmla="val 0" name="adj2"/>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5"/>
            <p:cNvSpPr/>
            <p:nvPr/>
          </p:nvSpPr>
          <p:spPr>
            <a:xfrm>
              <a:off x="4786850" y="2318025"/>
              <a:ext cx="1258500" cy="826800"/>
            </a:xfrm>
            <a:prstGeom prst="roundRect">
              <a:avLst>
                <a:gd fmla="val 5261" name="adj"/>
              </a:avLst>
            </a:prstGeom>
            <a:solidFill>
              <a:srgbClr val="FF6B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Lexend Medium"/>
                  <a:ea typeface="Lexend Medium"/>
                  <a:cs typeface="Lexend Medium"/>
                  <a:sym typeface="Lexend Medium"/>
                </a:rPr>
                <a:t>5. The simplified boolean function for each output is obtained</a:t>
              </a:r>
              <a:endParaRPr sz="1500"/>
            </a:p>
          </p:txBody>
        </p:sp>
        <p:cxnSp>
          <p:nvCxnSpPr>
            <p:cNvPr id="99" name="Google Shape;99;p15"/>
            <p:cNvCxnSpPr/>
            <p:nvPr/>
          </p:nvCxnSpPr>
          <p:spPr>
            <a:xfrm>
              <a:off x="4787690" y="3091250"/>
              <a:ext cx="1256700" cy="0"/>
            </a:xfrm>
            <a:prstGeom prst="straightConnector1">
              <a:avLst/>
            </a:prstGeom>
            <a:noFill/>
            <a:ln cap="flat" cmpd="sng" w="9525">
              <a:solidFill>
                <a:srgbClr val="FF6B4D"/>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0" name="Google Shape;100;p15"/>
          <p:cNvGrpSpPr/>
          <p:nvPr/>
        </p:nvGrpSpPr>
        <p:grpSpPr>
          <a:xfrm>
            <a:off x="6792024" y="1340187"/>
            <a:ext cx="1894923" cy="1422645"/>
            <a:chOff x="1209150" y="2242475"/>
            <a:chExt cx="1258500" cy="902350"/>
          </a:xfrm>
        </p:grpSpPr>
        <p:sp>
          <p:nvSpPr>
            <p:cNvPr id="101" name="Google Shape;101;p15"/>
            <p:cNvSpPr/>
            <p:nvPr/>
          </p:nvSpPr>
          <p:spPr>
            <a:xfrm>
              <a:off x="1230200" y="2242475"/>
              <a:ext cx="411300" cy="81600"/>
            </a:xfrm>
            <a:prstGeom prst="round2SameRect">
              <a:avLst>
                <a:gd fmla="val 50000" name="adj1"/>
                <a:gd fmla="val 0" name="adj2"/>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5"/>
            <p:cNvSpPr/>
            <p:nvPr/>
          </p:nvSpPr>
          <p:spPr>
            <a:xfrm>
              <a:off x="1209150" y="2318025"/>
              <a:ext cx="1258500" cy="826800"/>
            </a:xfrm>
            <a:prstGeom prst="roundRect">
              <a:avLst>
                <a:gd fmla="val 5261" name="adj"/>
              </a:avLst>
            </a:prstGeom>
            <a:solidFill>
              <a:srgbClr val="FFC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Lexend Medium"/>
                  <a:ea typeface="Lexend Medium"/>
                  <a:cs typeface="Lexend Medium"/>
                  <a:sym typeface="Lexend Medium"/>
                </a:rPr>
                <a:t>3. Letter symbols are assigned to the input and output variables</a:t>
              </a:r>
              <a:endParaRPr sz="1600"/>
            </a:p>
          </p:txBody>
        </p:sp>
        <p:cxnSp>
          <p:nvCxnSpPr>
            <p:cNvPr id="103" name="Google Shape;103;p15"/>
            <p:cNvCxnSpPr/>
            <p:nvPr/>
          </p:nvCxnSpPr>
          <p:spPr>
            <a:xfrm>
              <a:off x="1209990" y="3091250"/>
              <a:ext cx="1256700" cy="0"/>
            </a:xfrm>
            <a:prstGeom prst="straightConnector1">
              <a:avLst/>
            </a:prstGeom>
            <a:noFill/>
            <a:ln cap="flat" cmpd="sng" w="9525">
              <a:solidFill>
                <a:srgbClr val="FFC60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4" name="Google Shape;104;p15"/>
          <p:cNvGrpSpPr/>
          <p:nvPr/>
        </p:nvGrpSpPr>
        <p:grpSpPr>
          <a:xfrm>
            <a:off x="457072" y="1340181"/>
            <a:ext cx="1894923" cy="1422645"/>
            <a:chOff x="1209150" y="2242475"/>
            <a:chExt cx="1258500" cy="902350"/>
          </a:xfrm>
        </p:grpSpPr>
        <p:sp>
          <p:nvSpPr>
            <p:cNvPr id="105" name="Google Shape;105;p15"/>
            <p:cNvSpPr/>
            <p:nvPr/>
          </p:nvSpPr>
          <p:spPr>
            <a:xfrm>
              <a:off x="1230200" y="2242475"/>
              <a:ext cx="411300" cy="81600"/>
            </a:xfrm>
            <a:prstGeom prst="round2SameRect">
              <a:avLst>
                <a:gd fmla="val 50000" name="adj1"/>
                <a:gd fmla="val 0" name="adj2"/>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5"/>
            <p:cNvSpPr/>
            <p:nvPr/>
          </p:nvSpPr>
          <p:spPr>
            <a:xfrm>
              <a:off x="1209150" y="2318025"/>
              <a:ext cx="1258500" cy="826800"/>
            </a:xfrm>
            <a:prstGeom prst="roundRect">
              <a:avLst>
                <a:gd fmla="val 5261" name="adj"/>
              </a:avLst>
            </a:prstGeom>
            <a:solidFill>
              <a:srgbClr val="FFC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Lexend Medium"/>
                  <a:ea typeface="Lexend Medium"/>
                  <a:cs typeface="Lexend Medium"/>
                  <a:sym typeface="Lexend Medium"/>
                </a:rPr>
                <a:t>1. The problem is stated</a:t>
              </a:r>
              <a:endParaRPr sz="1600">
                <a:latin typeface="Lexend Medium"/>
                <a:ea typeface="Lexend Medium"/>
                <a:cs typeface="Lexend Medium"/>
                <a:sym typeface="Lexend Medium"/>
              </a:endParaRPr>
            </a:p>
          </p:txBody>
        </p:sp>
        <p:cxnSp>
          <p:nvCxnSpPr>
            <p:cNvPr id="107" name="Google Shape;107;p15"/>
            <p:cNvCxnSpPr/>
            <p:nvPr/>
          </p:nvCxnSpPr>
          <p:spPr>
            <a:xfrm>
              <a:off x="1209990" y="3091250"/>
              <a:ext cx="1256700" cy="0"/>
            </a:xfrm>
            <a:prstGeom prst="straightConnector1">
              <a:avLst/>
            </a:prstGeom>
            <a:noFill/>
            <a:ln cap="flat" cmpd="sng" w="9525">
              <a:solidFill>
                <a:srgbClr val="FFC600"/>
              </a:solidFill>
              <a:prstDash val="solid"/>
              <a:round/>
              <a:headEnd len="med" w="med" type="none"/>
              <a:tailEnd len="med" w="med" type="none"/>
            </a:ln>
            <a:effectLst>
              <a:outerShdw blurRad="57150" rotWithShape="0" algn="bl" dir="5400000" dist="19050">
                <a:srgbClr val="000000">
                  <a:alpha val="30000"/>
                </a:srgbClr>
              </a:outerShdw>
            </a:effectLst>
          </p:spPr>
        </p:cxnSp>
      </p:grpSp>
      <p:grpSp>
        <p:nvGrpSpPr>
          <p:cNvPr id="108" name="Google Shape;108;p15"/>
          <p:cNvGrpSpPr/>
          <p:nvPr/>
        </p:nvGrpSpPr>
        <p:grpSpPr>
          <a:xfrm>
            <a:off x="6792021" y="3050601"/>
            <a:ext cx="1894923" cy="1422645"/>
            <a:chOff x="2998000" y="2242475"/>
            <a:chExt cx="1258500" cy="902350"/>
          </a:xfrm>
        </p:grpSpPr>
        <p:sp>
          <p:nvSpPr>
            <p:cNvPr id="109" name="Google Shape;109;p15"/>
            <p:cNvSpPr/>
            <p:nvPr/>
          </p:nvSpPr>
          <p:spPr>
            <a:xfrm>
              <a:off x="3019050" y="2242475"/>
              <a:ext cx="411300" cy="81600"/>
            </a:xfrm>
            <a:prstGeom prst="round2SameRect">
              <a:avLst>
                <a:gd fmla="val 50000" name="adj1"/>
                <a:gd fmla="val 0" name="adj2"/>
              </a:avLst>
            </a:prstGeom>
            <a:solidFill>
              <a:srgbClr val="119B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5"/>
            <p:cNvSpPr/>
            <p:nvPr/>
          </p:nvSpPr>
          <p:spPr>
            <a:xfrm>
              <a:off x="2998000" y="2318025"/>
              <a:ext cx="1258500" cy="826800"/>
            </a:xfrm>
            <a:prstGeom prst="roundRect">
              <a:avLst>
                <a:gd fmla="val 5261" name="adj"/>
              </a:avLst>
            </a:prstGeom>
            <a:solidFill>
              <a:srgbClr val="119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Medium"/>
                  <a:ea typeface="Lexend Medium"/>
                  <a:cs typeface="Lexend Medium"/>
                  <a:sym typeface="Lexend Medium"/>
                </a:rPr>
                <a:t>4. Truth table that defines relationship between input and outputs is derived.</a:t>
              </a:r>
              <a:endParaRPr/>
            </a:p>
          </p:txBody>
        </p:sp>
        <p:cxnSp>
          <p:nvCxnSpPr>
            <p:cNvPr id="111" name="Google Shape;111;p15"/>
            <p:cNvCxnSpPr/>
            <p:nvPr/>
          </p:nvCxnSpPr>
          <p:spPr>
            <a:xfrm>
              <a:off x="2998840" y="3091250"/>
              <a:ext cx="1256700" cy="0"/>
            </a:xfrm>
            <a:prstGeom prst="straightConnector1">
              <a:avLst/>
            </a:prstGeom>
            <a:noFill/>
            <a:ln cap="flat" cmpd="sng" w="9525">
              <a:solidFill>
                <a:srgbClr val="119BFE"/>
              </a:solidFill>
              <a:prstDash val="solid"/>
              <a:round/>
              <a:headEnd len="med" w="med" type="none"/>
              <a:tailEnd len="med" w="med" type="none"/>
            </a:ln>
            <a:effectLst>
              <a:outerShdw blurRad="57150" rotWithShape="0" algn="bl" dir="5400000" dist="19050">
                <a:srgbClr val="000000">
                  <a:alpha val="30000"/>
                </a:srgbClr>
              </a:outerShdw>
            </a:effectLst>
          </p:spPr>
        </p:cxnSp>
      </p:grpSp>
      <p:sp>
        <p:nvSpPr>
          <p:cNvPr id="112" name="Google Shape;112;p15"/>
          <p:cNvSpPr/>
          <p:nvPr/>
        </p:nvSpPr>
        <p:spPr>
          <a:xfrm>
            <a:off x="2708075" y="1882900"/>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5"/>
          <p:cNvSpPr/>
          <p:nvPr/>
        </p:nvSpPr>
        <p:spPr>
          <a:xfrm>
            <a:off x="5875550" y="1882900"/>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5"/>
          <p:cNvSpPr/>
          <p:nvPr/>
        </p:nvSpPr>
        <p:spPr>
          <a:xfrm rot="5400000">
            <a:off x="7559338" y="2808699"/>
            <a:ext cx="3603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5"/>
          <p:cNvSpPr/>
          <p:nvPr/>
        </p:nvSpPr>
        <p:spPr>
          <a:xfrm rot="10800000">
            <a:off x="5833025" y="3593313"/>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5"/>
          <p:cNvSpPr/>
          <p:nvPr/>
        </p:nvSpPr>
        <p:spPr>
          <a:xfrm rot="10800000">
            <a:off x="2669075" y="3593313"/>
            <a:ext cx="560400" cy="337200"/>
          </a:xfrm>
          <a:prstGeom prst="rightArrow">
            <a:avLst>
              <a:gd fmla="val 50000" name="adj1"/>
              <a:gd fmla="val 50000" name="adj2"/>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5"/>
          <p:cNvSpPr txBox="1"/>
          <p:nvPr/>
        </p:nvSpPr>
        <p:spPr>
          <a:xfrm>
            <a:off x="209775" y="4578146"/>
            <a:ext cx="8630700" cy="354000"/>
          </a:xfrm>
          <a:prstGeom prst="rect">
            <a:avLst/>
          </a:prstGeom>
          <a:noFill/>
          <a:ln>
            <a:noFill/>
          </a:ln>
        </p:spPr>
        <p:txBody>
          <a:bodyPr anchorCtr="0" anchor="t" bIns="91425" lIns="91425" spcFirstLastPara="1" rIns="91425" wrap="square" tIns="91425">
            <a:spAutoFit/>
          </a:bodyPr>
          <a:lstStyle/>
          <a:p>
            <a:pPr indent="0" lvl="0" marL="0" rtl="0" algn="l">
              <a:spcBef>
                <a:spcPts val="640"/>
              </a:spcBef>
              <a:spcAft>
                <a:spcPts val="0"/>
              </a:spcAft>
              <a:buNone/>
            </a:pPr>
            <a:r>
              <a:rPr lang="en" sz="1100">
                <a:solidFill>
                  <a:schemeClr val="dk1"/>
                </a:solidFill>
                <a:latin typeface="Lexend"/>
                <a:ea typeface="Lexend"/>
                <a:cs typeface="Lexend"/>
                <a:sym typeface="Lexend"/>
              </a:rPr>
              <a:t>Hint: Aren’t these the steps used for solving car-garage alarm system? So we are familiar with combinational circuit design! </a:t>
            </a:r>
            <a:endParaRPr sz="1100">
              <a:solidFill>
                <a:schemeClr val="dk1"/>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 name="Google Shape;123;p1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4" name="Google Shape;124;p1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5" name="Google Shape;125;p16"/>
          <p:cNvSpPr txBox="1"/>
          <p:nvPr/>
        </p:nvSpPr>
        <p:spPr>
          <a:xfrm>
            <a:off x="256650" y="927196"/>
            <a:ext cx="8630700" cy="2929800"/>
          </a:xfrm>
          <a:prstGeom prst="rect">
            <a:avLst/>
          </a:prstGeom>
          <a:noFill/>
          <a:ln>
            <a:noFill/>
          </a:ln>
        </p:spPr>
        <p:txBody>
          <a:bodyPr anchorCtr="0" anchor="t" bIns="91425" lIns="91425" spcFirstLastPara="1" rIns="91425" wrap="square" tIns="91425">
            <a:spAutoFit/>
          </a:bodyPr>
          <a:lstStyle/>
          <a:p>
            <a:pPr indent="-299720" lvl="0" marL="342900" rtl="0" algn="l">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Different combinational circuit design methods:</a:t>
            </a:r>
            <a:endParaRPr sz="22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Gate-level method (with logic gates) </a:t>
            </a:r>
            <a:endParaRPr sz="20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Block-level design method</a:t>
            </a:r>
            <a:endParaRPr sz="2000">
              <a:solidFill>
                <a:schemeClr val="dk1"/>
              </a:solidFill>
              <a:latin typeface="Lexend"/>
              <a:ea typeface="Lexend"/>
              <a:cs typeface="Lexend"/>
              <a:sym typeface="Lexend"/>
            </a:endParaRPr>
          </a:p>
          <a:p>
            <a:pPr indent="-299720" lvl="0" marL="342900" rtl="0" algn="l">
              <a:spcBef>
                <a:spcPts val="1200"/>
              </a:spcBef>
              <a:spcAft>
                <a:spcPts val="0"/>
              </a:spcAft>
              <a:buClr>
                <a:schemeClr val="dk1"/>
              </a:buClr>
              <a:buSzPts val="2200"/>
              <a:buFont typeface="Lexend"/>
              <a:buChar char="▪"/>
            </a:pPr>
            <a:r>
              <a:rPr lang="en" sz="2200">
                <a:solidFill>
                  <a:schemeClr val="dk1"/>
                </a:solidFill>
                <a:latin typeface="Lexend"/>
                <a:ea typeface="Lexend"/>
                <a:cs typeface="Lexend"/>
                <a:sym typeface="Lexend"/>
              </a:rPr>
              <a:t>Design methods make use of logic gates and useful functional blocks. </a:t>
            </a:r>
            <a:endParaRPr sz="2200">
              <a:solidFill>
                <a:schemeClr val="dk1"/>
              </a:solidFill>
              <a:latin typeface="Lexend"/>
              <a:ea typeface="Lexend"/>
              <a:cs typeface="Lexend"/>
              <a:sym typeface="Lexend"/>
            </a:endParaRPr>
          </a:p>
          <a:p>
            <a:pPr indent="-298450" lvl="1" marL="742950" rtl="0" algn="l">
              <a:spcBef>
                <a:spcPts val="600"/>
              </a:spcBef>
              <a:spcAft>
                <a:spcPts val="0"/>
              </a:spcAft>
              <a:buClr>
                <a:schemeClr val="dk1"/>
              </a:buClr>
              <a:buSzPts val="2000"/>
              <a:buFont typeface="Lexend"/>
              <a:buChar char="❖"/>
            </a:pPr>
            <a:r>
              <a:rPr lang="en" sz="2000">
                <a:solidFill>
                  <a:schemeClr val="dk1"/>
                </a:solidFill>
                <a:latin typeface="Lexend"/>
                <a:ea typeface="Lexend"/>
                <a:cs typeface="Lexend"/>
                <a:sym typeface="Lexend"/>
              </a:rPr>
              <a:t>These are available as Integrated Circuit (IC) chips.</a:t>
            </a:r>
            <a:endParaRPr sz="2000">
              <a:solidFill>
                <a:schemeClr val="dk1"/>
              </a:solidFill>
              <a:latin typeface="Lexend"/>
              <a:ea typeface="Lexend"/>
              <a:cs typeface="Lexend"/>
              <a:sym typeface="Lexend"/>
            </a:endParaRPr>
          </a:p>
          <a:p>
            <a:pPr indent="0" lvl="0" marL="0" rtl="0" algn="l">
              <a:spcBef>
                <a:spcPts val="640"/>
              </a:spcBef>
              <a:spcAft>
                <a:spcPts val="0"/>
              </a:spcAft>
              <a:buNone/>
            </a:pPr>
            <a:r>
              <a:t/>
            </a:r>
            <a:endParaRPr sz="2200">
              <a:solidFill>
                <a:schemeClr val="dk1"/>
              </a:solidFill>
              <a:latin typeface="Lexend"/>
              <a:ea typeface="Lexend"/>
              <a:cs typeface="Lexend"/>
              <a:sym typeface="Lexend"/>
            </a:endParaRPr>
          </a:p>
        </p:txBody>
      </p:sp>
      <p:grpSp>
        <p:nvGrpSpPr>
          <p:cNvPr id="126" name="Google Shape;126;p16"/>
          <p:cNvGrpSpPr/>
          <p:nvPr/>
        </p:nvGrpSpPr>
        <p:grpSpPr>
          <a:xfrm>
            <a:off x="50480" y="122879"/>
            <a:ext cx="277873" cy="68400"/>
            <a:chOff x="411700" y="2416840"/>
            <a:chExt cx="277873" cy="68400"/>
          </a:xfrm>
        </p:grpSpPr>
        <p:sp>
          <p:nvSpPr>
            <p:cNvPr id="127" name="Google Shape;127;p1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30" name="Google Shape;130;p1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latin typeface="Lexend"/>
                <a:ea typeface="Lexend"/>
                <a:cs typeface="Lexend"/>
                <a:sym typeface="Lexend"/>
              </a:rPr>
              <a:t>Design Methods </a:t>
            </a:r>
            <a:endParaRPr sz="3600">
              <a:latin typeface="Lexend"/>
              <a:ea typeface="Lexend"/>
              <a:cs typeface="Lexend"/>
              <a:sym typeface="Lexend"/>
            </a:endParaRPr>
          </a:p>
        </p:txBody>
      </p:sp>
      <p:sp>
        <p:nvSpPr>
          <p:cNvPr id="131" name="Google Shape;131;p1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32" name="Google Shape;132;p1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8" name="Google Shape;138;p1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39" name="Google Shape;139;p1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40" name="Google Shape;140;p17"/>
          <p:cNvSpPr txBox="1"/>
          <p:nvPr/>
        </p:nvSpPr>
        <p:spPr>
          <a:xfrm>
            <a:off x="256650" y="972838"/>
            <a:ext cx="8630700" cy="311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exend"/>
                <a:ea typeface="Lexend"/>
                <a:cs typeface="Lexend"/>
                <a:sym typeface="Lexend"/>
              </a:rPr>
              <a:t>Why is it better to use IC than classical gate method?</a:t>
            </a:r>
            <a:endParaRPr sz="2400">
              <a:solidFill>
                <a:schemeClr val="dk1"/>
              </a:solidFill>
              <a:latin typeface="Lexend"/>
              <a:ea typeface="Lexend"/>
              <a:cs typeface="Lexend"/>
              <a:sym typeface="Lexend"/>
            </a:endParaRPr>
          </a:p>
          <a:p>
            <a:pPr indent="0" lvl="0" marL="0" rtl="0" algn="l">
              <a:spcBef>
                <a:spcPts val="0"/>
              </a:spcBef>
              <a:spcAft>
                <a:spcPts val="0"/>
              </a:spcAft>
              <a:buNone/>
            </a:pPr>
            <a:r>
              <a:t/>
            </a:r>
            <a:endParaRPr sz="2400">
              <a:solidFill>
                <a:schemeClr val="dk1"/>
              </a:solidFill>
              <a:latin typeface="Lexend"/>
              <a:ea typeface="Lexend"/>
              <a:cs typeface="Lexend"/>
              <a:sym typeface="Lexend"/>
            </a:endParaRPr>
          </a:p>
          <a:p>
            <a:pPr indent="-279400" lvl="0" marL="342900" rtl="0" algn="l">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IC consists of gates all packed up together internally, which keeps the </a:t>
            </a:r>
            <a:r>
              <a:rPr lang="en" sz="2200">
                <a:solidFill>
                  <a:srgbClr val="FF0000"/>
                </a:solidFill>
                <a:latin typeface="Lexend"/>
                <a:ea typeface="Lexend"/>
                <a:cs typeface="Lexend"/>
                <a:sym typeface="Lexend"/>
              </a:rPr>
              <a:t>gates safe inside </a:t>
            </a:r>
            <a:r>
              <a:rPr lang="en" sz="2200">
                <a:solidFill>
                  <a:schemeClr val="dk1"/>
                </a:solidFill>
                <a:latin typeface="Lexend"/>
                <a:ea typeface="Lexend"/>
                <a:cs typeface="Lexend"/>
                <a:sym typeface="Lexend"/>
              </a:rPr>
              <a:t>as well as makes it </a:t>
            </a:r>
            <a:r>
              <a:rPr lang="en" sz="2200">
                <a:solidFill>
                  <a:srgbClr val="FF0000"/>
                </a:solidFill>
                <a:latin typeface="Lexend"/>
                <a:ea typeface="Lexend"/>
                <a:cs typeface="Lexend"/>
                <a:sym typeface="Lexend"/>
              </a:rPr>
              <a:t>economical by reducing external interconnection wires</a:t>
            </a:r>
            <a:endParaRPr sz="2200">
              <a:solidFill>
                <a:schemeClr val="dk1"/>
              </a:solidFill>
              <a:latin typeface="Lexend"/>
              <a:ea typeface="Lexend"/>
              <a:cs typeface="Lexend"/>
              <a:sym typeface="Lexend"/>
            </a:endParaRPr>
          </a:p>
          <a:p>
            <a:pPr indent="-279400" lvl="0" marL="342900" rtl="0" algn="l">
              <a:spcBef>
                <a:spcPts val="640"/>
              </a:spcBef>
              <a:spcAft>
                <a:spcPts val="0"/>
              </a:spcAft>
              <a:buClr>
                <a:schemeClr val="dk1"/>
              </a:buClr>
              <a:buSzPts val="2200"/>
              <a:buFont typeface="Lexend"/>
              <a:buChar char="•"/>
            </a:pPr>
            <a:r>
              <a:rPr lang="en" sz="2200">
                <a:solidFill>
                  <a:schemeClr val="dk1"/>
                </a:solidFill>
                <a:latin typeface="Lexend"/>
                <a:ea typeface="Lexend"/>
                <a:cs typeface="Lexend"/>
                <a:sym typeface="Lexend"/>
              </a:rPr>
              <a:t>As number of input increase, making the truth table and k-map gets cumbersome</a:t>
            </a:r>
            <a:endParaRPr sz="2200">
              <a:solidFill>
                <a:schemeClr val="dk1"/>
              </a:solidFill>
              <a:latin typeface="Lexend"/>
              <a:ea typeface="Lexend"/>
              <a:cs typeface="Lexend"/>
              <a:sym typeface="Lexend"/>
            </a:endParaRPr>
          </a:p>
          <a:p>
            <a:pPr indent="0" lvl="0" marL="0" rtl="0" algn="l">
              <a:spcBef>
                <a:spcPts val="640"/>
              </a:spcBef>
              <a:spcAft>
                <a:spcPts val="0"/>
              </a:spcAft>
              <a:buNone/>
            </a:pPr>
            <a:r>
              <a:t/>
            </a:r>
            <a:endParaRPr sz="2200">
              <a:solidFill>
                <a:schemeClr val="dk1"/>
              </a:solidFill>
              <a:latin typeface="Lexend"/>
              <a:ea typeface="Lexend"/>
              <a:cs typeface="Lexend"/>
              <a:sym typeface="Lexend"/>
            </a:endParaRPr>
          </a:p>
        </p:txBody>
      </p:sp>
      <p:grpSp>
        <p:nvGrpSpPr>
          <p:cNvPr id="141" name="Google Shape;141;p17"/>
          <p:cNvGrpSpPr/>
          <p:nvPr/>
        </p:nvGrpSpPr>
        <p:grpSpPr>
          <a:xfrm>
            <a:off x="50480" y="122879"/>
            <a:ext cx="277873" cy="68400"/>
            <a:chOff x="411700" y="2416840"/>
            <a:chExt cx="277873" cy="68400"/>
          </a:xfrm>
        </p:grpSpPr>
        <p:sp>
          <p:nvSpPr>
            <p:cNvPr id="142" name="Google Shape;142;p1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5" name="Google Shape;145;p1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46" name="Google Shape;146;p1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47" name="Google Shape;147;p1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3" name="Google Shape;153;p1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54" name="Google Shape;154;p1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55" name="Google Shape;155;p18"/>
          <p:cNvSpPr txBox="1"/>
          <p:nvPr/>
        </p:nvSpPr>
        <p:spPr>
          <a:xfrm>
            <a:off x="256650" y="972838"/>
            <a:ext cx="8630700" cy="531000"/>
          </a:xfrm>
          <a:prstGeom prst="rect">
            <a:avLst/>
          </a:prstGeom>
          <a:noFill/>
          <a:ln>
            <a:noFill/>
          </a:ln>
        </p:spPr>
        <p:txBody>
          <a:bodyPr anchorCtr="0" anchor="t" bIns="91425" lIns="91425" spcFirstLastPara="1" rIns="91425" wrap="square" tIns="91425">
            <a:spAutoFit/>
          </a:bodyPr>
          <a:lstStyle/>
          <a:p>
            <a:pPr indent="-318770" lvl="0" marL="342900" rtl="0" algn="l">
              <a:lnSpc>
                <a:spcPct val="90000"/>
              </a:lnSpc>
              <a:spcBef>
                <a:spcPts val="0"/>
              </a:spcBef>
              <a:spcAft>
                <a:spcPts val="0"/>
              </a:spcAft>
              <a:buClr>
                <a:schemeClr val="dk1"/>
              </a:buClr>
              <a:buSzPts val="2500"/>
              <a:buFont typeface="Lexend"/>
              <a:buChar char="▪"/>
            </a:pPr>
            <a:r>
              <a:rPr lang="en" sz="2500">
                <a:solidFill>
                  <a:schemeClr val="dk1"/>
                </a:solidFill>
                <a:latin typeface="Lexend"/>
                <a:ea typeface="Lexend"/>
                <a:cs typeface="Lexend"/>
                <a:sym typeface="Lexend"/>
              </a:rPr>
              <a:t>Type of IC chips (based on packing density) :</a:t>
            </a:r>
            <a:endParaRPr sz="2300">
              <a:solidFill>
                <a:schemeClr val="dk1"/>
              </a:solidFill>
              <a:latin typeface="Lexend"/>
              <a:ea typeface="Lexend"/>
              <a:cs typeface="Lexend"/>
              <a:sym typeface="Lexend"/>
            </a:endParaRPr>
          </a:p>
        </p:txBody>
      </p:sp>
      <p:grpSp>
        <p:nvGrpSpPr>
          <p:cNvPr id="156" name="Google Shape;156;p18"/>
          <p:cNvGrpSpPr/>
          <p:nvPr/>
        </p:nvGrpSpPr>
        <p:grpSpPr>
          <a:xfrm>
            <a:off x="50480" y="122879"/>
            <a:ext cx="277873" cy="68400"/>
            <a:chOff x="411700" y="2416840"/>
            <a:chExt cx="277873" cy="68400"/>
          </a:xfrm>
        </p:grpSpPr>
        <p:sp>
          <p:nvSpPr>
            <p:cNvPr id="157" name="Google Shape;157;p1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60" name="Google Shape;160;p1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61" name="Google Shape;161;p1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62" name="Google Shape;162;p1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163" name="Google Shape;163;p18"/>
          <p:cNvGraphicFramePr/>
          <p:nvPr/>
        </p:nvGraphicFramePr>
        <p:xfrm>
          <a:off x="341975" y="2010663"/>
          <a:ext cx="3000000" cy="3000000"/>
        </p:xfrm>
        <a:graphic>
          <a:graphicData uri="http://schemas.openxmlformats.org/drawingml/2006/table">
            <a:tbl>
              <a:tblPr>
                <a:noFill/>
                <a:tableStyleId>{89043D2A-02A2-4C3A-B289-3E6D6C1B2619}</a:tableStyleId>
              </a:tblPr>
              <a:tblGrid>
                <a:gridCol w="4230025"/>
                <a:gridCol w="4230025"/>
              </a:tblGrid>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Small-scale integration (SSI)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up to 12 gates</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Medium-scale integration (MSI)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12 - 99 gates</a:t>
                      </a:r>
                      <a:endParaRPr i="0" sz="1800" u="none">
                        <a:solidFill>
                          <a:srgbClr val="00000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01525">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Large-scale integration (LSI)</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lnSpc>
                          <a:spcPct val="90000"/>
                        </a:lnSpc>
                        <a:spcBef>
                          <a:spcPts val="400"/>
                        </a:spcBef>
                        <a:spcAft>
                          <a:spcPts val="0"/>
                        </a:spcAft>
                        <a:buNone/>
                      </a:pPr>
                      <a:r>
                        <a:rPr lang="en" sz="1800">
                          <a:solidFill>
                            <a:schemeClr val="dk1"/>
                          </a:solidFill>
                          <a:latin typeface="Lexend"/>
                          <a:ea typeface="Lexend"/>
                          <a:cs typeface="Lexend"/>
                          <a:sym typeface="Lexend"/>
                        </a:rPr>
                        <a:t>100 - 9999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20050">
                <a:tc>
                  <a:txBody>
                    <a:bodyPr/>
                    <a:lstStyle/>
                    <a:p>
                      <a:pPr indent="0" lvl="0" marL="0" marR="0" rtl="0" algn="l">
                        <a:lnSpc>
                          <a:spcPct val="100000"/>
                        </a:lnSpc>
                        <a:spcBef>
                          <a:spcPts val="0"/>
                        </a:spcBef>
                        <a:spcAft>
                          <a:spcPts val="0"/>
                        </a:spcAft>
                        <a:buClr>
                          <a:srgbClr val="000000"/>
                        </a:buClr>
                        <a:buSzPts val="1100"/>
                        <a:buFont typeface="Arial"/>
                        <a:buNone/>
                      </a:pPr>
                      <a:r>
                        <a:rPr lang="en" sz="1800">
                          <a:latin typeface="Lexend"/>
                          <a:ea typeface="Lexend"/>
                          <a:cs typeface="Lexend"/>
                          <a:sym typeface="Lexend"/>
                        </a:rPr>
                        <a:t>Very large-scale integration (VLSI)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solidFill>
                            <a:schemeClr val="dk1"/>
                          </a:solidFill>
                          <a:latin typeface="Lexend"/>
                          <a:ea typeface="Lexend"/>
                          <a:cs typeface="Lexend"/>
                          <a:sym typeface="Lexend"/>
                        </a:rPr>
                        <a:t>10,000 - 99,999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420050">
                <a:tc>
                  <a:txBody>
                    <a:bodyPr/>
                    <a:lstStyle/>
                    <a:p>
                      <a:pPr indent="0" lvl="0" marL="0" marR="0" rtl="0" algn="l">
                        <a:lnSpc>
                          <a:spcPct val="100000"/>
                        </a:lnSpc>
                        <a:spcBef>
                          <a:spcPts val="0"/>
                        </a:spcBef>
                        <a:spcAft>
                          <a:spcPts val="0"/>
                        </a:spcAft>
                        <a:buNone/>
                      </a:pPr>
                      <a:r>
                        <a:rPr lang="en" sz="1800">
                          <a:latin typeface="Lexend"/>
                          <a:ea typeface="Lexend"/>
                          <a:cs typeface="Lexend"/>
                          <a:sym typeface="Lexend"/>
                        </a:rPr>
                        <a:t>Ultra large-scale integration (ULSI)</a:t>
                      </a:r>
                      <a:endParaRPr sz="18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solidFill>
                            <a:schemeClr val="dk1"/>
                          </a:solidFill>
                          <a:latin typeface="Lexend"/>
                          <a:ea typeface="Lexend"/>
                          <a:cs typeface="Lexend"/>
                          <a:sym typeface="Lexend"/>
                        </a:rPr>
                        <a:t>&gt; 100,000 gates</a:t>
                      </a:r>
                      <a:endParaRPr sz="18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9" name="Google Shape;169;p1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70" name="Google Shape;170;p1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71" name="Google Shape;171;p19"/>
          <p:cNvSpPr txBox="1"/>
          <p:nvPr/>
        </p:nvSpPr>
        <p:spPr>
          <a:xfrm>
            <a:off x="256650" y="972838"/>
            <a:ext cx="8630700" cy="2159700"/>
          </a:xfrm>
          <a:prstGeom prst="rect">
            <a:avLst/>
          </a:prstGeom>
          <a:noFill/>
          <a:ln>
            <a:noFill/>
          </a:ln>
        </p:spPr>
        <p:txBody>
          <a:bodyPr anchorCtr="0" anchor="t" bIns="91425" lIns="91425" spcFirstLastPara="1" rIns="91425" wrap="square" tIns="91425">
            <a:spAutoFit/>
          </a:bodyPr>
          <a:lstStyle/>
          <a:p>
            <a:pPr indent="-342900" lvl="0" marL="342900" rtl="0" algn="l">
              <a:lnSpc>
                <a:spcPct val="90000"/>
              </a:lnSpc>
              <a:spcBef>
                <a:spcPts val="1200"/>
              </a:spcBef>
              <a:spcAft>
                <a:spcPts val="0"/>
              </a:spcAft>
              <a:buClr>
                <a:srgbClr val="FF0000"/>
              </a:buClr>
              <a:buSzPts val="2880"/>
              <a:buFont typeface="Lexend"/>
              <a:buChar char="▪"/>
            </a:pPr>
            <a:r>
              <a:rPr i="1" lang="en" sz="2400">
                <a:solidFill>
                  <a:srgbClr val="FF0000"/>
                </a:solidFill>
                <a:latin typeface="Lexend"/>
                <a:ea typeface="Lexend"/>
                <a:cs typeface="Lexend"/>
                <a:sym typeface="Lexend"/>
              </a:rPr>
              <a:t>Main objectives of circuit design:</a:t>
            </a:r>
            <a:endParaRPr sz="32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 reduce cost </a:t>
            </a:r>
            <a:endParaRPr sz="2800">
              <a:solidFill>
                <a:schemeClr val="dk1"/>
              </a:solidFill>
              <a:latin typeface="Lexend"/>
              <a:ea typeface="Lexend"/>
              <a:cs typeface="Lexend"/>
              <a:sym typeface="Lexend"/>
            </a:endParaRPr>
          </a:p>
          <a:p>
            <a:pPr indent="-228600" lvl="2" marL="1143000" rtl="0" algn="l">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number of gates (for SSI circuits)</a:t>
            </a:r>
            <a:endParaRPr sz="2400">
              <a:solidFill>
                <a:schemeClr val="dk1"/>
              </a:solidFill>
              <a:latin typeface="Lexend"/>
              <a:ea typeface="Lexend"/>
              <a:cs typeface="Lexend"/>
              <a:sym typeface="Lexend"/>
            </a:endParaRPr>
          </a:p>
          <a:p>
            <a:pPr indent="-228600" lvl="2" marL="1143000" rtl="0" algn="l">
              <a:lnSpc>
                <a:spcPct val="90000"/>
              </a:lnSpc>
              <a:spcBef>
                <a:spcPts val="360"/>
              </a:spcBef>
              <a:spcAft>
                <a:spcPts val="0"/>
              </a:spcAft>
              <a:buClr>
                <a:schemeClr val="dk1"/>
              </a:buClr>
              <a:buSzPts val="1800"/>
              <a:buFont typeface="Lexend"/>
              <a:buChar char="⮚"/>
            </a:pPr>
            <a:r>
              <a:rPr lang="en" sz="1800">
                <a:solidFill>
                  <a:schemeClr val="dk1"/>
                </a:solidFill>
                <a:latin typeface="Lexend"/>
                <a:ea typeface="Lexend"/>
                <a:cs typeface="Lexend"/>
                <a:sym typeface="Lexend"/>
              </a:rPr>
              <a:t>reduce IC packages (for complex circuits)</a:t>
            </a:r>
            <a:endParaRPr sz="24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 increase speed</a:t>
            </a:r>
            <a:endParaRPr sz="2800">
              <a:solidFill>
                <a:schemeClr val="dk1"/>
              </a:solidFill>
              <a:latin typeface="Lexend"/>
              <a:ea typeface="Lexend"/>
              <a:cs typeface="Lexend"/>
              <a:sym typeface="Lexend"/>
            </a:endParaRPr>
          </a:p>
          <a:p>
            <a:pPr indent="-285750" lvl="1" marL="742950" rtl="0" algn="l">
              <a:lnSpc>
                <a:spcPct val="90000"/>
              </a:lnSpc>
              <a:spcBef>
                <a:spcPts val="400"/>
              </a:spcBef>
              <a:spcAft>
                <a:spcPts val="0"/>
              </a:spcAft>
              <a:buClr>
                <a:schemeClr val="dk1"/>
              </a:buClr>
              <a:buSzPts val="1800"/>
              <a:buFont typeface="Lexend"/>
              <a:buChar char="❖"/>
            </a:pPr>
            <a:r>
              <a:rPr lang="en" sz="2000">
                <a:solidFill>
                  <a:schemeClr val="dk1"/>
                </a:solidFill>
                <a:latin typeface="Lexend"/>
                <a:ea typeface="Lexend"/>
                <a:cs typeface="Lexend"/>
                <a:sym typeface="Lexend"/>
              </a:rPr>
              <a:t>(iii) design simplicity (reuse blocks where possible)</a:t>
            </a:r>
            <a:endParaRPr sz="2400">
              <a:solidFill>
                <a:schemeClr val="dk1"/>
              </a:solidFill>
              <a:latin typeface="Lexend"/>
              <a:ea typeface="Lexend"/>
              <a:cs typeface="Lexend"/>
              <a:sym typeface="Lexend"/>
            </a:endParaRPr>
          </a:p>
        </p:txBody>
      </p:sp>
      <p:grpSp>
        <p:nvGrpSpPr>
          <p:cNvPr id="172" name="Google Shape;172;p19"/>
          <p:cNvGrpSpPr/>
          <p:nvPr/>
        </p:nvGrpSpPr>
        <p:grpSpPr>
          <a:xfrm>
            <a:off x="50480" y="122879"/>
            <a:ext cx="277873" cy="68400"/>
            <a:chOff x="411700" y="2416840"/>
            <a:chExt cx="277873" cy="68400"/>
          </a:xfrm>
        </p:grpSpPr>
        <p:sp>
          <p:nvSpPr>
            <p:cNvPr id="173" name="Google Shape;173;p1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76" name="Google Shape;176;p1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Design Methods</a:t>
            </a:r>
            <a:endParaRPr sz="3600">
              <a:latin typeface="Lexend"/>
              <a:ea typeface="Lexend"/>
              <a:cs typeface="Lexend"/>
              <a:sym typeface="Lexend"/>
            </a:endParaRPr>
          </a:p>
        </p:txBody>
      </p:sp>
      <p:sp>
        <p:nvSpPr>
          <p:cNvPr id="177" name="Google Shape;177;p1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78" name="Google Shape;178;p1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4" name="Google Shape;184;p2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85" name="Google Shape;185;p2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86" name="Google Shape;186;p20"/>
          <p:cNvSpPr txBox="1"/>
          <p:nvPr/>
        </p:nvSpPr>
        <p:spPr>
          <a:xfrm>
            <a:off x="256650" y="972838"/>
            <a:ext cx="8630700" cy="29757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Lexend"/>
              <a:buChar char="▪"/>
            </a:pPr>
            <a:r>
              <a:rPr lang="en" sz="2400">
                <a:solidFill>
                  <a:schemeClr val="dk1"/>
                </a:solidFill>
                <a:latin typeface="Lexend"/>
                <a:ea typeface="Lexend"/>
                <a:cs typeface="Lexend"/>
                <a:sym typeface="Lexend"/>
              </a:rPr>
              <a:t>More complex circuits can be built using block-level method. </a:t>
            </a:r>
            <a:endParaRPr sz="2400">
              <a:solidFill>
                <a:schemeClr val="dk1"/>
              </a:solidFill>
              <a:latin typeface="Lexend"/>
              <a:ea typeface="Lexend"/>
              <a:cs typeface="Lexend"/>
              <a:sym typeface="Lexend"/>
            </a:endParaRPr>
          </a:p>
          <a:p>
            <a:pPr indent="-381000" lvl="0" marL="457200" rtl="0" algn="l">
              <a:spcBef>
                <a:spcPts val="1600"/>
              </a:spcBef>
              <a:spcAft>
                <a:spcPts val="0"/>
              </a:spcAft>
              <a:buClr>
                <a:schemeClr val="dk1"/>
              </a:buClr>
              <a:buSzPts val="2400"/>
              <a:buFont typeface="Lexend"/>
              <a:buChar char="▪"/>
            </a:pPr>
            <a:r>
              <a:rPr lang="en" sz="2400">
                <a:solidFill>
                  <a:schemeClr val="dk1"/>
                </a:solidFill>
                <a:latin typeface="Lexend"/>
                <a:ea typeface="Lexend"/>
                <a:cs typeface="Lexend"/>
                <a:sym typeface="Lexend"/>
              </a:rPr>
              <a:t>In general, block-level design method (as opposed to gate-level design) relies on algorithms or formulae of the circuit, which are obtained by </a:t>
            </a:r>
            <a:r>
              <a:rPr lang="en" sz="2400">
                <a:solidFill>
                  <a:srgbClr val="FF0000"/>
                </a:solidFill>
                <a:latin typeface="Lexend"/>
                <a:ea typeface="Lexend"/>
                <a:cs typeface="Lexend"/>
                <a:sym typeface="Lexend"/>
              </a:rPr>
              <a:t>decomposing the main problem to sub-problems </a:t>
            </a:r>
            <a:r>
              <a:rPr lang="en" sz="2400">
                <a:solidFill>
                  <a:schemeClr val="dk1"/>
                </a:solidFill>
                <a:latin typeface="Lexend"/>
                <a:ea typeface="Lexend"/>
                <a:cs typeface="Lexend"/>
                <a:sym typeface="Lexend"/>
              </a:rPr>
              <a:t>recursively (until small enough to be directly solved by blocks of circuits).</a:t>
            </a:r>
            <a:endParaRPr i="1" sz="2400">
              <a:solidFill>
                <a:srgbClr val="FF0000"/>
              </a:solidFill>
              <a:latin typeface="Lexend"/>
              <a:ea typeface="Lexend"/>
              <a:cs typeface="Lexend"/>
              <a:sym typeface="Lexend"/>
            </a:endParaRPr>
          </a:p>
        </p:txBody>
      </p:sp>
      <p:grpSp>
        <p:nvGrpSpPr>
          <p:cNvPr id="187" name="Google Shape;187;p20"/>
          <p:cNvGrpSpPr/>
          <p:nvPr/>
        </p:nvGrpSpPr>
        <p:grpSpPr>
          <a:xfrm>
            <a:off x="50480" y="122879"/>
            <a:ext cx="277873" cy="68400"/>
            <a:chOff x="411700" y="2416840"/>
            <a:chExt cx="277873" cy="68400"/>
          </a:xfrm>
        </p:grpSpPr>
        <p:sp>
          <p:nvSpPr>
            <p:cNvPr id="188" name="Google Shape;188;p2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1" name="Google Shape;191;p2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Block-Level Design Method</a:t>
            </a:r>
            <a:endParaRPr sz="3600">
              <a:solidFill>
                <a:schemeClr val="dk1"/>
              </a:solidFill>
              <a:latin typeface="Lexend"/>
              <a:ea typeface="Lexend"/>
              <a:cs typeface="Lexend"/>
              <a:sym typeface="Lexend"/>
            </a:endParaRPr>
          </a:p>
        </p:txBody>
      </p:sp>
      <p:sp>
        <p:nvSpPr>
          <p:cNvPr id="192" name="Google Shape;192;p2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93" name="Google Shape;193;p2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99" name="Google Shape;199;p2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00" name="Google Shape;200;p2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01" name="Google Shape;201;p21"/>
          <p:cNvSpPr txBox="1"/>
          <p:nvPr/>
        </p:nvSpPr>
        <p:spPr>
          <a:xfrm>
            <a:off x="256650" y="972838"/>
            <a:ext cx="8630700" cy="2169300"/>
          </a:xfrm>
          <a:prstGeom prst="rect">
            <a:avLst/>
          </a:prstGeom>
          <a:noFill/>
          <a:ln>
            <a:noFill/>
          </a:ln>
        </p:spPr>
        <p:txBody>
          <a:bodyPr anchorCtr="0" anchor="t" bIns="91425" lIns="91425" spcFirstLastPara="1" rIns="91425" wrap="square" tIns="91425">
            <a:spAutoFit/>
          </a:bodyPr>
          <a:lstStyle/>
          <a:p>
            <a:pPr indent="-392430" lvl="0" marL="457200" rtl="0" algn="l">
              <a:lnSpc>
                <a:spcPct val="90000"/>
              </a:lnSpc>
              <a:spcBef>
                <a:spcPts val="0"/>
              </a:spcBef>
              <a:spcAft>
                <a:spcPts val="0"/>
              </a:spcAft>
              <a:buClr>
                <a:schemeClr val="dk1"/>
              </a:buClr>
              <a:buSzPts val="2580"/>
              <a:buFont typeface="Lexend"/>
              <a:buChar char="▪"/>
            </a:pPr>
            <a:r>
              <a:rPr lang="en" sz="2100">
                <a:solidFill>
                  <a:schemeClr val="dk1"/>
                </a:solidFill>
                <a:latin typeface="Lexend"/>
                <a:ea typeface="Lexend"/>
                <a:cs typeface="Lexend"/>
                <a:sym typeface="Lexend"/>
              </a:rPr>
              <a:t>Four common and useful MSI circuits are:</a:t>
            </a:r>
            <a:endParaRPr sz="25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Decoder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Demultiplexer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Encoder</a:t>
            </a:r>
            <a:endParaRPr sz="2300">
              <a:solidFill>
                <a:schemeClr val="dk1"/>
              </a:solidFill>
              <a:latin typeface="Lexend"/>
              <a:ea typeface="Lexend"/>
              <a:cs typeface="Lexend"/>
              <a:sym typeface="Lexend"/>
            </a:endParaRPr>
          </a:p>
          <a:p>
            <a:pPr indent="-336550" lvl="1" marL="914400" rtl="0" algn="l">
              <a:lnSpc>
                <a:spcPct val="90000"/>
              </a:lnSpc>
              <a:spcBef>
                <a:spcPts val="200"/>
              </a:spcBef>
              <a:spcAft>
                <a:spcPts val="0"/>
              </a:spcAft>
              <a:buClr>
                <a:schemeClr val="dk1"/>
              </a:buClr>
              <a:buSzPts val="1700"/>
              <a:buFont typeface="Lexend"/>
              <a:buChar char="❖"/>
            </a:pPr>
            <a:r>
              <a:rPr lang="en" sz="1900">
                <a:solidFill>
                  <a:schemeClr val="dk1"/>
                </a:solidFill>
                <a:latin typeface="Lexend"/>
                <a:ea typeface="Lexend"/>
                <a:cs typeface="Lexend"/>
                <a:sym typeface="Lexend"/>
              </a:rPr>
              <a:t>Multiplexer</a:t>
            </a:r>
            <a:endParaRPr sz="2300">
              <a:solidFill>
                <a:schemeClr val="dk1"/>
              </a:solidFill>
              <a:latin typeface="Lexend"/>
              <a:ea typeface="Lexend"/>
              <a:cs typeface="Lexend"/>
              <a:sym typeface="Lexend"/>
            </a:endParaRPr>
          </a:p>
          <a:p>
            <a:pPr indent="-386080" lvl="0" marL="457200" rtl="0" algn="l">
              <a:lnSpc>
                <a:spcPct val="90000"/>
              </a:lnSpc>
              <a:spcBef>
                <a:spcPts val="1000"/>
              </a:spcBef>
              <a:spcAft>
                <a:spcPts val="0"/>
              </a:spcAft>
              <a:buClr>
                <a:schemeClr val="dk1"/>
              </a:buClr>
              <a:buSzPts val="2480"/>
              <a:buFont typeface="Lexend"/>
              <a:buChar char="▪"/>
            </a:pPr>
            <a:r>
              <a:rPr lang="en" sz="2000">
                <a:solidFill>
                  <a:schemeClr val="dk1"/>
                </a:solidFill>
                <a:latin typeface="Lexend"/>
                <a:ea typeface="Lexend"/>
                <a:cs typeface="Lexend"/>
                <a:sym typeface="Lexend"/>
              </a:rPr>
              <a:t>Block-level outlines of MSI circuits:</a:t>
            </a:r>
            <a:endParaRPr sz="2000">
              <a:solidFill>
                <a:schemeClr val="dk1"/>
              </a:solidFill>
              <a:latin typeface="Lexend"/>
              <a:ea typeface="Lexend"/>
              <a:cs typeface="Lexend"/>
              <a:sym typeface="Lexend"/>
            </a:endParaRPr>
          </a:p>
        </p:txBody>
      </p:sp>
      <p:grpSp>
        <p:nvGrpSpPr>
          <p:cNvPr id="202" name="Google Shape;202;p21"/>
          <p:cNvGrpSpPr/>
          <p:nvPr/>
        </p:nvGrpSpPr>
        <p:grpSpPr>
          <a:xfrm>
            <a:off x="50480" y="122879"/>
            <a:ext cx="277873" cy="68400"/>
            <a:chOff x="411700" y="2416840"/>
            <a:chExt cx="277873" cy="68400"/>
          </a:xfrm>
        </p:grpSpPr>
        <p:sp>
          <p:nvSpPr>
            <p:cNvPr id="203" name="Google Shape;203;p2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6" name="Google Shape;206;p2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Useful MSI circuits</a:t>
            </a:r>
            <a:endParaRPr sz="3600">
              <a:solidFill>
                <a:schemeClr val="dk1"/>
              </a:solidFill>
              <a:latin typeface="Lexend"/>
              <a:ea typeface="Lexend"/>
              <a:cs typeface="Lexend"/>
              <a:sym typeface="Lexend"/>
            </a:endParaRPr>
          </a:p>
        </p:txBody>
      </p:sp>
      <p:sp>
        <p:nvSpPr>
          <p:cNvPr id="207" name="Google Shape;207;p2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08" name="Google Shape;208;p2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09" name="Google Shape;209;p21"/>
          <p:cNvPicPr preferRelativeResize="0"/>
          <p:nvPr/>
        </p:nvPicPr>
        <p:blipFill>
          <a:blip r:embed="rId4">
            <a:alphaModFix/>
          </a:blip>
          <a:stretch>
            <a:fillRect/>
          </a:stretch>
        </p:blipFill>
        <p:spPr>
          <a:xfrm>
            <a:off x="256650" y="3059825"/>
            <a:ext cx="2464326" cy="927800"/>
          </a:xfrm>
          <a:prstGeom prst="rect">
            <a:avLst/>
          </a:prstGeom>
          <a:noFill/>
          <a:ln>
            <a:noFill/>
          </a:ln>
        </p:spPr>
      </p:pic>
      <p:pic>
        <p:nvPicPr>
          <p:cNvPr id="210" name="Google Shape;210;p21"/>
          <p:cNvPicPr preferRelativeResize="0"/>
          <p:nvPr/>
        </p:nvPicPr>
        <p:blipFill>
          <a:blip r:embed="rId5">
            <a:alphaModFix/>
          </a:blip>
          <a:stretch>
            <a:fillRect/>
          </a:stretch>
        </p:blipFill>
        <p:spPr>
          <a:xfrm>
            <a:off x="2097375" y="3987625"/>
            <a:ext cx="2380231" cy="927800"/>
          </a:xfrm>
          <a:prstGeom prst="rect">
            <a:avLst/>
          </a:prstGeom>
          <a:noFill/>
          <a:ln>
            <a:noFill/>
          </a:ln>
        </p:spPr>
      </p:pic>
      <p:pic>
        <p:nvPicPr>
          <p:cNvPr id="211" name="Google Shape;211;p21"/>
          <p:cNvPicPr preferRelativeResize="0"/>
          <p:nvPr/>
        </p:nvPicPr>
        <p:blipFill>
          <a:blip r:embed="rId6">
            <a:alphaModFix/>
          </a:blip>
          <a:stretch>
            <a:fillRect/>
          </a:stretch>
        </p:blipFill>
        <p:spPr>
          <a:xfrm>
            <a:off x="4373769" y="3142138"/>
            <a:ext cx="2261900" cy="1033331"/>
          </a:xfrm>
          <a:prstGeom prst="rect">
            <a:avLst/>
          </a:prstGeom>
          <a:noFill/>
          <a:ln>
            <a:noFill/>
          </a:ln>
        </p:spPr>
      </p:pic>
      <p:pic>
        <p:nvPicPr>
          <p:cNvPr id="212" name="Google Shape;212;p21"/>
          <p:cNvPicPr preferRelativeResize="0"/>
          <p:nvPr/>
        </p:nvPicPr>
        <p:blipFill>
          <a:blip r:embed="rId7">
            <a:alphaModFix/>
          </a:blip>
          <a:stretch>
            <a:fillRect/>
          </a:stretch>
        </p:blipFill>
        <p:spPr>
          <a:xfrm>
            <a:off x="6735900" y="3850525"/>
            <a:ext cx="2040155" cy="1033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8" name="Google Shape;218;p2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19" name="Google Shape;219;p2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20" name="Google Shape;220;p22"/>
          <p:cNvSpPr txBox="1"/>
          <p:nvPr/>
        </p:nvSpPr>
        <p:spPr>
          <a:xfrm>
            <a:off x="256650" y="972838"/>
            <a:ext cx="8630700" cy="2372400"/>
          </a:xfrm>
          <a:prstGeom prst="rect">
            <a:avLst/>
          </a:prstGeom>
          <a:noFill/>
          <a:ln>
            <a:noFill/>
          </a:ln>
        </p:spPr>
        <p:txBody>
          <a:bodyPr anchorCtr="0" anchor="t" bIns="91425" lIns="91425" spcFirstLastPara="1" rIns="91425" wrap="square" tIns="91425">
            <a:spAutoFit/>
          </a:bodyPr>
          <a:lstStyle/>
          <a:p>
            <a:pPr indent="-368300" lvl="0" marL="457200" rtl="0" algn="l">
              <a:lnSpc>
                <a:spcPct val="90000"/>
              </a:lnSpc>
              <a:spcBef>
                <a:spcPts val="0"/>
              </a:spcBef>
              <a:spcAft>
                <a:spcPts val="0"/>
              </a:spcAft>
              <a:buClr>
                <a:srgbClr val="0000CC"/>
              </a:buClr>
              <a:buSzPts val="2200"/>
              <a:buFont typeface="Lexend"/>
              <a:buChar char="▪"/>
            </a:pPr>
            <a:r>
              <a:rPr lang="en" sz="2200">
                <a:solidFill>
                  <a:srgbClr val="0000CC"/>
                </a:solidFill>
                <a:latin typeface="Lexend"/>
                <a:ea typeface="Lexend"/>
                <a:cs typeface="Lexend"/>
                <a:sym typeface="Lexend"/>
              </a:rPr>
              <a:t>Convert binary information from </a:t>
            </a:r>
            <a:r>
              <a:rPr i="1" lang="en" sz="22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input lines to (max. of) 2</a:t>
            </a:r>
            <a:r>
              <a:rPr baseline="30000" i="1" lang="en" sz="2200">
                <a:solidFill>
                  <a:srgbClr val="0000CC"/>
                </a:solidFill>
                <a:latin typeface="Lexend"/>
                <a:ea typeface="Lexend"/>
                <a:cs typeface="Lexend"/>
                <a:sym typeface="Lexend"/>
              </a:rPr>
              <a:t>n</a:t>
            </a:r>
            <a:r>
              <a:rPr lang="en" sz="2200">
                <a:solidFill>
                  <a:srgbClr val="0000CC"/>
                </a:solidFill>
                <a:latin typeface="Lexend"/>
                <a:ea typeface="Lexend"/>
                <a:cs typeface="Lexend"/>
                <a:sym typeface="Lexend"/>
              </a:rPr>
              <a:t> output lines.</a:t>
            </a:r>
            <a:endParaRPr sz="2200">
              <a:solidFill>
                <a:schemeClr val="dk1"/>
              </a:solidFill>
              <a:latin typeface="Lexend"/>
              <a:ea typeface="Lexend"/>
              <a:cs typeface="Lexend"/>
              <a:sym typeface="Lexend"/>
            </a:endParaRPr>
          </a:p>
          <a:p>
            <a:pPr indent="-368300" lvl="0" marL="4572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Known as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-to-</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-line decoder, or simply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or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decoder (</a:t>
            </a:r>
            <a:r>
              <a:rPr i="1" lang="en" sz="2200">
                <a:solidFill>
                  <a:schemeClr val="dk1"/>
                </a:solidFill>
                <a:latin typeface="Lexend"/>
                <a:ea typeface="Lexend"/>
                <a:cs typeface="Lexend"/>
                <a:sym typeface="Lexend"/>
              </a:rPr>
              <a:t>m</a:t>
            </a:r>
            <a:r>
              <a:rPr lang="en" sz="2200">
                <a:solidFill>
                  <a:schemeClr val="dk1"/>
                </a:solidFill>
                <a:latin typeface="Lexend"/>
                <a:ea typeface="Lexend"/>
                <a:cs typeface="Lexend"/>
                <a:sym typeface="Lexend"/>
              </a:rPr>
              <a:t> ≤ 2</a:t>
            </a:r>
            <a:r>
              <a:rPr baseline="30000"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368300" lvl="0" marL="4572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May be used to generate 2</a:t>
            </a:r>
            <a:r>
              <a:rPr baseline="30000"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(or fewer) minterms of </a:t>
            </a:r>
            <a:r>
              <a:rPr i="1" lang="en" sz="2200">
                <a:solidFill>
                  <a:schemeClr val="dk1"/>
                </a:solidFill>
                <a:latin typeface="Lexend"/>
                <a:ea typeface="Lexend"/>
                <a:cs typeface="Lexend"/>
                <a:sym typeface="Lexend"/>
              </a:rPr>
              <a:t>n</a:t>
            </a:r>
            <a:r>
              <a:rPr lang="en" sz="2200">
                <a:solidFill>
                  <a:schemeClr val="dk1"/>
                </a:solidFill>
                <a:latin typeface="Lexend"/>
                <a:ea typeface="Lexend"/>
                <a:cs typeface="Lexend"/>
                <a:sym typeface="Lexend"/>
              </a:rPr>
              <a:t> input variables.</a:t>
            </a:r>
            <a:endParaRPr sz="2200">
              <a:solidFill>
                <a:schemeClr val="dk1"/>
              </a:solidFill>
              <a:latin typeface="Lexend"/>
              <a:ea typeface="Lexend"/>
              <a:cs typeface="Lexend"/>
              <a:sym typeface="Lexend"/>
            </a:endParaRPr>
          </a:p>
        </p:txBody>
      </p:sp>
      <p:grpSp>
        <p:nvGrpSpPr>
          <p:cNvPr id="221" name="Google Shape;221;p22"/>
          <p:cNvGrpSpPr/>
          <p:nvPr/>
        </p:nvGrpSpPr>
        <p:grpSpPr>
          <a:xfrm>
            <a:off x="50480" y="122879"/>
            <a:ext cx="277873" cy="68400"/>
            <a:chOff x="411700" y="2416840"/>
            <a:chExt cx="277873" cy="68400"/>
          </a:xfrm>
        </p:grpSpPr>
        <p:sp>
          <p:nvSpPr>
            <p:cNvPr id="222" name="Google Shape;222;p2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5" name="Google Shape;225;p2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26" name="Google Shape;226;p2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27" name="Google Shape;227;p2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3" name="Google Shape;233;p2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34" name="Google Shape;234;p2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35" name="Google Shape;235;p23"/>
          <p:cNvSpPr txBox="1"/>
          <p:nvPr/>
        </p:nvSpPr>
        <p:spPr>
          <a:xfrm>
            <a:off x="256650" y="972850"/>
            <a:ext cx="2921100" cy="22779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From truth table, circuit for 2×4 decoder is:</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Noto Sans Symbols"/>
              <a:buChar char="▪"/>
            </a:pPr>
            <a:r>
              <a:rPr lang="en" sz="2000">
                <a:solidFill>
                  <a:schemeClr val="dk1"/>
                </a:solidFill>
                <a:latin typeface="Lexend"/>
                <a:ea typeface="Lexend"/>
                <a:cs typeface="Lexend"/>
                <a:sym typeface="Lexend"/>
              </a:rPr>
              <a:t>Note: Each output is a 2-variable minterm (</a:t>
            </a:r>
            <a:r>
              <a:rPr b="1" lang="en" sz="2000">
                <a:solidFill>
                  <a:schemeClr val="dk1"/>
                </a:solidFill>
                <a:latin typeface="Lexend"/>
                <a:ea typeface="Lexend"/>
                <a:cs typeface="Lexend"/>
                <a:sym typeface="Lexend"/>
              </a:rPr>
              <a:t>X'Y', X'Y, XY' </a:t>
            </a:r>
            <a:r>
              <a:rPr lang="en" sz="2000">
                <a:solidFill>
                  <a:schemeClr val="dk1"/>
                </a:solidFill>
                <a:latin typeface="Lexend"/>
                <a:ea typeface="Lexend"/>
                <a:cs typeface="Lexend"/>
                <a:sym typeface="Lexend"/>
              </a:rPr>
              <a:t>or </a:t>
            </a:r>
            <a:r>
              <a:rPr b="1" lang="en" sz="2000">
                <a:solidFill>
                  <a:schemeClr val="dk1"/>
                </a:solidFill>
                <a:latin typeface="Lexend"/>
                <a:ea typeface="Lexend"/>
                <a:cs typeface="Lexend"/>
                <a:sym typeface="Lexend"/>
              </a:rPr>
              <a:t>XY</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grpSp>
        <p:nvGrpSpPr>
          <p:cNvPr id="236" name="Google Shape;236;p23"/>
          <p:cNvGrpSpPr/>
          <p:nvPr/>
        </p:nvGrpSpPr>
        <p:grpSpPr>
          <a:xfrm>
            <a:off x="50480" y="122879"/>
            <a:ext cx="277873" cy="68400"/>
            <a:chOff x="411700" y="2416840"/>
            <a:chExt cx="277873" cy="68400"/>
          </a:xfrm>
        </p:grpSpPr>
        <p:sp>
          <p:nvSpPr>
            <p:cNvPr id="237" name="Google Shape;237;p2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2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2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40" name="Google Shape;240;p2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41" name="Google Shape;241;p2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42" name="Google Shape;242;p2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243" name="Google Shape;243;p23"/>
          <p:cNvGrpSpPr/>
          <p:nvPr/>
        </p:nvGrpSpPr>
        <p:grpSpPr>
          <a:xfrm>
            <a:off x="209780" y="3195294"/>
            <a:ext cx="3409760" cy="1468083"/>
            <a:chOff x="541775" y="2457625"/>
            <a:chExt cx="3662077" cy="1504800"/>
          </a:xfrm>
        </p:grpSpPr>
        <p:sp>
          <p:nvSpPr>
            <p:cNvPr id="244" name="Google Shape;244;p23"/>
            <p:cNvSpPr/>
            <p:nvPr/>
          </p:nvSpPr>
          <p:spPr>
            <a:xfrm>
              <a:off x="1864350" y="2533825"/>
              <a:ext cx="952500" cy="14286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45" name="Google Shape;245;p23"/>
            <p:cNvSpPr txBox="1"/>
            <p:nvPr/>
          </p:nvSpPr>
          <p:spPr>
            <a:xfrm>
              <a:off x="1864350" y="2457625"/>
              <a:ext cx="952500" cy="599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2x4</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Dec</a:t>
              </a:r>
              <a:endParaRPr b="0" i="0" sz="2000" u="none" cap="none" strike="noStrike">
                <a:solidFill>
                  <a:srgbClr val="000000"/>
                </a:solidFill>
                <a:latin typeface="Arial"/>
                <a:ea typeface="Arial"/>
                <a:cs typeface="Arial"/>
                <a:sym typeface="Arial"/>
              </a:endParaRPr>
            </a:p>
          </p:txBody>
        </p:sp>
        <p:cxnSp>
          <p:nvCxnSpPr>
            <p:cNvPr id="246" name="Google Shape;246;p23"/>
            <p:cNvCxnSpPr/>
            <p:nvPr/>
          </p:nvCxnSpPr>
          <p:spPr>
            <a:xfrm>
              <a:off x="1386884" y="29910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7" name="Google Shape;247;p23"/>
            <p:cNvCxnSpPr/>
            <p:nvPr/>
          </p:nvCxnSpPr>
          <p:spPr>
            <a:xfrm>
              <a:off x="2812527" y="30672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8" name="Google Shape;248;p23"/>
            <p:cNvCxnSpPr/>
            <p:nvPr/>
          </p:nvCxnSpPr>
          <p:spPr>
            <a:xfrm>
              <a:off x="2812527" y="28386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49" name="Google Shape;249;p23"/>
            <p:cNvCxnSpPr/>
            <p:nvPr/>
          </p:nvCxnSpPr>
          <p:spPr>
            <a:xfrm>
              <a:off x="1386884" y="33720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50" name="Google Shape;250;p23"/>
            <p:cNvCxnSpPr/>
            <p:nvPr/>
          </p:nvCxnSpPr>
          <p:spPr>
            <a:xfrm>
              <a:off x="2812527" y="32958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251" name="Google Shape;251;p23"/>
            <p:cNvCxnSpPr/>
            <p:nvPr/>
          </p:nvCxnSpPr>
          <p:spPr>
            <a:xfrm>
              <a:off x="2812527" y="3524425"/>
              <a:ext cx="476400" cy="0"/>
            </a:xfrm>
            <a:prstGeom prst="straightConnector1">
              <a:avLst/>
            </a:prstGeom>
            <a:noFill/>
            <a:ln cap="flat" cmpd="sng" w="15875">
              <a:solidFill>
                <a:srgbClr val="000000"/>
              </a:solidFill>
              <a:prstDash val="solid"/>
              <a:round/>
              <a:headEnd len="sm" w="sm" type="none"/>
              <a:tailEnd len="med" w="med" type="triangle"/>
            </a:ln>
          </p:spPr>
        </p:cxnSp>
        <p:sp>
          <p:nvSpPr>
            <p:cNvPr id="252" name="Google Shape;252;p23"/>
            <p:cNvSpPr txBox="1"/>
            <p:nvPr/>
          </p:nvSpPr>
          <p:spPr>
            <a:xfrm>
              <a:off x="541775" y="2838625"/>
              <a:ext cx="732300" cy="504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300" u="none" cap="none" strike="noStrike">
                  <a:solidFill>
                    <a:srgbClr val="000000"/>
                  </a:solidFill>
                  <a:latin typeface="Arial"/>
                  <a:ea typeface="Arial"/>
                  <a:cs typeface="Arial"/>
                  <a:sym typeface="Arial"/>
                </a:rPr>
                <a:t>2-bit code</a:t>
              </a:r>
              <a:endParaRPr b="0" i="0" sz="1700" u="none" cap="none" strike="noStrike">
                <a:solidFill>
                  <a:srgbClr val="000000"/>
                </a:solidFill>
                <a:latin typeface="Arial"/>
                <a:ea typeface="Arial"/>
                <a:cs typeface="Arial"/>
                <a:sym typeface="Arial"/>
              </a:endParaRPr>
            </a:p>
          </p:txBody>
        </p:sp>
        <p:sp>
          <p:nvSpPr>
            <p:cNvPr id="253" name="Google Shape;253;p23"/>
            <p:cNvSpPr txBox="1"/>
            <p:nvPr/>
          </p:nvSpPr>
          <p:spPr>
            <a:xfrm>
              <a:off x="1819900" y="2838625"/>
              <a:ext cx="476400" cy="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X</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Y</a:t>
              </a:r>
              <a:endParaRPr b="0" i="0" sz="2000" u="none" cap="none" strike="noStrike">
                <a:solidFill>
                  <a:srgbClr val="000000"/>
                </a:solidFill>
                <a:latin typeface="Arial"/>
                <a:ea typeface="Arial"/>
                <a:cs typeface="Arial"/>
                <a:sym typeface="Arial"/>
              </a:endParaRPr>
            </a:p>
          </p:txBody>
        </p:sp>
        <p:sp>
          <p:nvSpPr>
            <p:cNvPr id="254" name="Google Shape;254;p23"/>
            <p:cNvSpPr txBox="1"/>
            <p:nvPr/>
          </p:nvSpPr>
          <p:spPr>
            <a:xfrm>
              <a:off x="2511523" y="2686234"/>
              <a:ext cx="515100" cy="97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0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1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2 </a:t>
              </a:r>
              <a:r>
                <a:rPr b="1" i="0" lang="en" sz="1400" u="none" cap="none" strike="noStrike">
                  <a:solidFill>
                    <a:srgbClr val="000000"/>
                  </a:solidFill>
                  <a:latin typeface="Arial"/>
                  <a:ea typeface="Arial"/>
                  <a:cs typeface="Arial"/>
                  <a:sym typeface="Arial"/>
                </a:rPr>
                <a:t>F</a:t>
              </a:r>
              <a:r>
                <a:rPr b="1" baseline="-25000" i="0" lang="en" sz="1400" u="none" cap="none" strike="noStrike">
                  <a:solidFill>
                    <a:srgbClr val="000000"/>
                  </a:solidFill>
                  <a:latin typeface="Arial"/>
                  <a:ea typeface="Arial"/>
                  <a:cs typeface="Arial"/>
                  <a:sym typeface="Arial"/>
                </a:rPr>
                <a:t>3</a:t>
              </a:r>
              <a:endParaRPr b="1" i="0" sz="1400" u="none" cap="none" strike="noStrike">
                <a:solidFill>
                  <a:srgbClr val="000000"/>
                </a:solidFill>
                <a:latin typeface="Arial"/>
                <a:ea typeface="Arial"/>
                <a:cs typeface="Arial"/>
                <a:sym typeface="Arial"/>
              </a:endParaRPr>
            </a:p>
          </p:txBody>
        </p:sp>
        <p:sp>
          <p:nvSpPr>
            <p:cNvPr id="255" name="Google Shape;255;p23"/>
            <p:cNvSpPr txBox="1"/>
            <p:nvPr/>
          </p:nvSpPr>
          <p:spPr>
            <a:xfrm>
              <a:off x="3251352" y="2679470"/>
              <a:ext cx="952500" cy="103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4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Bulb 3</a:t>
              </a:r>
              <a:endParaRPr b="0" i="0" sz="2000" u="none" cap="none" strike="noStrike">
                <a:solidFill>
                  <a:srgbClr val="000000"/>
                </a:solidFill>
                <a:latin typeface="Arial"/>
                <a:ea typeface="Arial"/>
                <a:cs typeface="Arial"/>
                <a:sym typeface="Arial"/>
              </a:endParaRPr>
            </a:p>
          </p:txBody>
        </p:sp>
      </p:grpSp>
      <p:graphicFrame>
        <p:nvGraphicFramePr>
          <p:cNvPr id="256" name="Google Shape;256;p23"/>
          <p:cNvGraphicFramePr/>
          <p:nvPr/>
        </p:nvGraphicFramePr>
        <p:xfrm>
          <a:off x="3341450" y="972838"/>
          <a:ext cx="3000000" cy="3000000"/>
        </p:xfrm>
        <a:graphic>
          <a:graphicData uri="http://schemas.openxmlformats.org/drawingml/2006/table">
            <a:tbl>
              <a:tblPr>
                <a:noFill/>
                <a:tableStyleId>{89043D2A-02A2-4C3A-B289-3E6D6C1B2619}</a:tableStyleId>
              </a:tblPr>
              <a:tblGrid>
                <a:gridCol w="382900"/>
                <a:gridCol w="382900"/>
                <a:gridCol w="382900"/>
                <a:gridCol w="382900"/>
                <a:gridCol w="382900"/>
                <a:gridCol w="408050"/>
              </a:tblGrid>
              <a:tr h="293950">
                <a:tc>
                  <a:txBody>
                    <a:bodyPr/>
                    <a:lstStyle/>
                    <a:p>
                      <a:pPr indent="0" lvl="0" marL="0" marR="0" rtl="0" algn="ctr">
                        <a:lnSpc>
                          <a:spcPct val="100000"/>
                        </a:lnSpc>
                        <a:spcBef>
                          <a:spcPts val="0"/>
                        </a:spcBef>
                        <a:spcAft>
                          <a:spcPts val="0"/>
                        </a:spcAft>
                        <a:buNone/>
                      </a:pPr>
                      <a:r>
                        <a:rPr lang="en" sz="1300">
                          <a:latin typeface="Lexend"/>
                          <a:ea typeface="Lexend"/>
                          <a:cs typeface="Lexend"/>
                          <a:sym typeface="Lexend"/>
                        </a:rPr>
                        <a:t>X</a:t>
                      </a:r>
                      <a:endParaRPr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a:ea typeface="Lexend"/>
                          <a:cs typeface="Lexend"/>
                          <a:sym typeface="Lexend"/>
                        </a:rPr>
                        <a:t>Y</a:t>
                      </a:r>
                      <a:endParaRPr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F0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F1</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F2</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a:ea typeface="Lexend"/>
                          <a:cs typeface="Lexend"/>
                          <a:sym typeface="Lexend"/>
                        </a:rPr>
                        <a:t>F3</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b="1" lang="en" sz="1300">
                          <a:solidFill>
                            <a:schemeClr val="dk1"/>
                          </a:solidFill>
                          <a:latin typeface="Lexend"/>
                          <a:ea typeface="Lexend"/>
                          <a:cs typeface="Lexend"/>
                          <a:sym typeface="Lexend"/>
                        </a:rPr>
                        <a:t>0</a:t>
                      </a:r>
                      <a:endParaRPr b="1" i="0" sz="1300" u="none">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0</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1</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257" name="Google Shape;257;p23"/>
          <p:cNvPicPr preferRelativeResize="0"/>
          <p:nvPr/>
        </p:nvPicPr>
        <p:blipFill>
          <a:blip r:embed="rId4">
            <a:alphaModFix/>
          </a:blip>
          <a:stretch>
            <a:fillRect/>
          </a:stretch>
        </p:blipFill>
        <p:spPr>
          <a:xfrm>
            <a:off x="5899050" y="1050700"/>
            <a:ext cx="3168750" cy="3483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3" name="Google Shape;263;p2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64" name="Google Shape;264;p2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65" name="Google Shape;265;p24"/>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Design a 3×8 decoder by yourself.</a:t>
            </a:r>
            <a:endParaRPr sz="2000">
              <a:solidFill>
                <a:schemeClr val="dk1"/>
              </a:solidFill>
              <a:latin typeface="Lexend"/>
              <a:ea typeface="Lexend"/>
              <a:cs typeface="Lexend"/>
              <a:sym typeface="Lexend"/>
            </a:endParaRPr>
          </a:p>
        </p:txBody>
      </p:sp>
      <p:grpSp>
        <p:nvGrpSpPr>
          <p:cNvPr id="266" name="Google Shape;266;p24"/>
          <p:cNvGrpSpPr/>
          <p:nvPr/>
        </p:nvGrpSpPr>
        <p:grpSpPr>
          <a:xfrm>
            <a:off x="50480" y="122879"/>
            <a:ext cx="277873" cy="68400"/>
            <a:chOff x="411700" y="2416840"/>
            <a:chExt cx="277873" cy="68400"/>
          </a:xfrm>
        </p:grpSpPr>
        <p:sp>
          <p:nvSpPr>
            <p:cNvPr id="267" name="Google Shape;267;p2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2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2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0" name="Google Shape;270;p2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71" name="Google Shape;271;p2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72" name="Google Shape;272;p2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8" name="Google Shape;278;p2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79" name="Google Shape;279;p2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80" name="Google Shape;280;p25"/>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Solution:</a:t>
            </a:r>
            <a:endParaRPr sz="2000">
              <a:solidFill>
                <a:schemeClr val="dk1"/>
              </a:solidFill>
              <a:latin typeface="Lexend"/>
              <a:ea typeface="Lexend"/>
              <a:cs typeface="Lexend"/>
              <a:sym typeface="Lexend"/>
            </a:endParaRPr>
          </a:p>
        </p:txBody>
      </p:sp>
      <p:grpSp>
        <p:nvGrpSpPr>
          <p:cNvPr id="281" name="Google Shape;281;p25"/>
          <p:cNvGrpSpPr/>
          <p:nvPr/>
        </p:nvGrpSpPr>
        <p:grpSpPr>
          <a:xfrm>
            <a:off x="50480" y="122879"/>
            <a:ext cx="277873" cy="68400"/>
            <a:chOff x="411700" y="2416840"/>
            <a:chExt cx="277873" cy="68400"/>
          </a:xfrm>
        </p:grpSpPr>
        <p:sp>
          <p:nvSpPr>
            <p:cNvPr id="282" name="Google Shape;282;p2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2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2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5" name="Google Shape;285;p2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286" name="Google Shape;286;p2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287" name="Google Shape;287;p2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288" name="Google Shape;288;p25"/>
          <p:cNvPicPr preferRelativeResize="0"/>
          <p:nvPr/>
        </p:nvPicPr>
        <p:blipFill>
          <a:blip r:embed="rId4">
            <a:alphaModFix/>
          </a:blip>
          <a:stretch>
            <a:fillRect/>
          </a:stretch>
        </p:blipFill>
        <p:spPr>
          <a:xfrm>
            <a:off x="4707340" y="208225"/>
            <a:ext cx="4436660" cy="4541050"/>
          </a:xfrm>
          <a:prstGeom prst="rect">
            <a:avLst/>
          </a:prstGeom>
          <a:noFill/>
          <a:ln>
            <a:noFill/>
          </a:ln>
        </p:spPr>
      </p:pic>
      <p:graphicFrame>
        <p:nvGraphicFramePr>
          <p:cNvPr id="289" name="Google Shape;289;p25"/>
          <p:cNvGraphicFramePr/>
          <p:nvPr/>
        </p:nvGraphicFramePr>
        <p:xfrm>
          <a:off x="403600" y="1560213"/>
          <a:ext cx="3000000" cy="3000000"/>
        </p:xfrm>
        <a:graphic>
          <a:graphicData uri="http://schemas.openxmlformats.org/drawingml/2006/table">
            <a:tbl>
              <a:tblPr>
                <a:noFill/>
                <a:tableStyleId>{89043D2A-02A2-4C3A-B289-3E6D6C1B2619}</a:tableStyleId>
              </a:tblPr>
              <a:tblGrid>
                <a:gridCol w="382900"/>
                <a:gridCol w="382900"/>
                <a:gridCol w="382900"/>
                <a:gridCol w="382900"/>
                <a:gridCol w="382900"/>
                <a:gridCol w="382900"/>
                <a:gridCol w="382900"/>
                <a:gridCol w="382900"/>
                <a:gridCol w="382900"/>
                <a:gridCol w="382900"/>
                <a:gridCol w="382900"/>
              </a:tblGrid>
              <a:tr h="407575">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x</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a:ea typeface="Lexend"/>
                          <a:cs typeface="Lexend"/>
                          <a:sym typeface="Lexend"/>
                        </a:rPr>
                        <a:t>y</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a:ea typeface="Lexend"/>
                          <a:cs typeface="Lexend"/>
                          <a:sym typeface="Lexend"/>
                        </a:rPr>
                        <a:t>z</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0</a:t>
                      </a:r>
                      <a:endParaRPr baseline="-25000"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1</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2</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3</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4</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5</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6</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F</a:t>
                      </a:r>
                      <a:r>
                        <a:rPr baseline="-25000" lang="en" sz="1500">
                          <a:latin typeface="Lexend"/>
                          <a:ea typeface="Lexend"/>
                          <a:cs typeface="Lexend"/>
                          <a:sym typeface="Lexend"/>
                        </a:rPr>
                        <a:t>7</a:t>
                      </a:r>
                      <a:endParaRPr baseline="-25000"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0</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solidFill>
                          <a:schemeClr val="dk1"/>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0</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140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1</a:t>
                      </a:r>
                      <a:endParaRPr sz="1500">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500">
                          <a:latin typeface="Lexend Medium"/>
                          <a:ea typeface="Lexend Medium"/>
                          <a:cs typeface="Lexend Medium"/>
                          <a:sym typeface="Lexend Medium"/>
                        </a:rPr>
                        <a:t>1</a:t>
                      </a:r>
                      <a:endParaRPr i="0" sz="1500" u="none">
                        <a:solidFill>
                          <a:srgbClr val="000000"/>
                        </a:solidFill>
                        <a:latin typeface="Lexend Medium"/>
                        <a:ea typeface="Lexend Medium"/>
                        <a:cs typeface="Lexend Medium"/>
                        <a:sym typeface="Lexend Medium"/>
                      </a:endParaRPr>
                    </a:p>
                  </a:txBody>
                  <a:tcPr marT="45700" marB="45700" marR="91450" marL="91450">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Medium"/>
                          <a:ea typeface="Lexend Medium"/>
                          <a:cs typeface="Lexend Medium"/>
                          <a:sym typeface="Lexend Medium"/>
                        </a:rPr>
                        <a:t>1</a:t>
                      </a:r>
                      <a:endParaRPr sz="1500">
                        <a:latin typeface="Lexend"/>
                        <a:ea typeface="Lexend"/>
                        <a:cs typeface="Lexend"/>
                        <a:sym typeface="Lexend"/>
                      </a:endParaRPr>
                    </a:p>
                  </a:txBody>
                  <a:tcPr marT="45700" marB="45700" marR="91450" marL="91450">
                    <a:lnL cap="flat" cmpd="sng" w="19050">
                      <a:solidFill>
                        <a:srgbClr val="DCDFFE"/>
                      </a:solidFill>
                      <a:prstDash val="solid"/>
                      <a:round/>
                      <a:headEnd len="sm" w="sm" type="none"/>
                      <a:tailEnd len="sm" w="sm" type="none"/>
                    </a:lnL>
                    <a:lnR cap="flat" cmpd="sng" w="3810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38100">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latin typeface="Lexend"/>
                          <a:ea typeface="Lexend"/>
                          <a:cs typeface="Lexend"/>
                          <a:sym typeface="Lexend"/>
                        </a:rPr>
                        <a:t>0</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5" name="Google Shape;295;p2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296" name="Google Shape;296;p2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297" name="Google Shape;297;p26"/>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In general, for an n-bit code, a decoder could select up to 2</a:t>
            </a:r>
            <a:r>
              <a:rPr baseline="30000"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p:txBody>
      </p:sp>
      <p:grpSp>
        <p:nvGrpSpPr>
          <p:cNvPr id="298" name="Google Shape;298;p26"/>
          <p:cNvGrpSpPr/>
          <p:nvPr/>
        </p:nvGrpSpPr>
        <p:grpSpPr>
          <a:xfrm>
            <a:off x="50480" y="122879"/>
            <a:ext cx="277873" cy="68400"/>
            <a:chOff x="411700" y="2416840"/>
            <a:chExt cx="277873" cy="68400"/>
          </a:xfrm>
        </p:grpSpPr>
        <p:sp>
          <p:nvSpPr>
            <p:cNvPr id="299" name="Google Shape;299;p2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2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2" name="Google Shape;302;p2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03" name="Google Shape;303;p2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04" name="Google Shape;304;p2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305" name="Google Shape;305;p26"/>
          <p:cNvGrpSpPr/>
          <p:nvPr/>
        </p:nvGrpSpPr>
        <p:grpSpPr>
          <a:xfrm>
            <a:off x="1800225" y="1722725"/>
            <a:ext cx="5543400" cy="1428750"/>
            <a:chOff x="1800225" y="1722725"/>
            <a:chExt cx="5543400" cy="1428750"/>
          </a:xfrm>
        </p:grpSpPr>
        <p:sp>
          <p:nvSpPr>
            <p:cNvPr id="306" name="Google Shape;306;p26"/>
            <p:cNvSpPr/>
            <p:nvPr/>
          </p:nvSpPr>
          <p:spPr>
            <a:xfrm>
              <a:off x="3400425" y="1722725"/>
              <a:ext cx="1905000" cy="142875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07" name="Google Shape;307;p26"/>
            <p:cNvCxnSpPr/>
            <p:nvPr/>
          </p:nvCxnSpPr>
          <p:spPr>
            <a:xfrm>
              <a:off x="2937080" y="19513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308" name="Google Shape;308;p26"/>
            <p:cNvCxnSpPr/>
            <p:nvPr/>
          </p:nvCxnSpPr>
          <p:spPr>
            <a:xfrm>
              <a:off x="2937080" y="2179925"/>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309" name="Google Shape;309;p26"/>
            <p:cNvCxnSpPr/>
            <p:nvPr/>
          </p:nvCxnSpPr>
          <p:spPr>
            <a:xfrm>
              <a:off x="2937080" y="2789525"/>
              <a:ext cx="476400" cy="0"/>
            </a:xfrm>
            <a:prstGeom prst="straightConnector1">
              <a:avLst/>
            </a:prstGeom>
            <a:noFill/>
            <a:ln cap="flat" cmpd="sng" w="15875">
              <a:solidFill>
                <a:srgbClr val="000000"/>
              </a:solidFill>
              <a:prstDash val="solid"/>
              <a:round/>
              <a:headEnd len="sm" w="sm" type="none"/>
              <a:tailEnd len="med" w="med" type="triangle"/>
            </a:ln>
          </p:spPr>
        </p:cxnSp>
        <p:sp>
          <p:nvSpPr>
            <p:cNvPr id="310" name="Google Shape;310;p26"/>
            <p:cNvSpPr txBox="1"/>
            <p:nvPr/>
          </p:nvSpPr>
          <p:spPr>
            <a:xfrm>
              <a:off x="2897750" y="2259125"/>
              <a:ext cx="4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cxnSp>
          <p:nvCxnSpPr>
            <p:cNvPr id="311" name="Google Shape;311;p26"/>
            <p:cNvCxnSpPr/>
            <p:nvPr/>
          </p:nvCxnSpPr>
          <p:spPr>
            <a:xfrm>
              <a:off x="5305425" y="17989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2" name="Google Shape;312;p26"/>
            <p:cNvCxnSpPr/>
            <p:nvPr/>
          </p:nvCxnSpPr>
          <p:spPr>
            <a:xfrm>
              <a:off x="5305425" y="20275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3" name="Google Shape;313;p26"/>
            <p:cNvCxnSpPr/>
            <p:nvPr/>
          </p:nvCxnSpPr>
          <p:spPr>
            <a:xfrm>
              <a:off x="5305425" y="2789525"/>
              <a:ext cx="476250" cy="0"/>
            </a:xfrm>
            <a:prstGeom prst="straightConnector1">
              <a:avLst/>
            </a:prstGeom>
            <a:noFill/>
            <a:ln cap="flat" cmpd="sng" w="15875">
              <a:solidFill>
                <a:srgbClr val="000000"/>
              </a:solidFill>
              <a:prstDash val="solid"/>
              <a:round/>
              <a:headEnd len="sm" w="sm" type="none"/>
              <a:tailEnd len="med" w="med" type="triangle"/>
            </a:ln>
          </p:spPr>
        </p:cxnSp>
        <p:sp>
          <p:nvSpPr>
            <p:cNvPr id="314" name="Google Shape;314;p26"/>
            <p:cNvSpPr txBox="1"/>
            <p:nvPr/>
          </p:nvSpPr>
          <p:spPr>
            <a:xfrm>
              <a:off x="5457825" y="2256125"/>
              <a:ext cx="4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Arial"/>
                  <a:ea typeface="Arial"/>
                  <a:cs typeface="Arial"/>
                  <a:sym typeface="Arial"/>
                </a:rPr>
                <a:t>:</a:t>
              </a:r>
              <a:endParaRPr b="0" i="0" sz="2000" u="none" cap="none" strike="noStrike">
                <a:solidFill>
                  <a:srgbClr val="000000"/>
                </a:solidFill>
                <a:latin typeface="Arial"/>
                <a:ea typeface="Arial"/>
                <a:cs typeface="Arial"/>
                <a:sym typeface="Arial"/>
              </a:endParaRPr>
            </a:p>
          </p:txBody>
        </p:sp>
        <p:cxnSp>
          <p:nvCxnSpPr>
            <p:cNvPr id="315" name="Google Shape;315;p26"/>
            <p:cNvCxnSpPr/>
            <p:nvPr/>
          </p:nvCxnSpPr>
          <p:spPr>
            <a:xfrm>
              <a:off x="5305425" y="19513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6" name="Google Shape;316;p26"/>
            <p:cNvCxnSpPr/>
            <p:nvPr/>
          </p:nvCxnSpPr>
          <p:spPr>
            <a:xfrm>
              <a:off x="5305425" y="1875125"/>
              <a:ext cx="476250" cy="0"/>
            </a:xfrm>
            <a:prstGeom prst="straightConnector1">
              <a:avLst/>
            </a:prstGeom>
            <a:noFill/>
            <a:ln cap="flat" cmpd="sng" w="15875">
              <a:solidFill>
                <a:srgbClr val="000000"/>
              </a:solidFill>
              <a:prstDash val="solid"/>
              <a:round/>
              <a:headEnd len="sm" w="sm" type="none"/>
              <a:tailEnd len="med" w="med" type="triangle"/>
            </a:ln>
          </p:spPr>
        </p:cxnSp>
        <p:cxnSp>
          <p:nvCxnSpPr>
            <p:cNvPr id="317" name="Google Shape;317;p26"/>
            <p:cNvCxnSpPr/>
            <p:nvPr/>
          </p:nvCxnSpPr>
          <p:spPr>
            <a:xfrm>
              <a:off x="5305425" y="2103725"/>
              <a:ext cx="476250" cy="0"/>
            </a:xfrm>
            <a:prstGeom prst="straightConnector1">
              <a:avLst/>
            </a:prstGeom>
            <a:noFill/>
            <a:ln cap="flat" cmpd="sng" w="15875">
              <a:solidFill>
                <a:srgbClr val="000000"/>
              </a:solidFill>
              <a:prstDash val="solid"/>
              <a:round/>
              <a:headEnd len="sm" w="sm" type="none"/>
              <a:tailEnd len="med" w="med" type="triangle"/>
            </a:ln>
          </p:spPr>
        </p:cxnSp>
        <p:sp>
          <p:nvSpPr>
            <p:cNvPr id="318" name="Google Shape;318;p26"/>
            <p:cNvSpPr txBox="1"/>
            <p:nvPr/>
          </p:nvSpPr>
          <p:spPr>
            <a:xfrm>
              <a:off x="1800225" y="1951325"/>
              <a:ext cx="9525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1" lang="en" sz="2000" u="none" cap="none" strike="noStrike">
                  <a:solidFill>
                    <a:srgbClr val="000000"/>
                  </a:solidFill>
                  <a:latin typeface="Lexend"/>
                  <a:ea typeface="Lexend"/>
                  <a:cs typeface="Lexend"/>
                  <a:sym typeface="Lexend"/>
                </a:rPr>
                <a:t>n</a:t>
              </a:r>
              <a:r>
                <a:rPr i="0" lang="en" sz="2000" u="none" cap="none" strike="noStrike">
                  <a:solidFill>
                    <a:srgbClr val="000000"/>
                  </a:solidFill>
                  <a:latin typeface="Lexend"/>
                  <a:ea typeface="Lexend"/>
                  <a:cs typeface="Lexend"/>
                  <a:sym typeface="Lexend"/>
                </a:rPr>
                <a:t>-bit</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code</a:t>
              </a:r>
              <a:endParaRPr i="0" sz="1800" u="none" cap="none" strike="noStrike">
                <a:solidFill>
                  <a:srgbClr val="000000"/>
                </a:solidFill>
                <a:latin typeface="Lexend"/>
                <a:ea typeface="Lexend"/>
                <a:cs typeface="Lexend"/>
                <a:sym typeface="Lexend"/>
              </a:endParaRPr>
            </a:p>
          </p:txBody>
        </p:sp>
        <p:sp>
          <p:nvSpPr>
            <p:cNvPr id="319" name="Google Shape;319;p26"/>
            <p:cNvSpPr txBox="1"/>
            <p:nvPr/>
          </p:nvSpPr>
          <p:spPr>
            <a:xfrm>
              <a:off x="3629025" y="1951325"/>
              <a:ext cx="14286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1" lang="en" sz="2000" u="none" cap="none" strike="noStrike">
                  <a:solidFill>
                    <a:srgbClr val="000000"/>
                  </a:solidFill>
                  <a:latin typeface="Lexend"/>
                  <a:ea typeface="Lexend"/>
                  <a:cs typeface="Lexend"/>
                  <a:sym typeface="Lexend"/>
                </a:rPr>
                <a:t>n</a:t>
              </a:r>
              <a:r>
                <a:rPr i="0" lang="en" sz="2000" u="none" cap="none" strike="noStrike">
                  <a:solidFill>
                    <a:srgbClr val="000000"/>
                  </a:solidFill>
                  <a:latin typeface="Lexend"/>
                  <a:ea typeface="Lexend"/>
                  <a:cs typeface="Lexend"/>
                  <a:sym typeface="Lexend"/>
                </a:rPr>
                <a:t> to 2</a:t>
              </a:r>
              <a:r>
                <a:rPr baseline="30000" i="1" lang="en" sz="2000" u="none" cap="none" strike="noStrike">
                  <a:solidFill>
                    <a:srgbClr val="000000"/>
                  </a:solidFill>
                  <a:latin typeface="Lexend"/>
                  <a:ea typeface="Lexend"/>
                  <a:cs typeface="Lexend"/>
                  <a:sym typeface="Lexend"/>
                </a:rPr>
                <a:t>n</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decoder</a:t>
              </a:r>
              <a:endParaRPr i="0" sz="1800" u="none" cap="none" strike="noStrike">
                <a:solidFill>
                  <a:srgbClr val="000000"/>
                </a:solidFill>
                <a:latin typeface="Lexend"/>
                <a:ea typeface="Lexend"/>
                <a:cs typeface="Lexend"/>
                <a:sym typeface="Lexend"/>
              </a:endParaRPr>
            </a:p>
          </p:txBody>
        </p:sp>
        <p:sp>
          <p:nvSpPr>
            <p:cNvPr id="320" name="Google Shape;320;p26"/>
            <p:cNvSpPr txBox="1"/>
            <p:nvPr/>
          </p:nvSpPr>
          <p:spPr>
            <a:xfrm>
              <a:off x="5915025" y="1951325"/>
              <a:ext cx="14286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up to 2</a:t>
              </a:r>
              <a:r>
                <a:rPr baseline="30000" i="1" lang="en" sz="2000" u="none" cap="none" strike="noStrike">
                  <a:solidFill>
                    <a:srgbClr val="000000"/>
                  </a:solidFill>
                  <a:latin typeface="Lexend"/>
                  <a:ea typeface="Lexend"/>
                  <a:cs typeface="Lexend"/>
                  <a:sym typeface="Lexend"/>
                </a:rPr>
                <a:t>n</a:t>
              </a:r>
              <a:endParaRPr i="0" sz="1400" u="none" cap="none" strike="noStrike">
                <a:solidFill>
                  <a:srgbClr val="000000"/>
                </a:solidFill>
                <a:latin typeface="Lexend"/>
                <a:ea typeface="Lexend"/>
                <a:cs typeface="Lexend"/>
                <a:sym typeface="Lexend"/>
              </a:endParaRPr>
            </a:p>
            <a:p>
              <a:pPr indent="0" lvl="0" marL="0" marR="0" rtl="0" algn="ctr">
                <a:lnSpc>
                  <a:spcPct val="100000"/>
                </a:lnSpc>
                <a:spcBef>
                  <a:spcPts val="0"/>
                </a:spcBef>
                <a:spcAft>
                  <a:spcPts val="0"/>
                </a:spcAft>
                <a:buClr>
                  <a:srgbClr val="000000"/>
                </a:buClr>
                <a:buSzPts val="2000"/>
                <a:buFont typeface="Arial"/>
                <a:buNone/>
              </a:pPr>
              <a:r>
                <a:rPr i="0" lang="en" sz="2000" u="none" cap="none" strike="noStrike">
                  <a:solidFill>
                    <a:srgbClr val="000000"/>
                  </a:solidFill>
                  <a:latin typeface="Lexend"/>
                  <a:ea typeface="Lexend"/>
                  <a:cs typeface="Lexend"/>
                  <a:sym typeface="Lexend"/>
                </a:rPr>
                <a:t>output lines</a:t>
              </a:r>
              <a:endParaRPr i="0" sz="1800" u="none" cap="none" strike="noStrike">
                <a:solidFill>
                  <a:srgbClr val="000000"/>
                </a:solidFill>
                <a:latin typeface="Lexend"/>
                <a:ea typeface="Lexend"/>
                <a:cs typeface="Lexend"/>
                <a:sym typeface="Lexend"/>
              </a:endParaRPr>
            </a:p>
          </p:txBody>
        </p:sp>
      </p:grpSp>
      <p:sp>
        <p:nvSpPr>
          <p:cNvPr id="321" name="Google Shape;321;p26"/>
          <p:cNvSpPr/>
          <p:nvPr/>
        </p:nvSpPr>
        <p:spPr>
          <a:xfrm>
            <a:off x="927875" y="3439650"/>
            <a:ext cx="6946800" cy="1313100"/>
          </a:xfrm>
          <a:prstGeom prst="wedgeRoundRectCallout">
            <a:avLst>
              <a:gd fmla="val 13592" name="adj1"/>
              <a:gd fmla="val -60005"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As n input generates 2^n output, which reminds us of canonical SOP, thus a decoder can be used to generate any function</a:t>
            </a:r>
            <a:endParaRPr sz="24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7" name="Google Shape;327;p2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28" name="Google Shape;328;p2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29" name="Google Shape;329;p27"/>
          <p:cNvSpPr txBox="1"/>
          <p:nvPr/>
        </p:nvSpPr>
        <p:spPr>
          <a:xfrm>
            <a:off x="256650" y="972850"/>
            <a:ext cx="8428500" cy="2185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Example 1: Full adder circuit with decoder (3 x 8 decoder) </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We know,</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S(x,y,z) = ∑(1,2,4,7)</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C(x,y,z) = ∑(3,5,6,7)</a:t>
            </a:r>
            <a:endParaRPr sz="2000">
              <a:solidFill>
                <a:schemeClr val="dk1"/>
              </a:solidFill>
              <a:latin typeface="Lexend"/>
              <a:ea typeface="Lexend"/>
              <a:cs typeface="Lexend"/>
              <a:sym typeface="Lexend"/>
            </a:endParaRPr>
          </a:p>
        </p:txBody>
      </p:sp>
      <p:grpSp>
        <p:nvGrpSpPr>
          <p:cNvPr id="330" name="Google Shape;330;p27"/>
          <p:cNvGrpSpPr/>
          <p:nvPr/>
        </p:nvGrpSpPr>
        <p:grpSpPr>
          <a:xfrm>
            <a:off x="50480" y="122879"/>
            <a:ext cx="277873" cy="68400"/>
            <a:chOff x="411700" y="2416840"/>
            <a:chExt cx="277873" cy="68400"/>
          </a:xfrm>
        </p:grpSpPr>
        <p:sp>
          <p:nvSpPr>
            <p:cNvPr id="331" name="Google Shape;331;p2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34" name="Google Shape;334;p2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Decoders</a:t>
            </a:r>
            <a:endParaRPr sz="3600">
              <a:solidFill>
                <a:schemeClr val="dk1"/>
              </a:solidFill>
              <a:latin typeface="Lexend"/>
              <a:ea typeface="Lexend"/>
              <a:cs typeface="Lexend"/>
              <a:sym typeface="Lexend"/>
            </a:endParaRPr>
          </a:p>
        </p:txBody>
      </p:sp>
      <p:sp>
        <p:nvSpPr>
          <p:cNvPr id="335" name="Google Shape;335;p2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36" name="Google Shape;336;p2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37" name="Google Shape;337;p27"/>
          <p:cNvPicPr preferRelativeResize="0"/>
          <p:nvPr/>
        </p:nvPicPr>
        <p:blipFill rotWithShape="1">
          <a:blip r:embed="rId4">
            <a:alphaModFix/>
          </a:blip>
          <a:srcRect b="13487" l="0" r="0" t="0"/>
          <a:stretch/>
        </p:blipFill>
        <p:spPr>
          <a:xfrm>
            <a:off x="3930875" y="1619487"/>
            <a:ext cx="4625199" cy="3079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3" name="Google Shape;343;p2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44" name="Google Shape;344;p2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45" name="Google Shape;345;p28"/>
          <p:cNvSpPr txBox="1"/>
          <p:nvPr/>
        </p:nvSpPr>
        <p:spPr>
          <a:xfrm>
            <a:off x="256650" y="972838"/>
            <a:ext cx="8630700" cy="11697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Given an input line and a set of selection lines, the demultiplexer will direct data from input to a </a:t>
            </a:r>
            <a:r>
              <a:rPr lang="en" sz="2000">
                <a:solidFill>
                  <a:srgbClr val="FF0000"/>
                </a:solidFill>
                <a:latin typeface="Lexend"/>
                <a:ea typeface="Lexend"/>
                <a:cs typeface="Lexend"/>
                <a:sym typeface="Lexend"/>
              </a:rPr>
              <a:t>selected output line.</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An example of a 1-to-4 demultiplexer:</a:t>
            </a:r>
            <a:endParaRPr sz="2000">
              <a:solidFill>
                <a:schemeClr val="dk1"/>
              </a:solidFill>
              <a:latin typeface="Lexend"/>
              <a:ea typeface="Lexend"/>
              <a:cs typeface="Lexend"/>
              <a:sym typeface="Lexend"/>
            </a:endParaRPr>
          </a:p>
        </p:txBody>
      </p:sp>
      <p:grpSp>
        <p:nvGrpSpPr>
          <p:cNvPr id="346" name="Google Shape;346;p28"/>
          <p:cNvGrpSpPr/>
          <p:nvPr/>
        </p:nvGrpSpPr>
        <p:grpSpPr>
          <a:xfrm>
            <a:off x="50480" y="122879"/>
            <a:ext cx="277873" cy="68400"/>
            <a:chOff x="411700" y="2416840"/>
            <a:chExt cx="277873" cy="68400"/>
          </a:xfrm>
        </p:grpSpPr>
        <p:sp>
          <p:nvSpPr>
            <p:cNvPr id="347" name="Google Shape;347;p2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2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2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0" name="Google Shape;350;p2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51" name="Google Shape;351;p2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52" name="Google Shape;352;p2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353" name="Google Shape;353;p28"/>
          <p:cNvGraphicFramePr/>
          <p:nvPr/>
        </p:nvGraphicFramePr>
        <p:xfrm>
          <a:off x="6149900" y="2334563"/>
          <a:ext cx="3000000" cy="3000000"/>
        </p:xfrm>
        <a:graphic>
          <a:graphicData uri="http://schemas.openxmlformats.org/drawingml/2006/table">
            <a:tbl>
              <a:tblPr>
                <a:noFill/>
                <a:tableStyleId>{89043D2A-02A2-4C3A-B289-3E6D6C1B2619}</a:tableStyleId>
              </a:tblPr>
              <a:tblGrid>
                <a:gridCol w="382900"/>
                <a:gridCol w="382900"/>
                <a:gridCol w="382900"/>
                <a:gridCol w="382900"/>
                <a:gridCol w="382900"/>
                <a:gridCol w="408050"/>
              </a:tblGrid>
              <a:tr h="293950">
                <a:tc>
                  <a:txBody>
                    <a:bodyPr/>
                    <a:lstStyle/>
                    <a:p>
                      <a:pPr indent="0" lvl="0" marL="0" marR="0" rtl="0" algn="ctr">
                        <a:lnSpc>
                          <a:spcPct val="100000"/>
                        </a:lnSpc>
                        <a:spcBef>
                          <a:spcPts val="0"/>
                        </a:spcBef>
                        <a:spcAft>
                          <a:spcPts val="0"/>
                        </a:spcAft>
                        <a:buNone/>
                      </a:pPr>
                      <a:r>
                        <a:rPr b="1" lang="en" sz="1300">
                          <a:latin typeface="Lexend"/>
                          <a:ea typeface="Lexend"/>
                          <a:cs typeface="Lexend"/>
                          <a:sym typeface="Lexend"/>
                        </a:rPr>
                        <a:t>S</a:t>
                      </a:r>
                      <a:r>
                        <a:rPr b="1" baseline="-25000" lang="en" sz="1300">
                          <a:latin typeface="Lexend"/>
                          <a:ea typeface="Lexend"/>
                          <a:cs typeface="Lexend"/>
                          <a:sym typeface="Lexend"/>
                        </a:rPr>
                        <a:t>1</a:t>
                      </a:r>
                      <a:endParaRPr b="1" baseline="-25000"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300">
                          <a:solidFill>
                            <a:schemeClr val="dk1"/>
                          </a:solidFill>
                          <a:latin typeface="Lexend"/>
                          <a:ea typeface="Lexend"/>
                          <a:cs typeface="Lexend"/>
                          <a:sym typeface="Lexend"/>
                        </a:rPr>
                        <a:t>S</a:t>
                      </a:r>
                      <a:r>
                        <a:rPr b="1" baseline="-25000" lang="en" sz="1300">
                          <a:solidFill>
                            <a:schemeClr val="dk1"/>
                          </a:solidFill>
                          <a:latin typeface="Lexend"/>
                          <a:ea typeface="Lexend"/>
                          <a:cs typeface="Lexend"/>
                          <a:sym typeface="Lexend"/>
                        </a:rPr>
                        <a:t>2</a:t>
                      </a:r>
                      <a:endParaRPr b="1" sz="13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0</a:t>
                      </a:r>
                      <a:endParaRPr baseline="-25000"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1</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2</a:t>
                      </a:r>
                      <a:endParaRPr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a:ea typeface="Lexend"/>
                          <a:cs typeface="Lexend"/>
                          <a:sym typeface="Lexend"/>
                        </a:rPr>
                        <a:t>Y</a:t>
                      </a:r>
                      <a:r>
                        <a:rPr baseline="-25000" lang="en" sz="1300">
                          <a:solidFill>
                            <a:schemeClr val="dk1"/>
                          </a:solidFill>
                          <a:latin typeface="Lexend"/>
                          <a:ea typeface="Lexend"/>
                          <a:cs typeface="Lexend"/>
                          <a:sym typeface="Lexend"/>
                        </a:rPr>
                        <a:t>3</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027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300">
                          <a:solidFill>
                            <a:schemeClr val="dk1"/>
                          </a:solidFill>
                          <a:latin typeface="Lexend"/>
                          <a:ea typeface="Lexend"/>
                          <a:cs typeface="Lexend"/>
                          <a:sym typeface="Lexend"/>
                        </a:rPr>
                        <a:t>D</a:t>
                      </a:r>
                      <a:endParaRPr b="1" sz="13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grpSp>
        <p:nvGrpSpPr>
          <p:cNvPr id="354" name="Google Shape;354;p28"/>
          <p:cNvGrpSpPr/>
          <p:nvPr/>
        </p:nvGrpSpPr>
        <p:grpSpPr>
          <a:xfrm>
            <a:off x="230759" y="2142550"/>
            <a:ext cx="4613773" cy="2672483"/>
            <a:chOff x="230759" y="2142550"/>
            <a:chExt cx="4613773" cy="2672483"/>
          </a:xfrm>
        </p:grpSpPr>
        <p:sp>
          <p:nvSpPr>
            <p:cNvPr id="355" name="Google Shape;355;p28"/>
            <p:cNvSpPr txBox="1"/>
            <p:nvPr/>
          </p:nvSpPr>
          <p:spPr>
            <a:xfrm>
              <a:off x="1785205" y="3163580"/>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demux</a:t>
              </a:r>
              <a:endParaRPr b="0" i="0" sz="2000" u="none" cap="none" strike="noStrike">
                <a:solidFill>
                  <a:srgbClr val="000000"/>
                </a:solidFill>
                <a:latin typeface="Arial"/>
                <a:ea typeface="Arial"/>
                <a:cs typeface="Arial"/>
                <a:sym typeface="Arial"/>
              </a:endParaRPr>
            </a:p>
          </p:txBody>
        </p:sp>
        <p:cxnSp>
          <p:nvCxnSpPr>
            <p:cNvPr id="356" name="Google Shape;356;p28"/>
            <p:cNvCxnSpPr/>
            <p:nvPr/>
          </p:nvCxnSpPr>
          <p:spPr>
            <a:xfrm>
              <a:off x="995326" y="3266425"/>
              <a:ext cx="455400" cy="0"/>
            </a:xfrm>
            <a:prstGeom prst="straightConnector1">
              <a:avLst/>
            </a:prstGeom>
            <a:noFill/>
            <a:ln cap="flat" cmpd="sng" w="15875">
              <a:solidFill>
                <a:srgbClr val="000000"/>
              </a:solidFill>
              <a:prstDash val="solid"/>
              <a:round/>
              <a:headEnd len="sm" w="sm" type="none"/>
              <a:tailEnd len="med" w="med" type="triangle"/>
            </a:ln>
          </p:spPr>
        </p:cxnSp>
        <p:cxnSp>
          <p:nvCxnSpPr>
            <p:cNvPr id="357" name="Google Shape;357;p28"/>
            <p:cNvCxnSpPr/>
            <p:nvPr/>
          </p:nvCxnSpPr>
          <p:spPr>
            <a:xfrm>
              <a:off x="2796050" y="345530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358" name="Google Shape;358;p28"/>
            <p:cNvCxnSpPr/>
            <p:nvPr/>
          </p:nvCxnSpPr>
          <p:spPr>
            <a:xfrm>
              <a:off x="2789900" y="2726000"/>
              <a:ext cx="251700" cy="0"/>
            </a:xfrm>
            <a:prstGeom prst="straightConnector1">
              <a:avLst/>
            </a:prstGeom>
            <a:noFill/>
            <a:ln cap="flat" cmpd="sng" w="15875">
              <a:solidFill>
                <a:srgbClr val="000000"/>
              </a:solidFill>
              <a:prstDash val="solid"/>
              <a:round/>
              <a:headEnd len="sm" w="sm" type="none"/>
              <a:tailEnd len="med" w="med" type="triangle"/>
            </a:ln>
          </p:spPr>
        </p:cxnSp>
        <p:cxnSp>
          <p:nvCxnSpPr>
            <p:cNvPr id="359" name="Google Shape;359;p28"/>
            <p:cNvCxnSpPr/>
            <p:nvPr/>
          </p:nvCxnSpPr>
          <p:spPr>
            <a:xfrm rot="10800000">
              <a:off x="1986026" y="3553179"/>
              <a:ext cx="0" cy="516900"/>
            </a:xfrm>
            <a:prstGeom prst="straightConnector1">
              <a:avLst/>
            </a:prstGeom>
            <a:noFill/>
            <a:ln cap="flat" cmpd="sng" w="15875">
              <a:solidFill>
                <a:srgbClr val="000000"/>
              </a:solidFill>
              <a:prstDash val="solid"/>
              <a:round/>
              <a:headEnd len="sm" w="sm" type="none"/>
              <a:tailEnd len="med" w="med" type="triangle"/>
            </a:ln>
          </p:spPr>
        </p:cxnSp>
        <p:cxnSp>
          <p:nvCxnSpPr>
            <p:cNvPr id="360" name="Google Shape;360;p28"/>
            <p:cNvCxnSpPr/>
            <p:nvPr/>
          </p:nvCxnSpPr>
          <p:spPr>
            <a:xfrm>
              <a:off x="2796050" y="309065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361" name="Google Shape;361;p28"/>
            <p:cNvCxnSpPr/>
            <p:nvPr/>
          </p:nvCxnSpPr>
          <p:spPr>
            <a:xfrm>
              <a:off x="2796050" y="3819950"/>
              <a:ext cx="245700" cy="0"/>
            </a:xfrm>
            <a:prstGeom prst="straightConnector1">
              <a:avLst/>
            </a:prstGeom>
            <a:noFill/>
            <a:ln cap="flat" cmpd="sng" w="15875">
              <a:solidFill>
                <a:srgbClr val="000000"/>
              </a:solidFill>
              <a:prstDash val="solid"/>
              <a:round/>
              <a:headEnd len="sm" w="sm" type="none"/>
              <a:tailEnd len="med" w="med" type="triangle"/>
            </a:ln>
          </p:spPr>
        </p:cxnSp>
        <p:sp>
          <p:nvSpPr>
            <p:cNvPr id="362" name="Google Shape;362;p28"/>
            <p:cNvSpPr txBox="1"/>
            <p:nvPr/>
          </p:nvSpPr>
          <p:spPr>
            <a:xfrm>
              <a:off x="230759" y="3094505"/>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Data D</a:t>
              </a:r>
              <a:endParaRPr b="0" i="0" sz="2000" u="none" cap="none" strike="noStrike">
                <a:solidFill>
                  <a:srgbClr val="000000"/>
                </a:solidFill>
                <a:latin typeface="Arial"/>
                <a:ea typeface="Arial"/>
                <a:cs typeface="Arial"/>
                <a:sym typeface="Arial"/>
              </a:endParaRPr>
            </a:p>
          </p:txBody>
        </p:sp>
        <p:sp>
          <p:nvSpPr>
            <p:cNvPr id="363" name="Google Shape;363;p28"/>
            <p:cNvSpPr txBox="1"/>
            <p:nvPr/>
          </p:nvSpPr>
          <p:spPr>
            <a:xfrm>
              <a:off x="3242060" y="2142550"/>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Outputs</a:t>
              </a:r>
              <a:endParaRPr b="0" i="0" sz="2000" u="none" cap="none" strike="noStrike">
                <a:solidFill>
                  <a:srgbClr val="000000"/>
                </a:solidFill>
                <a:latin typeface="Arial"/>
                <a:ea typeface="Arial"/>
                <a:cs typeface="Arial"/>
                <a:sym typeface="Arial"/>
              </a:endParaRPr>
            </a:p>
          </p:txBody>
        </p:sp>
        <p:sp>
          <p:nvSpPr>
            <p:cNvPr id="364" name="Google Shape;364;p28"/>
            <p:cNvSpPr/>
            <p:nvPr/>
          </p:nvSpPr>
          <p:spPr>
            <a:xfrm flipH="1" rot="-5400000">
              <a:off x="1420166" y="2580959"/>
              <a:ext cx="1367451" cy="1365801"/>
            </a:xfrm>
            <a:prstGeom prst="triangle">
              <a:avLst>
                <a:gd fmla="val 50000" name="adj"/>
              </a:avLst>
            </a:prstGeom>
            <a:noFill/>
            <a:ln cap="flat" cmpd="sng" w="158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65" name="Google Shape;365;p28"/>
            <p:cNvCxnSpPr/>
            <p:nvPr/>
          </p:nvCxnSpPr>
          <p:spPr>
            <a:xfrm rot="10800000">
              <a:off x="1621812" y="3359979"/>
              <a:ext cx="0" cy="710100"/>
            </a:xfrm>
            <a:prstGeom prst="straightConnector1">
              <a:avLst/>
            </a:prstGeom>
            <a:noFill/>
            <a:ln cap="flat" cmpd="sng" w="15875">
              <a:solidFill>
                <a:srgbClr val="000000"/>
              </a:solidFill>
              <a:prstDash val="solid"/>
              <a:round/>
              <a:headEnd len="sm" w="sm" type="none"/>
              <a:tailEnd len="med" w="med" type="triangle"/>
            </a:ln>
          </p:spPr>
        </p:cxnSp>
        <p:sp>
          <p:nvSpPr>
            <p:cNvPr id="366" name="Google Shape;366;p28"/>
            <p:cNvSpPr txBox="1"/>
            <p:nvPr/>
          </p:nvSpPr>
          <p:spPr>
            <a:xfrm>
              <a:off x="1566677" y="4476333"/>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sp>
          <p:nvSpPr>
            <p:cNvPr id="367" name="Google Shape;367;p28"/>
            <p:cNvSpPr txBox="1"/>
            <p:nvPr/>
          </p:nvSpPr>
          <p:spPr>
            <a:xfrm>
              <a:off x="1476127" y="4070079"/>
              <a:ext cx="910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368" name="Google Shape;368;p28"/>
            <p:cNvSpPr txBox="1"/>
            <p:nvPr/>
          </p:nvSpPr>
          <p:spPr>
            <a:xfrm>
              <a:off x="3023531" y="2580134"/>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69" name="Google Shape;369;p28"/>
            <p:cNvSpPr txBox="1"/>
            <p:nvPr/>
          </p:nvSpPr>
          <p:spPr>
            <a:xfrm>
              <a:off x="3023531" y="2944788"/>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370" name="Google Shape;370;p28"/>
            <p:cNvSpPr txBox="1"/>
            <p:nvPr/>
          </p:nvSpPr>
          <p:spPr>
            <a:xfrm>
              <a:off x="3023531" y="3309442"/>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71" name="Google Shape;371;p28"/>
            <p:cNvSpPr txBox="1"/>
            <p:nvPr/>
          </p:nvSpPr>
          <p:spPr>
            <a:xfrm>
              <a:off x="3023531" y="3674095"/>
              <a:ext cx="182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7" name="Google Shape;377;p2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78" name="Google Shape;378;p2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379" name="Google Shape;379;p29"/>
          <p:cNvGrpSpPr/>
          <p:nvPr/>
        </p:nvGrpSpPr>
        <p:grpSpPr>
          <a:xfrm>
            <a:off x="50480" y="122879"/>
            <a:ext cx="277873" cy="68400"/>
            <a:chOff x="411700" y="2416840"/>
            <a:chExt cx="277873" cy="68400"/>
          </a:xfrm>
        </p:grpSpPr>
        <p:sp>
          <p:nvSpPr>
            <p:cNvPr id="380" name="Google Shape;380;p2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2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83" name="Google Shape;383;p2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384" name="Google Shape;384;p2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385" name="Google Shape;385;p29"/>
          <p:cNvPicPr preferRelativeResize="0"/>
          <p:nvPr>
            <p:ph idx="1" type="body"/>
          </p:nvPr>
        </p:nvPicPr>
        <p:blipFill rotWithShape="1">
          <a:blip r:embed="rId4">
            <a:alphaModFix/>
          </a:blip>
          <a:srcRect b="0" l="0" r="0" t="0"/>
          <a:stretch/>
        </p:blipFill>
        <p:spPr>
          <a:xfrm>
            <a:off x="1394400" y="206250"/>
            <a:ext cx="6355200" cy="4545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1" name="Google Shape;391;p3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392" name="Google Shape;392;p3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393" name="Google Shape;393;p30"/>
          <p:cNvSpPr txBox="1"/>
          <p:nvPr/>
        </p:nvSpPr>
        <p:spPr>
          <a:xfrm>
            <a:off x="256650" y="972838"/>
            <a:ext cx="8630700" cy="1490400"/>
          </a:xfrm>
          <a:prstGeom prst="rect">
            <a:avLst/>
          </a:prstGeom>
          <a:noFill/>
          <a:ln>
            <a:noFill/>
          </a:ln>
        </p:spPr>
        <p:txBody>
          <a:bodyPr anchorCtr="0" anchor="t" bIns="91425" lIns="91425" spcFirstLastPara="1" rIns="91425" wrap="square" tIns="91425">
            <a:spAutoFit/>
          </a:bodyPr>
          <a:lstStyle/>
          <a:p>
            <a:pPr indent="-336550" lvl="0" marL="457200" rtl="0" algn="l">
              <a:lnSpc>
                <a:spcPct val="90000"/>
              </a:lnSpc>
              <a:spcBef>
                <a:spcPts val="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demultiplexer is actually identical to a decoder with enable. A </a:t>
            </a:r>
            <a:r>
              <a:rPr lang="en" sz="1700">
                <a:solidFill>
                  <a:srgbClr val="FF0000"/>
                </a:solidFill>
                <a:latin typeface="Lexend"/>
                <a:ea typeface="Lexend"/>
                <a:cs typeface="Lexend"/>
                <a:sym typeface="Lexend"/>
              </a:rPr>
              <a:t>decoder with an enable</a:t>
            </a:r>
            <a:r>
              <a:rPr lang="en" sz="1700">
                <a:solidFill>
                  <a:schemeClr val="dk1"/>
                </a:solidFill>
                <a:latin typeface="Lexend"/>
                <a:ea typeface="Lexend"/>
                <a:cs typeface="Lexend"/>
                <a:sym typeface="Lexend"/>
              </a:rPr>
              <a:t> input can function as a demultiplexer (or demux)</a:t>
            </a:r>
            <a:br>
              <a:rPr lang="en" sz="1700">
                <a:solidFill>
                  <a:schemeClr val="dk1"/>
                </a:solidFill>
                <a:latin typeface="Lexend"/>
                <a:ea typeface="Lexend"/>
                <a:cs typeface="Lexend"/>
                <a:sym typeface="Lexend"/>
              </a:rPr>
            </a:br>
            <a:r>
              <a:rPr lang="en" sz="1700">
                <a:solidFill>
                  <a:schemeClr val="dk1"/>
                </a:solidFill>
                <a:latin typeface="Lexend"/>
                <a:ea typeface="Lexend"/>
                <a:cs typeface="Lexend"/>
                <a:sym typeface="Lexend"/>
              </a:rPr>
              <a:t>Decoder + enable= demultiplexer</a:t>
            </a:r>
            <a:endParaRPr sz="1700">
              <a:solidFill>
                <a:schemeClr val="dk1"/>
              </a:solidFill>
              <a:latin typeface="Lexend"/>
              <a:ea typeface="Lexend"/>
              <a:cs typeface="Lexend"/>
              <a:sym typeface="Lexend"/>
            </a:endParaRPr>
          </a:p>
          <a:p>
            <a:pPr indent="-336550" lvl="0" marL="457200" rtl="0" algn="l">
              <a:lnSpc>
                <a:spcPct val="90000"/>
              </a:lnSpc>
              <a:spcBef>
                <a:spcPts val="1000"/>
              </a:spcBef>
              <a:spcAft>
                <a:spcPts val="0"/>
              </a:spcAft>
              <a:buClr>
                <a:schemeClr val="dk1"/>
              </a:buClr>
              <a:buSzPts val="1700"/>
              <a:buFont typeface="Lexend"/>
              <a:buChar char="▪"/>
            </a:pPr>
            <a:r>
              <a:rPr lang="en" sz="1700">
                <a:solidFill>
                  <a:schemeClr val="dk1"/>
                </a:solidFill>
                <a:latin typeface="Lexend"/>
                <a:ea typeface="Lexend"/>
                <a:cs typeface="Lexend"/>
                <a:sym typeface="Lexend"/>
              </a:rPr>
              <a:t>The selection of a specific output line is controlled by the bit values of ‘n’-selection lines.</a:t>
            </a:r>
            <a:endParaRPr sz="1700">
              <a:solidFill>
                <a:schemeClr val="dk1"/>
              </a:solidFill>
              <a:latin typeface="Lexend"/>
              <a:ea typeface="Lexend"/>
              <a:cs typeface="Lexend"/>
              <a:sym typeface="Lexend"/>
            </a:endParaRPr>
          </a:p>
        </p:txBody>
      </p:sp>
      <p:grpSp>
        <p:nvGrpSpPr>
          <p:cNvPr id="394" name="Google Shape;394;p30"/>
          <p:cNvGrpSpPr/>
          <p:nvPr/>
        </p:nvGrpSpPr>
        <p:grpSpPr>
          <a:xfrm>
            <a:off x="50480" y="122879"/>
            <a:ext cx="277873" cy="68400"/>
            <a:chOff x="411700" y="2416840"/>
            <a:chExt cx="277873" cy="68400"/>
          </a:xfrm>
        </p:grpSpPr>
        <p:sp>
          <p:nvSpPr>
            <p:cNvPr id="395" name="Google Shape;395;p3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3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7" name="Google Shape;397;p3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98" name="Google Shape;398;p3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Demultiplexer</a:t>
            </a:r>
            <a:endParaRPr sz="3600">
              <a:solidFill>
                <a:schemeClr val="dk1"/>
              </a:solidFill>
              <a:latin typeface="Lexend"/>
              <a:ea typeface="Lexend"/>
              <a:cs typeface="Lexend"/>
              <a:sym typeface="Lexend"/>
            </a:endParaRPr>
          </a:p>
        </p:txBody>
      </p:sp>
      <p:sp>
        <p:nvSpPr>
          <p:cNvPr id="399" name="Google Shape;399;p3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00" name="Google Shape;400;p3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401" name="Google Shape;401;p30"/>
          <p:cNvSpPr txBox="1"/>
          <p:nvPr/>
        </p:nvSpPr>
        <p:spPr>
          <a:xfrm>
            <a:off x="5325600" y="2694338"/>
            <a:ext cx="952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2x4 Decoder</a:t>
            </a:r>
            <a:endParaRPr b="0" i="0" sz="2000" u="none" cap="none" strike="noStrike">
              <a:solidFill>
                <a:srgbClr val="000000"/>
              </a:solidFill>
              <a:latin typeface="Arial"/>
              <a:ea typeface="Arial"/>
              <a:cs typeface="Arial"/>
              <a:sym typeface="Arial"/>
            </a:endParaRPr>
          </a:p>
        </p:txBody>
      </p:sp>
      <p:cxnSp>
        <p:nvCxnSpPr>
          <p:cNvPr id="402" name="Google Shape;402;p30"/>
          <p:cNvCxnSpPr/>
          <p:nvPr/>
        </p:nvCxnSpPr>
        <p:spPr>
          <a:xfrm>
            <a:off x="4792200" y="3075338"/>
            <a:ext cx="377700" cy="0"/>
          </a:xfrm>
          <a:prstGeom prst="straightConnector1">
            <a:avLst/>
          </a:prstGeom>
          <a:noFill/>
          <a:ln cap="flat" cmpd="sng" w="15875">
            <a:solidFill>
              <a:srgbClr val="000000"/>
            </a:solidFill>
            <a:prstDash val="solid"/>
            <a:round/>
            <a:headEnd len="sm" w="sm" type="none"/>
            <a:tailEnd len="med" w="med" type="triangle"/>
          </a:ln>
        </p:spPr>
      </p:cxnSp>
      <p:cxnSp>
        <p:nvCxnSpPr>
          <p:cNvPr id="403" name="Google Shape;403;p30"/>
          <p:cNvCxnSpPr/>
          <p:nvPr/>
        </p:nvCxnSpPr>
        <p:spPr>
          <a:xfrm>
            <a:off x="6601104" y="3377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4" name="Google Shape;404;p30"/>
          <p:cNvCxnSpPr/>
          <p:nvPr/>
        </p:nvCxnSpPr>
        <p:spPr>
          <a:xfrm>
            <a:off x="6601104" y="2615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5" name="Google Shape;405;p30"/>
          <p:cNvCxnSpPr/>
          <p:nvPr/>
        </p:nvCxnSpPr>
        <p:spPr>
          <a:xfrm rot="10800000">
            <a:off x="5825575" y="3894638"/>
            <a:ext cx="0" cy="476100"/>
          </a:xfrm>
          <a:prstGeom prst="straightConnector1">
            <a:avLst/>
          </a:prstGeom>
          <a:noFill/>
          <a:ln cap="flat" cmpd="sng" w="15875">
            <a:solidFill>
              <a:srgbClr val="000000"/>
            </a:solidFill>
            <a:prstDash val="solid"/>
            <a:round/>
            <a:headEnd len="sm" w="sm" type="none"/>
            <a:tailEnd len="med" w="med" type="triangle"/>
          </a:ln>
        </p:spPr>
      </p:cxnSp>
      <p:cxnSp>
        <p:nvCxnSpPr>
          <p:cNvPr id="406" name="Google Shape;406;p30"/>
          <p:cNvCxnSpPr/>
          <p:nvPr/>
        </p:nvCxnSpPr>
        <p:spPr>
          <a:xfrm>
            <a:off x="6601104" y="2996651"/>
            <a:ext cx="476400" cy="0"/>
          </a:xfrm>
          <a:prstGeom prst="straightConnector1">
            <a:avLst/>
          </a:prstGeom>
          <a:noFill/>
          <a:ln cap="flat" cmpd="sng" w="15875">
            <a:solidFill>
              <a:srgbClr val="000000"/>
            </a:solidFill>
            <a:prstDash val="solid"/>
            <a:round/>
            <a:headEnd len="sm" w="sm" type="none"/>
            <a:tailEnd len="med" w="med" type="triangle"/>
          </a:ln>
        </p:spPr>
      </p:cxnSp>
      <p:cxnSp>
        <p:nvCxnSpPr>
          <p:cNvPr id="407" name="Google Shape;407;p30"/>
          <p:cNvCxnSpPr/>
          <p:nvPr/>
        </p:nvCxnSpPr>
        <p:spPr>
          <a:xfrm>
            <a:off x="6601104" y="3758651"/>
            <a:ext cx="476400" cy="0"/>
          </a:xfrm>
          <a:prstGeom prst="straightConnector1">
            <a:avLst/>
          </a:prstGeom>
          <a:noFill/>
          <a:ln cap="flat" cmpd="sng" w="15875">
            <a:solidFill>
              <a:srgbClr val="000000"/>
            </a:solidFill>
            <a:prstDash val="solid"/>
            <a:round/>
            <a:headEnd len="sm" w="sm" type="none"/>
            <a:tailEnd len="med" w="med" type="triangle"/>
          </a:ln>
        </p:spPr>
      </p:cxnSp>
      <p:sp>
        <p:nvSpPr>
          <p:cNvPr id="408" name="Google Shape;408;p30"/>
          <p:cNvSpPr txBox="1"/>
          <p:nvPr/>
        </p:nvSpPr>
        <p:spPr>
          <a:xfrm>
            <a:off x="5649363" y="4370738"/>
            <a:ext cx="476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
            </a:r>
            <a:endParaRPr b="0" i="0" sz="2000" u="none" cap="none" strike="noStrike">
              <a:solidFill>
                <a:srgbClr val="000000"/>
              </a:solidFill>
              <a:latin typeface="Arial"/>
              <a:ea typeface="Arial"/>
              <a:cs typeface="Arial"/>
              <a:sym typeface="Arial"/>
            </a:endParaRPr>
          </a:p>
        </p:txBody>
      </p:sp>
      <p:sp>
        <p:nvSpPr>
          <p:cNvPr id="409" name="Google Shape;409;p30"/>
          <p:cNvSpPr txBox="1"/>
          <p:nvPr/>
        </p:nvSpPr>
        <p:spPr>
          <a:xfrm>
            <a:off x="4411200" y="2846738"/>
            <a:ext cx="476400" cy="687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410" name="Google Shape;410;p30"/>
          <p:cNvSpPr txBox="1"/>
          <p:nvPr/>
        </p:nvSpPr>
        <p:spPr>
          <a:xfrm>
            <a:off x="7058304" y="2463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1" name="Google Shape;411;p30"/>
          <p:cNvSpPr txBox="1"/>
          <p:nvPr/>
        </p:nvSpPr>
        <p:spPr>
          <a:xfrm>
            <a:off x="7058304" y="2844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412" name="Google Shape;412;p30"/>
          <p:cNvSpPr txBox="1"/>
          <p:nvPr/>
        </p:nvSpPr>
        <p:spPr>
          <a:xfrm>
            <a:off x="7058304" y="3225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3" name="Google Shape;413;p30"/>
          <p:cNvSpPr txBox="1"/>
          <p:nvPr/>
        </p:nvSpPr>
        <p:spPr>
          <a:xfrm>
            <a:off x="7058304" y="3606251"/>
            <a:ext cx="1905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 D.S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0</a:t>
            </a:r>
            <a:endParaRPr b="0" i="0" sz="1600" u="none" cap="none" strike="noStrike">
              <a:solidFill>
                <a:srgbClr val="000000"/>
              </a:solidFill>
              <a:latin typeface="Arial"/>
              <a:ea typeface="Arial"/>
              <a:cs typeface="Arial"/>
              <a:sym typeface="Arial"/>
            </a:endParaRPr>
          </a:p>
        </p:txBody>
      </p:sp>
      <p:sp>
        <p:nvSpPr>
          <p:cNvPr id="414" name="Google Shape;414;p30"/>
          <p:cNvSpPr/>
          <p:nvPr/>
        </p:nvSpPr>
        <p:spPr>
          <a:xfrm>
            <a:off x="5173200" y="2465738"/>
            <a:ext cx="1428600" cy="14286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15" name="Google Shape;415;p30"/>
          <p:cNvCxnSpPr/>
          <p:nvPr/>
        </p:nvCxnSpPr>
        <p:spPr>
          <a:xfrm>
            <a:off x="4792200" y="3380138"/>
            <a:ext cx="374100" cy="0"/>
          </a:xfrm>
          <a:prstGeom prst="straightConnector1">
            <a:avLst/>
          </a:prstGeom>
          <a:noFill/>
          <a:ln cap="flat" cmpd="sng" w="15875">
            <a:solidFill>
              <a:srgbClr val="000000"/>
            </a:solidFill>
            <a:prstDash val="solid"/>
            <a:round/>
            <a:headEnd len="sm" w="sm" type="none"/>
            <a:tailEnd len="med" w="med" type="triangle"/>
          </a:ln>
        </p:spPr>
      </p:cxnSp>
      <p:sp>
        <p:nvSpPr>
          <p:cNvPr id="416" name="Google Shape;416;p30"/>
          <p:cNvSpPr txBox="1"/>
          <p:nvPr/>
        </p:nvSpPr>
        <p:spPr>
          <a:xfrm>
            <a:off x="5584363" y="3608738"/>
            <a:ext cx="476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E</a:t>
            </a:r>
            <a:endParaRPr b="0" i="0" sz="2000" u="none" cap="none" strike="noStrike">
              <a:solidFill>
                <a:srgbClr val="000000"/>
              </a:solidFill>
              <a:latin typeface="Arial"/>
              <a:ea typeface="Arial"/>
              <a:cs typeface="Arial"/>
              <a:sym typeface="Arial"/>
            </a:endParaRPr>
          </a:p>
        </p:txBody>
      </p:sp>
      <p:sp>
        <p:nvSpPr>
          <p:cNvPr id="417" name="Google Shape;417;p30"/>
          <p:cNvSpPr/>
          <p:nvPr/>
        </p:nvSpPr>
        <p:spPr>
          <a:xfrm>
            <a:off x="3739688" y="3227738"/>
            <a:ext cx="549300" cy="381000"/>
          </a:xfrm>
          <a:prstGeom prst="rightArrow">
            <a:avLst>
              <a:gd fmla="val 50000" name="adj1"/>
              <a:gd fmla="val 50000" name="adj2"/>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418" name="Google Shape;418;p30"/>
          <p:cNvGrpSpPr/>
          <p:nvPr/>
        </p:nvGrpSpPr>
        <p:grpSpPr>
          <a:xfrm>
            <a:off x="328349" y="2588937"/>
            <a:ext cx="4100560" cy="2256890"/>
            <a:chOff x="131244" y="2164205"/>
            <a:chExt cx="4713287" cy="2720128"/>
          </a:xfrm>
        </p:grpSpPr>
        <p:sp>
          <p:nvSpPr>
            <p:cNvPr id="419" name="Google Shape;419;p30"/>
            <p:cNvSpPr txBox="1"/>
            <p:nvPr/>
          </p:nvSpPr>
          <p:spPr>
            <a:xfrm>
              <a:off x="1785211" y="3163589"/>
              <a:ext cx="9822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demux</a:t>
              </a:r>
              <a:endParaRPr b="0" i="0" sz="2000" u="none" cap="none" strike="noStrike">
                <a:solidFill>
                  <a:srgbClr val="000000"/>
                </a:solidFill>
                <a:latin typeface="Arial"/>
                <a:ea typeface="Arial"/>
                <a:cs typeface="Arial"/>
                <a:sym typeface="Arial"/>
              </a:endParaRPr>
            </a:p>
          </p:txBody>
        </p:sp>
        <p:cxnSp>
          <p:nvCxnSpPr>
            <p:cNvPr id="420" name="Google Shape;420;p30"/>
            <p:cNvCxnSpPr/>
            <p:nvPr/>
          </p:nvCxnSpPr>
          <p:spPr>
            <a:xfrm>
              <a:off x="995326" y="3266425"/>
              <a:ext cx="455400" cy="0"/>
            </a:xfrm>
            <a:prstGeom prst="straightConnector1">
              <a:avLst/>
            </a:prstGeom>
            <a:noFill/>
            <a:ln cap="flat" cmpd="sng" w="15875">
              <a:solidFill>
                <a:srgbClr val="000000"/>
              </a:solidFill>
              <a:prstDash val="solid"/>
              <a:round/>
              <a:headEnd len="sm" w="sm" type="none"/>
              <a:tailEnd len="med" w="med" type="triangle"/>
            </a:ln>
          </p:spPr>
        </p:cxnSp>
        <p:cxnSp>
          <p:nvCxnSpPr>
            <p:cNvPr id="421" name="Google Shape;421;p30"/>
            <p:cNvCxnSpPr/>
            <p:nvPr/>
          </p:nvCxnSpPr>
          <p:spPr>
            <a:xfrm>
              <a:off x="2796050" y="345530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422" name="Google Shape;422;p30"/>
            <p:cNvCxnSpPr/>
            <p:nvPr/>
          </p:nvCxnSpPr>
          <p:spPr>
            <a:xfrm>
              <a:off x="2789900" y="2726000"/>
              <a:ext cx="251700" cy="0"/>
            </a:xfrm>
            <a:prstGeom prst="straightConnector1">
              <a:avLst/>
            </a:prstGeom>
            <a:noFill/>
            <a:ln cap="flat" cmpd="sng" w="15875">
              <a:solidFill>
                <a:srgbClr val="000000"/>
              </a:solidFill>
              <a:prstDash val="solid"/>
              <a:round/>
              <a:headEnd len="sm" w="sm" type="none"/>
              <a:tailEnd len="med" w="med" type="triangle"/>
            </a:ln>
          </p:spPr>
        </p:cxnSp>
        <p:cxnSp>
          <p:nvCxnSpPr>
            <p:cNvPr id="423" name="Google Shape;423;p30"/>
            <p:cNvCxnSpPr/>
            <p:nvPr/>
          </p:nvCxnSpPr>
          <p:spPr>
            <a:xfrm rot="10800000">
              <a:off x="1986026" y="3553179"/>
              <a:ext cx="0" cy="516900"/>
            </a:xfrm>
            <a:prstGeom prst="straightConnector1">
              <a:avLst/>
            </a:prstGeom>
            <a:noFill/>
            <a:ln cap="flat" cmpd="sng" w="15875">
              <a:solidFill>
                <a:srgbClr val="000000"/>
              </a:solidFill>
              <a:prstDash val="solid"/>
              <a:round/>
              <a:headEnd len="sm" w="sm" type="none"/>
              <a:tailEnd len="med" w="med" type="triangle"/>
            </a:ln>
          </p:spPr>
        </p:cxnSp>
        <p:cxnSp>
          <p:nvCxnSpPr>
            <p:cNvPr id="424" name="Google Shape;424;p30"/>
            <p:cNvCxnSpPr/>
            <p:nvPr/>
          </p:nvCxnSpPr>
          <p:spPr>
            <a:xfrm>
              <a:off x="2796050" y="3090650"/>
              <a:ext cx="245700" cy="0"/>
            </a:xfrm>
            <a:prstGeom prst="straightConnector1">
              <a:avLst/>
            </a:prstGeom>
            <a:noFill/>
            <a:ln cap="flat" cmpd="sng" w="15875">
              <a:solidFill>
                <a:srgbClr val="000000"/>
              </a:solidFill>
              <a:prstDash val="solid"/>
              <a:round/>
              <a:headEnd len="sm" w="sm" type="none"/>
              <a:tailEnd len="med" w="med" type="triangle"/>
            </a:ln>
          </p:spPr>
        </p:cxnSp>
        <p:cxnSp>
          <p:nvCxnSpPr>
            <p:cNvPr id="425" name="Google Shape;425;p30"/>
            <p:cNvCxnSpPr/>
            <p:nvPr/>
          </p:nvCxnSpPr>
          <p:spPr>
            <a:xfrm>
              <a:off x="2796050" y="3819950"/>
              <a:ext cx="245700" cy="0"/>
            </a:xfrm>
            <a:prstGeom prst="straightConnector1">
              <a:avLst/>
            </a:prstGeom>
            <a:noFill/>
            <a:ln cap="flat" cmpd="sng" w="15875">
              <a:solidFill>
                <a:srgbClr val="000000"/>
              </a:solidFill>
              <a:prstDash val="solid"/>
              <a:round/>
              <a:headEnd len="sm" w="sm" type="none"/>
              <a:tailEnd len="med" w="med" type="triangle"/>
            </a:ln>
          </p:spPr>
        </p:cxnSp>
        <p:sp>
          <p:nvSpPr>
            <p:cNvPr id="426" name="Google Shape;426;p30"/>
            <p:cNvSpPr txBox="1"/>
            <p:nvPr/>
          </p:nvSpPr>
          <p:spPr>
            <a:xfrm>
              <a:off x="131244" y="3094497"/>
              <a:ext cx="10101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Data D</a:t>
              </a:r>
              <a:endParaRPr b="0" i="0" sz="2000" u="none" cap="none" strike="noStrike">
                <a:solidFill>
                  <a:srgbClr val="000000"/>
                </a:solidFill>
                <a:latin typeface="Arial"/>
                <a:ea typeface="Arial"/>
                <a:cs typeface="Arial"/>
                <a:sym typeface="Arial"/>
              </a:endParaRPr>
            </a:p>
          </p:txBody>
        </p:sp>
        <p:sp>
          <p:nvSpPr>
            <p:cNvPr id="427" name="Google Shape;427;p30"/>
            <p:cNvSpPr txBox="1"/>
            <p:nvPr/>
          </p:nvSpPr>
          <p:spPr>
            <a:xfrm>
              <a:off x="2786921" y="2164205"/>
              <a:ext cx="10851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Outputs</a:t>
              </a:r>
              <a:endParaRPr b="0" i="0" sz="2000" u="none" cap="none" strike="noStrike">
                <a:solidFill>
                  <a:srgbClr val="000000"/>
                </a:solidFill>
                <a:latin typeface="Arial"/>
                <a:ea typeface="Arial"/>
                <a:cs typeface="Arial"/>
                <a:sym typeface="Arial"/>
              </a:endParaRPr>
            </a:p>
          </p:txBody>
        </p:sp>
        <p:sp>
          <p:nvSpPr>
            <p:cNvPr id="428" name="Google Shape;428;p30"/>
            <p:cNvSpPr/>
            <p:nvPr/>
          </p:nvSpPr>
          <p:spPr>
            <a:xfrm flipH="1" rot="-5400000">
              <a:off x="1420241" y="2580884"/>
              <a:ext cx="1367400" cy="1365900"/>
            </a:xfrm>
            <a:prstGeom prst="triangle">
              <a:avLst>
                <a:gd fmla="val 50000" name="adj"/>
              </a:avLst>
            </a:prstGeom>
            <a:noFill/>
            <a:ln cap="flat" cmpd="sng" w="158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29" name="Google Shape;429;p30"/>
            <p:cNvCxnSpPr/>
            <p:nvPr/>
          </p:nvCxnSpPr>
          <p:spPr>
            <a:xfrm rot="10800000">
              <a:off x="1621812" y="3359979"/>
              <a:ext cx="0" cy="710100"/>
            </a:xfrm>
            <a:prstGeom prst="straightConnector1">
              <a:avLst/>
            </a:prstGeom>
            <a:noFill/>
            <a:ln cap="flat" cmpd="sng" w="15875">
              <a:solidFill>
                <a:srgbClr val="000000"/>
              </a:solidFill>
              <a:prstDash val="solid"/>
              <a:round/>
              <a:headEnd len="sm" w="sm" type="none"/>
              <a:tailEnd len="med" w="med" type="triangle"/>
            </a:ln>
          </p:spPr>
        </p:cxnSp>
        <p:sp>
          <p:nvSpPr>
            <p:cNvPr id="430" name="Google Shape;430;p30"/>
            <p:cNvSpPr txBox="1"/>
            <p:nvPr/>
          </p:nvSpPr>
          <p:spPr>
            <a:xfrm>
              <a:off x="1566677" y="4476333"/>
              <a:ext cx="9105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sp>
          <p:nvSpPr>
            <p:cNvPr id="431" name="Google Shape;431;p30"/>
            <p:cNvSpPr txBox="1"/>
            <p:nvPr/>
          </p:nvSpPr>
          <p:spPr>
            <a:xfrm>
              <a:off x="1476127" y="4070079"/>
              <a:ext cx="9105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S</a:t>
              </a:r>
              <a:r>
                <a:rPr b="0" baseline="-25000" i="0" lang="en" sz="1600" u="none" cap="none" strike="noStrike">
                  <a:solidFill>
                    <a:srgbClr val="000000"/>
                  </a:solidFill>
                  <a:latin typeface="Arial"/>
                  <a:ea typeface="Arial"/>
                  <a:cs typeface="Arial"/>
                  <a:sym typeface="Arial"/>
                </a:rPr>
                <a:t>0</a:t>
              </a:r>
              <a:endParaRPr b="0" i="0" sz="2000" u="none" cap="none" strike="noStrike">
                <a:solidFill>
                  <a:srgbClr val="000000"/>
                </a:solidFill>
                <a:latin typeface="Arial"/>
                <a:ea typeface="Arial"/>
                <a:cs typeface="Arial"/>
                <a:sym typeface="Arial"/>
              </a:endParaRPr>
            </a:p>
          </p:txBody>
        </p:sp>
        <p:sp>
          <p:nvSpPr>
            <p:cNvPr id="432" name="Google Shape;432;p30"/>
            <p:cNvSpPr txBox="1"/>
            <p:nvPr/>
          </p:nvSpPr>
          <p:spPr>
            <a:xfrm>
              <a:off x="3023531" y="2580134"/>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0</a:t>
              </a:r>
              <a:r>
                <a:rPr b="0" i="0" lang="en"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3" name="Google Shape;433;p30"/>
            <p:cNvSpPr txBox="1"/>
            <p:nvPr/>
          </p:nvSpPr>
          <p:spPr>
            <a:xfrm>
              <a:off x="3023531" y="2944788"/>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1</a:t>
              </a:r>
              <a:r>
                <a:rPr b="0" i="0" lang="en"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sp>
          <p:nvSpPr>
            <p:cNvPr id="434" name="Google Shape;434;p30"/>
            <p:cNvSpPr txBox="1"/>
            <p:nvPr/>
          </p:nvSpPr>
          <p:spPr>
            <a:xfrm>
              <a:off x="3023531" y="3309442"/>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2</a:t>
              </a:r>
              <a:r>
                <a:rPr b="0" i="0" lang="en"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35" name="Google Shape;435;p30"/>
            <p:cNvSpPr txBox="1"/>
            <p:nvPr/>
          </p:nvSpPr>
          <p:spPr>
            <a:xfrm>
              <a:off x="3023531" y="3674095"/>
              <a:ext cx="1821000" cy="4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Y</a:t>
              </a:r>
              <a:r>
                <a:rPr b="0" baseline="-25000" i="0" lang="en" sz="1600" u="none" cap="none" strike="noStrike">
                  <a:solidFill>
                    <a:srgbClr val="000000"/>
                  </a:solidFill>
                  <a:latin typeface="Arial"/>
                  <a:ea typeface="Arial"/>
                  <a:cs typeface="Arial"/>
                  <a:sym typeface="Arial"/>
                </a:rPr>
                <a:t>3</a:t>
              </a:r>
              <a:r>
                <a:rPr b="0" i="0" lang="en" sz="1600" u="none" cap="none" strike="noStrike">
                  <a:solidFill>
                    <a:srgbClr val="000000"/>
                  </a:solidFill>
                  <a:latin typeface="Arial"/>
                  <a:ea typeface="Arial"/>
                  <a:cs typeface="Arial"/>
                  <a:sym typeface="Arial"/>
                </a:rPr>
                <a:t> </a:t>
              </a:r>
              <a:endParaRPr b="0" i="0" sz="1600" u="none" cap="none" strike="noStrik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41" name="Google Shape;441;p3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42" name="Google Shape;442;p3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43" name="Google Shape;443;p31"/>
          <p:cNvSpPr txBox="1"/>
          <p:nvPr/>
        </p:nvSpPr>
        <p:spPr>
          <a:xfrm>
            <a:off x="256650" y="972838"/>
            <a:ext cx="86307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p:txBody>
      </p:sp>
      <p:grpSp>
        <p:nvGrpSpPr>
          <p:cNvPr id="444" name="Google Shape;444;p31"/>
          <p:cNvGrpSpPr/>
          <p:nvPr/>
        </p:nvGrpSpPr>
        <p:grpSpPr>
          <a:xfrm>
            <a:off x="50480" y="122879"/>
            <a:ext cx="277873" cy="68400"/>
            <a:chOff x="411700" y="2416840"/>
            <a:chExt cx="277873" cy="68400"/>
          </a:xfrm>
        </p:grpSpPr>
        <p:sp>
          <p:nvSpPr>
            <p:cNvPr id="445" name="Google Shape;445;p3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6" name="Google Shape;446;p3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7" name="Google Shape;447;p3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48" name="Google Shape;448;p3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 (More Applications)</a:t>
            </a:r>
            <a:endParaRPr sz="3600">
              <a:solidFill>
                <a:schemeClr val="dk1"/>
              </a:solidFill>
              <a:latin typeface="Lexend"/>
              <a:ea typeface="Lexend"/>
              <a:cs typeface="Lexend"/>
              <a:sym typeface="Lexend"/>
            </a:endParaRPr>
          </a:p>
        </p:txBody>
      </p:sp>
      <p:sp>
        <p:nvSpPr>
          <p:cNvPr id="449" name="Google Shape;449;p3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50" name="Google Shape;450;p3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descr="AACFLPD0" id="451" name="Google Shape;451;p31"/>
          <p:cNvPicPr preferRelativeResize="0"/>
          <p:nvPr>
            <p:ph idx="1" type="body"/>
          </p:nvPr>
        </p:nvPicPr>
        <p:blipFill rotWithShape="1">
          <a:blip r:embed="rId4">
            <a:alphaModFix/>
          </a:blip>
          <a:srcRect b="0" l="0" r="0" t="0"/>
          <a:stretch/>
        </p:blipFill>
        <p:spPr>
          <a:xfrm>
            <a:off x="3500700" y="1532675"/>
            <a:ext cx="5130300" cy="328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57" name="Google Shape;457;p3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58" name="Google Shape;458;p3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59" name="Google Shape;459;p32"/>
          <p:cNvSpPr txBox="1"/>
          <p:nvPr/>
        </p:nvSpPr>
        <p:spPr>
          <a:xfrm>
            <a:off x="256650" y="972850"/>
            <a:ext cx="6379200" cy="3783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n" sz="2000">
                <a:solidFill>
                  <a:schemeClr val="dk1"/>
                </a:solidFill>
                <a:latin typeface="Lexend"/>
                <a:ea typeface="Lexend"/>
                <a:cs typeface="Lexend"/>
                <a:sym typeface="Lexend"/>
              </a:rPr>
              <a:t>4-line-to-16 line Decoder constructed with two 3-line-to-8 line decoders with enables</a:t>
            </a:r>
            <a:endParaRPr sz="2000">
              <a:solidFill>
                <a:schemeClr val="dk1"/>
              </a:solidFill>
              <a:latin typeface="Lexend"/>
              <a:ea typeface="Lexend"/>
              <a:cs typeface="Lexend"/>
              <a:sym typeface="Lexend"/>
            </a:endParaRPr>
          </a:p>
          <a:p>
            <a:pPr indent="0" lvl="0" marL="0" rtl="0" algn="l">
              <a:lnSpc>
                <a:spcPct val="90000"/>
              </a:lnSpc>
              <a:spcBef>
                <a:spcPts val="1000"/>
              </a:spcBef>
              <a:spcAft>
                <a:spcPts val="0"/>
              </a:spcAft>
              <a:buNone/>
            </a:pPr>
            <a:r>
              <a:t/>
            </a:r>
            <a:endParaRPr sz="1600">
              <a:solidFill>
                <a:schemeClr val="dk1"/>
              </a:solidFill>
              <a:latin typeface="Lexend"/>
              <a:ea typeface="Lexend"/>
              <a:cs typeface="Lexend"/>
              <a:sym typeface="Lexend"/>
            </a:endParaRPr>
          </a:p>
          <a:p>
            <a:pPr indent="-17780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w=0, the top decoder is enabled and the other is disabled. The bottom decoder outputs are all 0’s , and the top eight outputs generate min-terms 0000 to 0111.</a:t>
            </a:r>
            <a:endParaRPr sz="2000">
              <a:solidFill>
                <a:schemeClr val="dk1"/>
              </a:solidFill>
              <a:latin typeface="Lexend"/>
              <a:ea typeface="Lexend"/>
              <a:cs typeface="Lexend"/>
              <a:sym typeface="Lexend"/>
            </a:endParaRPr>
          </a:p>
          <a:p>
            <a:pPr indent="-177800" lvl="0" marL="228600" rtl="0" algn="l">
              <a:lnSpc>
                <a:spcPct val="90000"/>
              </a:lnSpc>
              <a:spcBef>
                <a:spcPts val="1000"/>
              </a:spcBef>
              <a:spcAft>
                <a:spcPts val="0"/>
              </a:spcAft>
              <a:buClr>
                <a:schemeClr val="dk1"/>
              </a:buClr>
              <a:buSzPts val="2000"/>
              <a:buFont typeface="Lexend"/>
              <a:buChar char="•"/>
            </a:pPr>
            <a:r>
              <a:rPr lang="en" sz="2000">
                <a:solidFill>
                  <a:schemeClr val="dk1"/>
                </a:solidFill>
                <a:latin typeface="Lexend"/>
                <a:ea typeface="Lexend"/>
                <a:cs typeface="Lexend"/>
                <a:sym typeface="Lexend"/>
              </a:rPr>
              <a:t>When w=1, the enable conditions are reversed. The bottom decoder outputs generate min-terms 1000 to 1111, while the outputs of the top decoder are all 0’s.</a:t>
            </a:r>
            <a:endParaRPr sz="2000">
              <a:solidFill>
                <a:schemeClr val="dk1"/>
              </a:solidFill>
              <a:latin typeface="Lexend"/>
              <a:ea typeface="Lexend"/>
              <a:cs typeface="Lexend"/>
              <a:sym typeface="Lexend"/>
            </a:endParaRPr>
          </a:p>
          <a:p>
            <a:pPr indent="0" lvl="0" marL="0" rtl="0" algn="l">
              <a:lnSpc>
                <a:spcPct val="90000"/>
              </a:lnSpc>
              <a:spcBef>
                <a:spcPts val="1000"/>
              </a:spcBef>
              <a:spcAft>
                <a:spcPts val="0"/>
              </a:spcAft>
              <a:buNone/>
            </a:pPr>
            <a:r>
              <a:t/>
            </a:r>
            <a:endParaRPr sz="1600">
              <a:solidFill>
                <a:schemeClr val="dk1"/>
              </a:solidFill>
              <a:latin typeface="Lexend"/>
              <a:ea typeface="Lexend"/>
              <a:cs typeface="Lexend"/>
              <a:sym typeface="Lexend"/>
            </a:endParaRPr>
          </a:p>
        </p:txBody>
      </p:sp>
      <p:grpSp>
        <p:nvGrpSpPr>
          <p:cNvPr id="460" name="Google Shape;460;p32"/>
          <p:cNvGrpSpPr/>
          <p:nvPr/>
        </p:nvGrpSpPr>
        <p:grpSpPr>
          <a:xfrm>
            <a:off x="50480" y="122879"/>
            <a:ext cx="277873" cy="68400"/>
            <a:chOff x="411700" y="2416840"/>
            <a:chExt cx="277873" cy="68400"/>
          </a:xfrm>
        </p:grpSpPr>
        <p:sp>
          <p:nvSpPr>
            <p:cNvPr id="461" name="Google Shape;461;p3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3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3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64" name="Google Shape;464;p3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65" name="Google Shape;465;p3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66" name="Google Shape;466;p3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467" name="Google Shape;467;p32"/>
          <p:cNvGraphicFramePr/>
          <p:nvPr/>
        </p:nvGraphicFramePr>
        <p:xfrm>
          <a:off x="6786950" y="351688"/>
          <a:ext cx="3000000" cy="3000000"/>
        </p:xfrm>
        <a:graphic>
          <a:graphicData uri="http://schemas.openxmlformats.org/drawingml/2006/table">
            <a:tbl>
              <a:tblPr>
                <a:noFill/>
                <a:tableStyleId>{89043D2A-02A2-4C3A-B289-3E6D6C1B2619}</a:tableStyleId>
              </a:tblPr>
              <a:tblGrid>
                <a:gridCol w="410250"/>
                <a:gridCol w="410250"/>
                <a:gridCol w="410250"/>
                <a:gridCol w="410250"/>
              </a:tblGrid>
              <a:tr h="271250">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W</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X</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Y</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 sz="1100">
                          <a:latin typeface="Lexend"/>
                          <a:ea typeface="Lexend"/>
                          <a:cs typeface="Lexend"/>
                          <a:sym typeface="Lexend"/>
                        </a:rPr>
                        <a:t>Z</a:t>
                      </a:r>
                      <a:endParaRPr b="1"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r>
              <a:tr h="271250">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085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71250">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56175">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45700" marB="45700" marR="91450" marL="91450" anchor="ctr">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73" name="Google Shape;473;p3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474" name="Google Shape;474;p3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75" name="Google Shape;475;p33"/>
          <p:cNvSpPr txBox="1"/>
          <p:nvPr/>
        </p:nvSpPr>
        <p:spPr>
          <a:xfrm>
            <a:off x="256650" y="972850"/>
            <a:ext cx="38433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indent="0" lvl="0" marL="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indent="0" lvl="0" marL="457200" rtl="0" algn="l">
              <a:spcBef>
                <a:spcPts val="0"/>
              </a:spcBef>
              <a:spcAft>
                <a:spcPts val="0"/>
              </a:spcAft>
              <a:buClr>
                <a:schemeClr val="dk1"/>
              </a:buClr>
              <a:buSzPts val="2000"/>
              <a:buFont typeface="Arial"/>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b. 2:4 Decoder(s) only.</a:t>
            </a:r>
            <a:endParaRPr sz="1900">
              <a:solidFill>
                <a:schemeClr val="dk1"/>
              </a:solidFill>
              <a:latin typeface="Lexend"/>
              <a:ea typeface="Lexend"/>
              <a:cs typeface="Lexend"/>
              <a:sym typeface="Lexend"/>
            </a:endParaRPr>
          </a:p>
        </p:txBody>
      </p:sp>
      <p:grpSp>
        <p:nvGrpSpPr>
          <p:cNvPr id="476" name="Google Shape;476;p33"/>
          <p:cNvGrpSpPr/>
          <p:nvPr/>
        </p:nvGrpSpPr>
        <p:grpSpPr>
          <a:xfrm>
            <a:off x="50480" y="122879"/>
            <a:ext cx="277873" cy="68400"/>
            <a:chOff x="411700" y="2416840"/>
            <a:chExt cx="277873" cy="68400"/>
          </a:xfrm>
        </p:grpSpPr>
        <p:sp>
          <p:nvSpPr>
            <p:cNvPr id="477" name="Google Shape;477;p3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3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80" name="Google Shape;480;p3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81" name="Google Shape;481;p3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82" name="Google Shape;482;p3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483" name="Google Shape;483;p33"/>
          <p:cNvPicPr preferRelativeResize="0"/>
          <p:nvPr/>
        </p:nvPicPr>
        <p:blipFill rotWithShape="1">
          <a:blip r:embed="rId4">
            <a:alphaModFix/>
          </a:blip>
          <a:srcRect b="13325" l="8983" r="0" t="5572"/>
          <a:stretch/>
        </p:blipFill>
        <p:spPr>
          <a:xfrm>
            <a:off x="4040725" y="553050"/>
            <a:ext cx="4634525" cy="41766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9" name="Google Shape;489;p34"/>
          <p:cNvPicPr preferRelativeResize="0"/>
          <p:nvPr/>
        </p:nvPicPr>
        <p:blipFill rotWithShape="1">
          <a:blip r:embed="rId3">
            <a:alphaModFix/>
          </a:blip>
          <a:srcRect b="0" l="0" r="0" t="0"/>
          <a:stretch/>
        </p:blipFill>
        <p:spPr>
          <a:xfrm>
            <a:off x="3763552" y="644775"/>
            <a:ext cx="5304248" cy="4153537"/>
          </a:xfrm>
          <a:prstGeom prst="rect">
            <a:avLst/>
          </a:prstGeom>
          <a:noFill/>
          <a:ln>
            <a:noFill/>
          </a:ln>
        </p:spPr>
      </p:pic>
      <p:pic>
        <p:nvPicPr>
          <p:cNvPr id="490" name="Google Shape;490;p34"/>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491" name="Google Shape;491;p3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492" name="Google Shape;492;p34"/>
          <p:cNvSpPr txBox="1"/>
          <p:nvPr/>
        </p:nvSpPr>
        <p:spPr>
          <a:xfrm>
            <a:off x="256650" y="972850"/>
            <a:ext cx="3843300" cy="164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dk1"/>
                </a:solidFill>
                <a:latin typeface="Lexend"/>
                <a:ea typeface="Lexend"/>
                <a:cs typeface="Lexend"/>
                <a:sym typeface="Lexend"/>
              </a:rPr>
              <a:t>F(a,b,c,d)=∑(0,1,3,5,12,13)</a:t>
            </a:r>
            <a:r>
              <a:rPr lang="en" sz="1700">
                <a:solidFill>
                  <a:schemeClr val="dk1"/>
                </a:solidFill>
                <a:latin typeface="Lexend"/>
                <a:ea typeface="Lexend"/>
                <a:cs typeface="Lexend"/>
                <a:sym typeface="Lexend"/>
              </a:rPr>
              <a:t>  </a:t>
            </a:r>
            <a:endParaRPr sz="4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Implement the above boolean </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 sz="1900">
                <a:solidFill>
                  <a:schemeClr val="dk1"/>
                </a:solidFill>
                <a:latin typeface="Lexend"/>
                <a:ea typeface="Lexend"/>
                <a:cs typeface="Lexend"/>
                <a:sym typeface="Lexend"/>
              </a:rPr>
              <a:t>function using  </a:t>
            </a:r>
            <a:endParaRPr sz="17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a. 3:8 Decoder(s).      </a:t>
            </a:r>
            <a:endParaRPr sz="1300">
              <a:solidFill>
                <a:schemeClr val="dk1"/>
              </a:solidFill>
              <a:latin typeface="Lexend"/>
              <a:ea typeface="Lexend"/>
              <a:cs typeface="Lexend"/>
              <a:sym typeface="Lexend"/>
            </a:endParaRPr>
          </a:p>
          <a:p>
            <a:pPr indent="0" lvl="0" marL="457200" rtl="0" algn="l">
              <a:spcBef>
                <a:spcPts val="0"/>
              </a:spcBef>
              <a:spcAft>
                <a:spcPts val="0"/>
              </a:spcAft>
              <a:buNone/>
            </a:pPr>
            <a:r>
              <a:rPr lang="en" sz="1900">
                <a:solidFill>
                  <a:schemeClr val="dk1"/>
                </a:solidFill>
                <a:latin typeface="Lexend"/>
                <a:ea typeface="Lexend"/>
                <a:cs typeface="Lexend"/>
                <a:sym typeface="Lexend"/>
              </a:rPr>
              <a:t>b. 2:4 Decoder(s) only.</a:t>
            </a:r>
            <a:endParaRPr sz="1900">
              <a:solidFill>
                <a:schemeClr val="dk1"/>
              </a:solidFill>
              <a:latin typeface="Lexend"/>
              <a:ea typeface="Lexend"/>
              <a:cs typeface="Lexend"/>
              <a:sym typeface="Lexend"/>
            </a:endParaRPr>
          </a:p>
        </p:txBody>
      </p:sp>
      <p:grpSp>
        <p:nvGrpSpPr>
          <p:cNvPr id="493" name="Google Shape;493;p34"/>
          <p:cNvGrpSpPr/>
          <p:nvPr/>
        </p:nvGrpSpPr>
        <p:grpSpPr>
          <a:xfrm>
            <a:off x="50480" y="122879"/>
            <a:ext cx="277873" cy="68400"/>
            <a:chOff x="411700" y="2416840"/>
            <a:chExt cx="277873" cy="68400"/>
          </a:xfrm>
        </p:grpSpPr>
        <p:sp>
          <p:nvSpPr>
            <p:cNvPr id="494" name="Google Shape;494;p3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3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3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97" name="Google Shape;497;p3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Decoder</a:t>
            </a:r>
            <a:endParaRPr sz="3600">
              <a:solidFill>
                <a:schemeClr val="dk1"/>
              </a:solidFill>
              <a:latin typeface="Lexend"/>
              <a:ea typeface="Lexend"/>
              <a:cs typeface="Lexend"/>
              <a:sym typeface="Lexend"/>
            </a:endParaRPr>
          </a:p>
        </p:txBody>
      </p:sp>
      <p:sp>
        <p:nvSpPr>
          <p:cNvPr id="498" name="Google Shape;498;p3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499" name="Google Shape;499;p3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5" name="Google Shape;505;p3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06" name="Google Shape;506;p3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07" name="Google Shape;507;p35"/>
          <p:cNvSpPr txBox="1"/>
          <p:nvPr/>
        </p:nvSpPr>
        <p:spPr>
          <a:xfrm>
            <a:off x="256650" y="972850"/>
            <a:ext cx="8428500" cy="2524200"/>
          </a:xfrm>
          <a:prstGeom prst="rect">
            <a:avLst/>
          </a:prstGeom>
          <a:noFill/>
          <a:ln>
            <a:noFill/>
          </a:ln>
        </p:spPr>
        <p:txBody>
          <a:bodyPr anchorCtr="0" anchor="t" bIns="91425" lIns="91425" spcFirstLastPara="1" rIns="91425" wrap="square" tIns="91425">
            <a:spAutoFit/>
          </a:bodyPr>
          <a:lstStyle/>
          <a:p>
            <a:pPr indent="-172720" lvl="0" marL="228600" rtl="0" algn="l">
              <a:lnSpc>
                <a:spcPct val="90000"/>
              </a:lnSpc>
              <a:spcBef>
                <a:spcPts val="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is a device which has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 a number of </a:t>
            </a:r>
            <a:r>
              <a:rPr i="1" lang="en" sz="2000">
                <a:solidFill>
                  <a:schemeClr val="dk1"/>
                </a:solidFill>
                <a:latin typeface="Lexend"/>
                <a:ea typeface="Lexend"/>
                <a:cs typeface="Lexend"/>
                <a:sym typeface="Lexend"/>
              </a:rPr>
              <a:t>input</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 a number of </a:t>
            </a:r>
            <a:r>
              <a:rPr i="1" lang="en" sz="2000">
                <a:solidFill>
                  <a:schemeClr val="dk1"/>
                </a:solidFill>
                <a:latin typeface="Lexend"/>
                <a:ea typeface="Lexend"/>
                <a:cs typeface="Lexend"/>
                <a:sym typeface="Lexend"/>
              </a:rPr>
              <a:t>selection</a:t>
            </a:r>
            <a:r>
              <a:rPr lang="en" sz="2000">
                <a:solidFill>
                  <a:schemeClr val="dk1"/>
                </a:solidFill>
                <a:latin typeface="Lexend"/>
                <a:ea typeface="Lexend"/>
                <a:cs typeface="Lexend"/>
                <a:sym typeface="Lexend"/>
              </a:rPr>
              <a:t> lines</a:t>
            </a:r>
            <a:endParaRPr sz="2000">
              <a:solidFill>
                <a:schemeClr val="dk1"/>
              </a:solidFill>
              <a:latin typeface="Lexend"/>
              <a:ea typeface="Lexend"/>
              <a:cs typeface="Lexend"/>
              <a:sym typeface="Lexend"/>
            </a:endParaRPr>
          </a:p>
          <a:p>
            <a:pPr indent="-228600" lvl="0" marL="228600" rtl="0" algn="l">
              <a:lnSpc>
                <a:spcPct val="90000"/>
              </a:lnSpc>
              <a:spcBef>
                <a:spcPts val="240"/>
              </a:spcBef>
              <a:spcAft>
                <a:spcPts val="0"/>
              </a:spcAft>
              <a:buClr>
                <a:schemeClr val="dk1"/>
              </a:buClr>
              <a:buSzPts val="2400"/>
              <a:buFont typeface="Calibri"/>
              <a:buNone/>
            </a:pPr>
            <a:r>
              <a:rPr lang="en" sz="2000">
                <a:solidFill>
                  <a:schemeClr val="dk1"/>
                </a:solidFill>
                <a:latin typeface="Lexend"/>
                <a:ea typeface="Lexend"/>
                <a:cs typeface="Lexend"/>
                <a:sym typeface="Lexend"/>
              </a:rPr>
              <a:t>                  (iii) one </a:t>
            </a:r>
            <a:r>
              <a:rPr i="1" lang="en" sz="2000">
                <a:solidFill>
                  <a:schemeClr val="dk1"/>
                </a:solidFill>
                <a:latin typeface="Lexend"/>
                <a:ea typeface="Lexend"/>
                <a:cs typeface="Lexend"/>
                <a:sym typeface="Lexend"/>
              </a:rPr>
              <a:t>output</a:t>
            </a:r>
            <a:r>
              <a:rPr lang="en" sz="2000">
                <a:solidFill>
                  <a:schemeClr val="dk1"/>
                </a:solidFill>
                <a:latin typeface="Lexend"/>
                <a:ea typeface="Lexend"/>
                <a:cs typeface="Lexend"/>
                <a:sym typeface="Lexend"/>
              </a:rPr>
              <a:t> line</a:t>
            </a:r>
            <a:endParaRPr sz="2000">
              <a:solidFill>
                <a:schemeClr val="dk1"/>
              </a:solidFill>
              <a:latin typeface="Lexend"/>
              <a:ea typeface="Lexend"/>
              <a:cs typeface="Lexend"/>
              <a:sym typeface="Lexend"/>
            </a:endParaRPr>
          </a:p>
          <a:p>
            <a:pPr indent="-172720" lvl="0" marL="228600" rtl="0" algn="l">
              <a:lnSpc>
                <a:spcPct val="90000"/>
              </a:lnSpc>
              <a:spcBef>
                <a:spcPts val="1200"/>
              </a:spcBef>
              <a:spcAft>
                <a:spcPts val="0"/>
              </a:spcAft>
              <a:buClr>
                <a:schemeClr val="dk1"/>
              </a:buClr>
              <a:buSzPts val="2000"/>
              <a:buFont typeface="Lexend"/>
              <a:buChar char="▪"/>
            </a:pPr>
            <a:r>
              <a:rPr lang="en" sz="2000">
                <a:solidFill>
                  <a:schemeClr val="dk1"/>
                </a:solidFill>
                <a:latin typeface="Lexend"/>
                <a:ea typeface="Lexend"/>
                <a:cs typeface="Lexend"/>
                <a:sym typeface="Lexend"/>
              </a:rPr>
              <a:t>A Multiplexer steers one of 2</a:t>
            </a:r>
            <a:r>
              <a:rPr baseline="30000"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inputs to a single output line, using </a:t>
            </a:r>
            <a:r>
              <a:rPr i="1"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selection lines.  Also known as a </a:t>
            </a:r>
            <a:r>
              <a:rPr i="1" lang="en" sz="2000">
                <a:solidFill>
                  <a:srgbClr val="FF0000"/>
                </a:solidFill>
                <a:latin typeface="Lexend"/>
                <a:ea typeface="Lexend"/>
                <a:cs typeface="Lexend"/>
                <a:sym typeface="Lexend"/>
              </a:rPr>
              <a:t>data selector</a:t>
            </a:r>
            <a:r>
              <a:rPr lang="en" sz="2000">
                <a:solidFill>
                  <a:srgbClr val="FF0000"/>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p:txBody>
      </p:sp>
      <p:grpSp>
        <p:nvGrpSpPr>
          <p:cNvPr id="508" name="Google Shape;508;p35"/>
          <p:cNvGrpSpPr/>
          <p:nvPr/>
        </p:nvGrpSpPr>
        <p:grpSpPr>
          <a:xfrm>
            <a:off x="50480" y="122879"/>
            <a:ext cx="277873" cy="68400"/>
            <a:chOff x="411700" y="2416840"/>
            <a:chExt cx="277873" cy="68400"/>
          </a:xfrm>
        </p:grpSpPr>
        <p:sp>
          <p:nvSpPr>
            <p:cNvPr id="509" name="Google Shape;509;p3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3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3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12" name="Google Shape;512;p3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rgbClr val="000000"/>
              </a:buClr>
              <a:buSzPts val="1100"/>
              <a:buFont typeface="Arial"/>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13" name="Google Shape;513;p3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14" name="Google Shape;514;p3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515" name="Google Shape;515;p35"/>
          <p:cNvSpPr/>
          <p:nvPr/>
        </p:nvSpPr>
        <p:spPr>
          <a:xfrm>
            <a:off x="4000500" y="3023125"/>
            <a:ext cx="1219200" cy="1066800"/>
          </a:xfrm>
          <a:prstGeom prst="rect">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516" name="Google Shape;516;p35"/>
          <p:cNvSpPr txBox="1"/>
          <p:nvPr/>
        </p:nvSpPr>
        <p:spPr>
          <a:xfrm>
            <a:off x="4000500" y="3251726"/>
            <a:ext cx="12954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a:t>
            </a:r>
            <a:r>
              <a:rPr b="0" baseline="30000" i="0" lang="en" sz="1600" u="none" cap="none" strike="noStrike">
                <a:solidFill>
                  <a:srgbClr val="000000"/>
                </a:solidFill>
                <a:latin typeface="Arial"/>
                <a:ea typeface="Arial"/>
                <a:cs typeface="Arial"/>
                <a:sym typeface="Arial"/>
              </a:rPr>
              <a:t>n</a:t>
            </a:r>
            <a:r>
              <a:rPr b="0" i="0" lang="en" sz="16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Multiplexer</a:t>
            </a:r>
            <a:endParaRPr b="0" i="0" sz="2000" u="none" cap="none" strike="noStrike">
              <a:solidFill>
                <a:srgbClr val="000000"/>
              </a:solidFill>
              <a:latin typeface="Arial"/>
              <a:ea typeface="Arial"/>
              <a:cs typeface="Arial"/>
              <a:sym typeface="Arial"/>
            </a:endParaRPr>
          </a:p>
        </p:txBody>
      </p:sp>
      <p:cxnSp>
        <p:nvCxnSpPr>
          <p:cNvPr id="517" name="Google Shape;517;p35"/>
          <p:cNvCxnSpPr/>
          <p:nvPr/>
        </p:nvCxnSpPr>
        <p:spPr>
          <a:xfrm>
            <a:off x="5219700" y="35565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18" name="Google Shape;518;p35"/>
          <p:cNvCxnSpPr/>
          <p:nvPr/>
        </p:nvCxnSpPr>
        <p:spPr>
          <a:xfrm>
            <a:off x="3543300" y="33279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19" name="Google Shape;519;p35"/>
          <p:cNvCxnSpPr/>
          <p:nvPr/>
        </p:nvCxnSpPr>
        <p:spPr>
          <a:xfrm>
            <a:off x="3543300" y="31755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20" name="Google Shape;520;p35"/>
          <p:cNvCxnSpPr/>
          <p:nvPr/>
        </p:nvCxnSpPr>
        <p:spPr>
          <a:xfrm rot="10800000">
            <a:off x="4305300" y="4089925"/>
            <a:ext cx="0" cy="381000"/>
          </a:xfrm>
          <a:prstGeom prst="straightConnector1">
            <a:avLst/>
          </a:prstGeom>
          <a:noFill/>
          <a:ln cap="flat" cmpd="sng" w="15875">
            <a:solidFill>
              <a:srgbClr val="000000"/>
            </a:solidFill>
            <a:prstDash val="solid"/>
            <a:round/>
            <a:headEnd len="sm" w="sm" type="none"/>
            <a:tailEnd len="med" w="med" type="triangle"/>
          </a:ln>
        </p:spPr>
      </p:cxnSp>
      <p:cxnSp>
        <p:nvCxnSpPr>
          <p:cNvPr id="521" name="Google Shape;521;p35"/>
          <p:cNvCxnSpPr/>
          <p:nvPr/>
        </p:nvCxnSpPr>
        <p:spPr>
          <a:xfrm>
            <a:off x="3543300" y="3480325"/>
            <a:ext cx="457200" cy="0"/>
          </a:xfrm>
          <a:prstGeom prst="straightConnector1">
            <a:avLst/>
          </a:prstGeom>
          <a:noFill/>
          <a:ln cap="flat" cmpd="sng" w="15875">
            <a:solidFill>
              <a:srgbClr val="000000"/>
            </a:solidFill>
            <a:prstDash val="solid"/>
            <a:round/>
            <a:headEnd len="sm" w="sm" type="none"/>
            <a:tailEnd len="med" w="med" type="triangle"/>
          </a:ln>
        </p:spPr>
      </p:cxnSp>
      <p:cxnSp>
        <p:nvCxnSpPr>
          <p:cNvPr id="522" name="Google Shape;522;p35"/>
          <p:cNvCxnSpPr/>
          <p:nvPr/>
        </p:nvCxnSpPr>
        <p:spPr>
          <a:xfrm>
            <a:off x="3543300" y="3937525"/>
            <a:ext cx="457200" cy="0"/>
          </a:xfrm>
          <a:prstGeom prst="straightConnector1">
            <a:avLst/>
          </a:prstGeom>
          <a:noFill/>
          <a:ln cap="flat" cmpd="sng" w="15875">
            <a:solidFill>
              <a:srgbClr val="000000"/>
            </a:solidFill>
            <a:prstDash val="solid"/>
            <a:round/>
            <a:headEnd len="sm" w="sm" type="none"/>
            <a:tailEnd len="med" w="med" type="triangle"/>
          </a:ln>
        </p:spPr>
      </p:cxnSp>
      <p:sp>
        <p:nvSpPr>
          <p:cNvPr id="523" name="Google Shape;523;p35"/>
          <p:cNvSpPr txBox="1"/>
          <p:nvPr/>
        </p:nvSpPr>
        <p:spPr>
          <a:xfrm>
            <a:off x="5676900" y="3404126"/>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524" name="Google Shape;524;p35"/>
          <p:cNvSpPr txBox="1"/>
          <p:nvPr/>
        </p:nvSpPr>
        <p:spPr>
          <a:xfrm>
            <a:off x="2628900" y="3404126"/>
            <a:ext cx="8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inputs</a:t>
            </a:r>
            <a:endParaRPr b="0" i="0" sz="2000" u="none" cap="none" strike="noStrike">
              <a:solidFill>
                <a:srgbClr val="000000"/>
              </a:solidFill>
              <a:latin typeface="Arial"/>
              <a:ea typeface="Arial"/>
              <a:cs typeface="Arial"/>
              <a:sym typeface="Arial"/>
            </a:endParaRPr>
          </a:p>
        </p:txBody>
      </p:sp>
      <p:cxnSp>
        <p:nvCxnSpPr>
          <p:cNvPr id="525" name="Google Shape;525;p35"/>
          <p:cNvCxnSpPr/>
          <p:nvPr/>
        </p:nvCxnSpPr>
        <p:spPr>
          <a:xfrm rot="10800000">
            <a:off x="4457700" y="4089925"/>
            <a:ext cx="0" cy="381000"/>
          </a:xfrm>
          <a:prstGeom prst="straightConnector1">
            <a:avLst/>
          </a:prstGeom>
          <a:noFill/>
          <a:ln cap="flat" cmpd="sng" w="15875">
            <a:solidFill>
              <a:srgbClr val="000000"/>
            </a:solidFill>
            <a:prstDash val="solid"/>
            <a:round/>
            <a:headEnd len="sm" w="sm" type="none"/>
            <a:tailEnd len="med" w="med" type="triangle"/>
          </a:ln>
        </p:spPr>
      </p:cxnSp>
      <p:sp>
        <p:nvSpPr>
          <p:cNvPr id="526" name="Google Shape;526;p35"/>
          <p:cNvSpPr txBox="1"/>
          <p:nvPr/>
        </p:nvSpPr>
        <p:spPr>
          <a:xfrm>
            <a:off x="3619500" y="3556525"/>
            <a:ext cx="2286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cxnSp>
        <p:nvCxnSpPr>
          <p:cNvPr id="527" name="Google Shape;527;p35"/>
          <p:cNvCxnSpPr/>
          <p:nvPr/>
        </p:nvCxnSpPr>
        <p:spPr>
          <a:xfrm>
            <a:off x="3543300" y="3632725"/>
            <a:ext cx="457200" cy="0"/>
          </a:xfrm>
          <a:prstGeom prst="straightConnector1">
            <a:avLst/>
          </a:prstGeom>
          <a:noFill/>
          <a:ln cap="flat" cmpd="sng" w="15875">
            <a:solidFill>
              <a:srgbClr val="000000"/>
            </a:solidFill>
            <a:prstDash val="solid"/>
            <a:round/>
            <a:headEnd len="sm" w="sm" type="none"/>
            <a:tailEnd len="med" w="med" type="triangle"/>
          </a:ln>
        </p:spPr>
      </p:cxnSp>
      <p:sp>
        <p:nvSpPr>
          <p:cNvPr id="528" name="Google Shape;528;p35"/>
          <p:cNvSpPr txBox="1"/>
          <p:nvPr/>
        </p:nvSpPr>
        <p:spPr>
          <a:xfrm>
            <a:off x="4229100" y="4470926"/>
            <a:ext cx="914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select</a:t>
            </a:r>
            <a:endParaRPr b="0" i="0" sz="2000" u="none" cap="none" strike="noStrike">
              <a:solidFill>
                <a:srgbClr val="000000"/>
              </a:solidFill>
              <a:latin typeface="Arial"/>
              <a:ea typeface="Arial"/>
              <a:cs typeface="Arial"/>
              <a:sym typeface="Arial"/>
            </a:endParaRPr>
          </a:p>
        </p:txBody>
      </p:sp>
      <p:cxnSp>
        <p:nvCxnSpPr>
          <p:cNvPr id="529" name="Google Shape;529;p35"/>
          <p:cNvCxnSpPr/>
          <p:nvPr/>
        </p:nvCxnSpPr>
        <p:spPr>
          <a:xfrm rot="10800000">
            <a:off x="4610100" y="4089925"/>
            <a:ext cx="0" cy="381000"/>
          </a:xfrm>
          <a:prstGeom prst="straightConnector1">
            <a:avLst/>
          </a:prstGeom>
          <a:noFill/>
          <a:ln cap="flat" cmpd="sng" w="15875">
            <a:solidFill>
              <a:srgbClr val="000000"/>
            </a:solidFill>
            <a:prstDash val="solid"/>
            <a:round/>
            <a:headEnd len="sm" w="sm" type="none"/>
            <a:tailEnd len="med" w="med" type="triangle"/>
          </a:ln>
        </p:spPr>
      </p:cxnSp>
      <p:cxnSp>
        <p:nvCxnSpPr>
          <p:cNvPr id="530" name="Google Shape;530;p35"/>
          <p:cNvCxnSpPr/>
          <p:nvPr/>
        </p:nvCxnSpPr>
        <p:spPr>
          <a:xfrm rot="10800000">
            <a:off x="5067300" y="4089925"/>
            <a:ext cx="0" cy="381000"/>
          </a:xfrm>
          <a:prstGeom prst="straightConnector1">
            <a:avLst/>
          </a:prstGeom>
          <a:noFill/>
          <a:ln cap="flat" cmpd="sng" w="15875">
            <a:solidFill>
              <a:srgbClr val="000000"/>
            </a:solidFill>
            <a:prstDash val="solid"/>
            <a:round/>
            <a:headEnd len="sm" w="sm" type="none"/>
            <a:tailEnd len="med" w="med" type="triangle"/>
          </a:ln>
        </p:spPr>
      </p:cxnSp>
      <p:sp>
        <p:nvSpPr>
          <p:cNvPr id="531" name="Google Shape;531;p35"/>
          <p:cNvSpPr txBox="1"/>
          <p:nvPr/>
        </p:nvSpPr>
        <p:spPr>
          <a:xfrm>
            <a:off x="4686300" y="4166125"/>
            <a:ext cx="381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37" name="Google Shape;537;p3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38" name="Google Shape;538;p3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39" name="Google Shape;539;p36"/>
          <p:cNvSpPr txBox="1"/>
          <p:nvPr/>
        </p:nvSpPr>
        <p:spPr>
          <a:xfrm>
            <a:off x="256650" y="8204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Truth table for a 4-to-1 multiplexer:</a:t>
            </a:r>
            <a:endParaRPr sz="2000">
              <a:solidFill>
                <a:schemeClr val="dk1"/>
              </a:solidFill>
              <a:latin typeface="Lexend"/>
              <a:ea typeface="Lexend"/>
              <a:cs typeface="Lexend"/>
              <a:sym typeface="Lexend"/>
            </a:endParaRPr>
          </a:p>
        </p:txBody>
      </p:sp>
      <p:grpSp>
        <p:nvGrpSpPr>
          <p:cNvPr id="540" name="Google Shape;540;p36"/>
          <p:cNvGrpSpPr/>
          <p:nvPr/>
        </p:nvGrpSpPr>
        <p:grpSpPr>
          <a:xfrm>
            <a:off x="50480" y="122879"/>
            <a:ext cx="277873" cy="68400"/>
            <a:chOff x="411700" y="2416840"/>
            <a:chExt cx="277873" cy="68400"/>
          </a:xfrm>
        </p:grpSpPr>
        <p:sp>
          <p:nvSpPr>
            <p:cNvPr id="541" name="Google Shape;541;p3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3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3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44" name="Google Shape;544;p3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45" name="Google Shape;545;p3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graphicFrame>
        <p:nvGraphicFramePr>
          <p:cNvPr id="546" name="Google Shape;546;p36"/>
          <p:cNvGraphicFramePr/>
          <p:nvPr/>
        </p:nvGraphicFramePr>
        <p:xfrm>
          <a:off x="209775" y="1282138"/>
          <a:ext cx="3000000" cy="3000000"/>
        </p:xfrm>
        <a:graphic>
          <a:graphicData uri="http://schemas.openxmlformats.org/drawingml/2006/table">
            <a:tbl>
              <a:tblPr>
                <a:noFill/>
                <a:tableStyleId>{89043D2A-02A2-4C3A-B289-3E6D6C1B2619}</a:tableStyleId>
              </a:tblPr>
              <a:tblGrid>
                <a:gridCol w="429425"/>
                <a:gridCol w="429425"/>
                <a:gridCol w="429425"/>
                <a:gridCol w="429425"/>
                <a:gridCol w="429425"/>
                <a:gridCol w="457650"/>
                <a:gridCol w="457650"/>
              </a:tblGrid>
              <a:tr h="347775">
                <a:tc>
                  <a:txBody>
                    <a:bodyPr/>
                    <a:lstStyle/>
                    <a:p>
                      <a:pPr indent="0" lvl="0" marL="0" marR="0" rtl="0" algn="ctr">
                        <a:lnSpc>
                          <a:spcPct val="100000"/>
                        </a:lnSpc>
                        <a:spcBef>
                          <a:spcPts val="0"/>
                        </a:spcBef>
                        <a:spcAft>
                          <a:spcPts val="0"/>
                        </a:spcAft>
                        <a:buNone/>
                      </a:pPr>
                      <a:r>
                        <a:rPr b="1" lang="en" sz="1500">
                          <a:latin typeface="Lexend"/>
                          <a:ea typeface="Lexend"/>
                          <a:cs typeface="Lexend"/>
                          <a:sym typeface="Lexend"/>
                        </a:rPr>
                        <a:t>I</a:t>
                      </a:r>
                      <a:r>
                        <a:rPr b="1" baseline="-25000" lang="en" sz="1500">
                          <a:latin typeface="Lexend"/>
                          <a:ea typeface="Lexend"/>
                          <a:cs typeface="Lexend"/>
                          <a:sym typeface="Lexend"/>
                        </a:rPr>
                        <a:t>0</a:t>
                      </a:r>
                      <a:endParaRPr b="1" baseline="-25000"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I</a:t>
                      </a:r>
                      <a:r>
                        <a:rPr b="1" baseline="-25000" lang="en" sz="1500">
                          <a:solidFill>
                            <a:schemeClr val="dk1"/>
                          </a:solidFill>
                          <a:latin typeface="Lexend"/>
                          <a:ea typeface="Lexend"/>
                          <a:cs typeface="Lexend"/>
                          <a:sym typeface="Lexend"/>
                        </a:rPr>
                        <a:t>3</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d</a:t>
                      </a:r>
                      <a:r>
                        <a:rPr baseline="-25000" lang="en" sz="1300">
                          <a:latin typeface="Lexend Medium"/>
                          <a:ea typeface="Lexend Medium"/>
                          <a:cs typeface="Lexend Medium"/>
                          <a:sym typeface="Lexend Medium"/>
                        </a:rPr>
                        <a:t>0</a:t>
                      </a:r>
                      <a:endParaRPr baseline="-25000"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i="0" sz="1300" u="none">
                        <a:solidFill>
                          <a:srgbClr val="000000"/>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547" name="Google Shape;547;p3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548" name="Google Shape;548;p36"/>
          <p:cNvGraphicFramePr/>
          <p:nvPr/>
        </p:nvGraphicFramePr>
        <p:xfrm>
          <a:off x="4261350" y="1282138"/>
          <a:ext cx="3000000" cy="3000000"/>
        </p:xfrm>
        <a:graphic>
          <a:graphicData uri="http://schemas.openxmlformats.org/drawingml/2006/table">
            <a:tbl>
              <a:tblPr>
                <a:noFill/>
                <a:tableStyleId>{89043D2A-02A2-4C3A-B289-3E6D6C1B2619}</a:tableStyleId>
              </a:tblPr>
              <a:tblGrid>
                <a:gridCol w="429425"/>
                <a:gridCol w="457650"/>
                <a:gridCol w="457650"/>
              </a:tblGrid>
              <a:tr h="347775">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58175">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
        <p:nvSpPr>
          <p:cNvPr id="549" name="Google Shape;549;p36"/>
          <p:cNvSpPr/>
          <p:nvPr/>
        </p:nvSpPr>
        <p:spPr>
          <a:xfrm>
            <a:off x="3425526" y="2019975"/>
            <a:ext cx="682500" cy="304800"/>
          </a:xfrm>
          <a:prstGeom prst="rightArrow">
            <a:avLst>
              <a:gd fmla="val 50000" name="adj1"/>
              <a:gd fmla="val 50000" name="adj2"/>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550" name="Google Shape;550;p36"/>
          <p:cNvPicPr preferRelativeResize="0"/>
          <p:nvPr/>
        </p:nvPicPr>
        <p:blipFill>
          <a:blip r:embed="rId4">
            <a:alphaModFix/>
          </a:blip>
          <a:stretch>
            <a:fillRect/>
          </a:stretch>
        </p:blipFill>
        <p:spPr>
          <a:xfrm>
            <a:off x="1180550" y="3199500"/>
            <a:ext cx="2091642" cy="1547475"/>
          </a:xfrm>
          <a:prstGeom prst="rect">
            <a:avLst/>
          </a:prstGeom>
          <a:noFill/>
          <a:ln>
            <a:noFill/>
          </a:ln>
        </p:spPr>
      </p:pic>
      <p:pic>
        <p:nvPicPr>
          <p:cNvPr id="551" name="Google Shape;551;p36"/>
          <p:cNvPicPr preferRelativeResize="0"/>
          <p:nvPr/>
        </p:nvPicPr>
        <p:blipFill>
          <a:blip r:embed="rId5">
            <a:alphaModFix/>
          </a:blip>
          <a:stretch>
            <a:fillRect/>
          </a:stretch>
        </p:blipFill>
        <p:spPr>
          <a:xfrm>
            <a:off x="5962569" y="2198950"/>
            <a:ext cx="2722575" cy="2256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3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7" name="Google Shape;557;p3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58" name="Google Shape;558;p3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559" name="Google Shape;559;p37"/>
          <p:cNvGrpSpPr/>
          <p:nvPr/>
        </p:nvGrpSpPr>
        <p:grpSpPr>
          <a:xfrm>
            <a:off x="50480" y="122879"/>
            <a:ext cx="277873" cy="68400"/>
            <a:chOff x="411700" y="2416840"/>
            <a:chExt cx="277873" cy="68400"/>
          </a:xfrm>
        </p:grpSpPr>
        <p:sp>
          <p:nvSpPr>
            <p:cNvPr id="560" name="Google Shape;560;p3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3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3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63" name="Google Shape;563;p3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64" name="Google Shape;564;p3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65" name="Google Shape;565;p37"/>
          <p:cNvPicPr preferRelativeResize="0"/>
          <p:nvPr/>
        </p:nvPicPr>
        <p:blipFill rotWithShape="1">
          <a:blip r:embed="rId4">
            <a:alphaModFix/>
          </a:blip>
          <a:srcRect b="0" l="0" r="0" t="0"/>
          <a:stretch/>
        </p:blipFill>
        <p:spPr>
          <a:xfrm>
            <a:off x="1229063" y="78450"/>
            <a:ext cx="6685862" cy="4800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71" name="Google Shape;571;p3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72" name="Google Shape;572;p3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73" name="Google Shape;573;p38"/>
          <p:cNvSpPr txBox="1"/>
          <p:nvPr/>
        </p:nvSpPr>
        <p:spPr>
          <a:xfrm>
            <a:off x="256650" y="972850"/>
            <a:ext cx="8428500" cy="3036300"/>
          </a:xfrm>
          <a:prstGeom prst="rect">
            <a:avLst/>
          </a:prstGeom>
          <a:noFill/>
          <a:ln>
            <a:noFill/>
          </a:ln>
        </p:spPr>
        <p:txBody>
          <a:bodyPr anchorCtr="0" anchor="t" bIns="91425" lIns="91425" spcFirstLastPara="1" rIns="91425" wrap="square" tIns="91425">
            <a:spAutoFit/>
          </a:bodyPr>
          <a:lstStyle/>
          <a:p>
            <a:pPr indent="-154940" lvl="0" marL="228600" rtl="0" algn="l">
              <a:lnSpc>
                <a:spcPct val="90000"/>
              </a:lnSpc>
              <a:spcBef>
                <a:spcPts val="0"/>
              </a:spcBef>
              <a:spcAft>
                <a:spcPts val="0"/>
              </a:spcAft>
              <a:buClr>
                <a:schemeClr val="dk1"/>
              </a:buClr>
              <a:buSzPts val="2200"/>
              <a:buFont typeface="Lexend"/>
              <a:buChar char="▪"/>
            </a:pPr>
            <a:r>
              <a:rPr lang="en" sz="2200">
                <a:solidFill>
                  <a:schemeClr val="dk1"/>
                </a:solidFill>
                <a:latin typeface="Lexend"/>
                <a:ea typeface="Lexend"/>
                <a:cs typeface="Lexend"/>
                <a:sym typeface="Lexend"/>
              </a:rPr>
              <a:t>Output of multiplexer is</a:t>
            </a:r>
            <a:endParaRPr sz="2200">
              <a:solidFill>
                <a:schemeClr val="dk1"/>
              </a:solidFill>
              <a:latin typeface="Lexend"/>
              <a:ea typeface="Lexend"/>
              <a:cs typeface="Lexend"/>
              <a:sym typeface="Lexend"/>
            </a:endParaRPr>
          </a:p>
          <a:p>
            <a:pPr indent="-228600" lvl="0" marL="228600" rtl="0" algn="l">
              <a:lnSpc>
                <a:spcPct val="90000"/>
              </a:lnSpc>
              <a:spcBef>
                <a:spcPts val="1000"/>
              </a:spcBef>
              <a:spcAft>
                <a:spcPts val="0"/>
              </a:spcAft>
              <a:buClr>
                <a:schemeClr val="dk1"/>
              </a:buClr>
              <a:buSzPts val="3100"/>
              <a:buFont typeface="Calibri"/>
              <a:buNone/>
            </a:pPr>
            <a:r>
              <a:rPr lang="en" sz="2200">
                <a:solidFill>
                  <a:schemeClr val="dk1"/>
                </a:solidFill>
                <a:latin typeface="Lexend"/>
                <a:ea typeface="Lexend"/>
                <a:cs typeface="Lexend"/>
                <a:sym typeface="Lexend"/>
              </a:rPr>
              <a:t>	    “sum of the (product of </a:t>
            </a:r>
            <a:r>
              <a:rPr i="1" lang="en" sz="2200">
                <a:solidFill>
                  <a:schemeClr val="dk1"/>
                </a:solidFill>
                <a:latin typeface="Lexend"/>
                <a:ea typeface="Lexend"/>
                <a:cs typeface="Lexend"/>
                <a:sym typeface="Lexend"/>
              </a:rPr>
              <a:t>data lines</a:t>
            </a:r>
            <a:r>
              <a:rPr lang="en" sz="2200">
                <a:solidFill>
                  <a:schemeClr val="dk1"/>
                </a:solidFill>
                <a:latin typeface="Lexend"/>
                <a:ea typeface="Lexend"/>
                <a:cs typeface="Lexend"/>
                <a:sym typeface="Lexend"/>
              </a:rPr>
              <a:t> and </a:t>
            </a:r>
            <a:r>
              <a:rPr i="1" lang="en" sz="2200">
                <a:solidFill>
                  <a:schemeClr val="dk1"/>
                </a:solidFill>
                <a:latin typeface="Lexend"/>
                <a:ea typeface="Lexend"/>
                <a:cs typeface="Lexend"/>
                <a:sym typeface="Lexend"/>
              </a:rPr>
              <a:t>selection lines</a:t>
            </a:r>
            <a:r>
              <a:rPr lang="en" sz="2200">
                <a:solidFill>
                  <a:schemeClr val="dk1"/>
                </a:solidFill>
                <a:latin typeface="Lexend"/>
                <a:ea typeface="Lexend"/>
                <a:cs typeface="Lexend"/>
                <a:sym typeface="Lexend"/>
              </a:rPr>
              <a:t>)”</a:t>
            </a:r>
            <a:endParaRPr sz="2200">
              <a:solidFill>
                <a:schemeClr val="dk1"/>
              </a:solidFill>
              <a:latin typeface="Lexend"/>
              <a:ea typeface="Lexend"/>
              <a:cs typeface="Lexend"/>
              <a:sym typeface="Lexend"/>
            </a:endParaRPr>
          </a:p>
          <a:p>
            <a:pPr indent="-171450" lvl="0" marL="228600" rtl="0" algn="l">
              <a:lnSpc>
                <a:spcPct val="90000"/>
              </a:lnSpc>
              <a:spcBef>
                <a:spcPts val="1000"/>
              </a:spcBef>
              <a:spcAft>
                <a:spcPts val="0"/>
              </a:spcAft>
              <a:buClr>
                <a:schemeClr val="dk1"/>
              </a:buClr>
              <a:buSzPts val="2200"/>
              <a:buFont typeface="Lexend"/>
              <a:buChar char="▪"/>
            </a:pPr>
            <a:r>
              <a:rPr lang="en" sz="2200">
                <a:solidFill>
                  <a:schemeClr val="dk1"/>
                </a:solidFill>
                <a:latin typeface="Lexend"/>
                <a:ea typeface="Lexend"/>
                <a:cs typeface="Lexend"/>
                <a:sym typeface="Lexend"/>
              </a:rPr>
              <a:t>Often known as Data selector as it selects one of the many inputs and steers the binary information to the output line.</a:t>
            </a:r>
            <a:endParaRPr sz="2200">
              <a:solidFill>
                <a:schemeClr val="dk1"/>
              </a:solidFill>
              <a:latin typeface="Lexend"/>
              <a:ea typeface="Lexend"/>
              <a:cs typeface="Lexend"/>
              <a:sym typeface="Lexend"/>
            </a:endParaRPr>
          </a:p>
          <a:p>
            <a:pPr indent="-154940" lvl="0" marL="228600" rtl="0" algn="l">
              <a:lnSpc>
                <a:spcPct val="90000"/>
              </a:lnSpc>
              <a:spcBef>
                <a:spcPts val="1400"/>
              </a:spcBef>
              <a:spcAft>
                <a:spcPts val="0"/>
              </a:spcAft>
              <a:buClr>
                <a:schemeClr val="dk1"/>
              </a:buClr>
              <a:buSzPts val="2200"/>
              <a:buFont typeface="Lexend"/>
              <a:buChar char="▪"/>
            </a:pPr>
            <a:r>
              <a:rPr lang="en" sz="2200">
                <a:solidFill>
                  <a:schemeClr val="dk1"/>
                </a:solidFill>
                <a:latin typeface="Lexend"/>
                <a:ea typeface="Lexend"/>
                <a:cs typeface="Lexend"/>
                <a:sym typeface="Lexend"/>
              </a:rPr>
              <a:t>Example: the output of a 4-to-1 multiplexer is:</a:t>
            </a:r>
            <a:endParaRPr sz="2200">
              <a:solidFill>
                <a:schemeClr val="dk1"/>
              </a:solidFill>
              <a:latin typeface="Lexend"/>
              <a:ea typeface="Lexend"/>
              <a:cs typeface="Lexend"/>
              <a:sym typeface="Lexend"/>
            </a:endParaRPr>
          </a:p>
          <a:p>
            <a:pPr indent="-228600" lvl="0" marL="228600" rtl="0" algn="l">
              <a:lnSpc>
                <a:spcPct val="90000"/>
              </a:lnSpc>
              <a:spcBef>
                <a:spcPts val="1000"/>
              </a:spcBef>
              <a:spcAft>
                <a:spcPts val="0"/>
              </a:spcAft>
              <a:buClr>
                <a:srgbClr val="FF0000"/>
              </a:buClr>
              <a:buSzPts val="2800"/>
              <a:buFont typeface="Calibri"/>
              <a:buNone/>
            </a:pPr>
            <a:r>
              <a:rPr b="1" lang="en" sz="2200">
                <a:solidFill>
                  <a:srgbClr val="FF0000"/>
                </a:solidFill>
                <a:latin typeface="Lexend"/>
                <a:ea typeface="Lexend"/>
                <a:cs typeface="Lexend"/>
                <a:sym typeface="Lexend"/>
              </a:rPr>
              <a:t>Y = I</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2</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 + I</a:t>
            </a:r>
            <a:r>
              <a:rPr b="1" baseline="-25000" lang="en" sz="2200">
                <a:solidFill>
                  <a:srgbClr val="FF0000"/>
                </a:solidFill>
                <a:latin typeface="Lexend"/>
                <a:ea typeface="Lexend"/>
                <a:cs typeface="Lexend"/>
                <a:sym typeface="Lexend"/>
              </a:rPr>
              <a:t>3</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1</a:t>
            </a:r>
            <a:r>
              <a:rPr b="1" lang="en" sz="2200">
                <a:solidFill>
                  <a:srgbClr val="FF0000"/>
                </a:solidFill>
                <a:latin typeface="Lexend"/>
                <a:ea typeface="Lexend"/>
                <a:cs typeface="Lexend"/>
                <a:sym typeface="Lexend"/>
              </a:rPr>
              <a:t>.S</a:t>
            </a:r>
            <a:r>
              <a:rPr b="1" baseline="-25000" lang="en" sz="2200">
                <a:solidFill>
                  <a:srgbClr val="FF0000"/>
                </a:solidFill>
                <a:latin typeface="Lexend"/>
                <a:ea typeface="Lexend"/>
                <a:cs typeface="Lexend"/>
                <a:sym typeface="Lexend"/>
              </a:rPr>
              <a:t>0</a:t>
            </a:r>
            <a:r>
              <a:rPr b="1" lang="en" sz="2200">
                <a:solidFill>
                  <a:srgbClr val="FF0000"/>
                </a:solidFill>
                <a:latin typeface="Lexend"/>
                <a:ea typeface="Lexend"/>
                <a:cs typeface="Lexend"/>
                <a:sym typeface="Lexend"/>
              </a:rPr>
              <a:t>)</a:t>
            </a:r>
            <a:endParaRPr sz="22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574" name="Google Shape;574;p38"/>
          <p:cNvGrpSpPr/>
          <p:nvPr/>
        </p:nvGrpSpPr>
        <p:grpSpPr>
          <a:xfrm>
            <a:off x="50480" y="122879"/>
            <a:ext cx="277873" cy="68400"/>
            <a:chOff x="411700" y="2416840"/>
            <a:chExt cx="277873" cy="68400"/>
          </a:xfrm>
        </p:grpSpPr>
        <p:sp>
          <p:nvSpPr>
            <p:cNvPr id="575" name="Google Shape;575;p3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3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3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78" name="Google Shape;578;p3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Multiplexer</a:t>
            </a:r>
            <a:endParaRPr sz="3600">
              <a:solidFill>
                <a:schemeClr val="dk1"/>
              </a:solidFill>
              <a:latin typeface="Lexend"/>
              <a:ea typeface="Lexend"/>
              <a:cs typeface="Lexend"/>
              <a:sym typeface="Lexend"/>
            </a:endParaRPr>
          </a:p>
        </p:txBody>
      </p:sp>
      <p:sp>
        <p:nvSpPr>
          <p:cNvPr id="579" name="Google Shape;579;p3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80" name="Google Shape;580;p3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6" name="Google Shape;586;p3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587" name="Google Shape;587;p3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588" name="Google Shape;588;p39"/>
          <p:cNvSpPr txBox="1"/>
          <p:nvPr/>
        </p:nvSpPr>
        <p:spPr>
          <a:xfrm>
            <a:off x="256650" y="972850"/>
            <a:ext cx="8428500" cy="837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chemeClr val="dk1"/>
                </a:solidFill>
                <a:latin typeface="Lexend"/>
                <a:ea typeface="Lexend"/>
                <a:cs typeface="Lexend"/>
                <a:sym typeface="Lexend"/>
              </a:rPr>
              <a:t>Draw the internal circuit diagram (logic diagram) of a 4-to-1 multiplexer.</a:t>
            </a:r>
            <a:endParaRPr sz="18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800">
                <a:solidFill>
                  <a:schemeClr val="dk1"/>
                </a:solidFill>
                <a:latin typeface="Lexend"/>
                <a:ea typeface="Lexend"/>
                <a:cs typeface="Lexend"/>
                <a:sym typeface="Lexend"/>
              </a:rPr>
              <a:t>Solution: </a:t>
            </a:r>
            <a:r>
              <a:rPr lang="en" sz="1600">
                <a:solidFill>
                  <a:schemeClr val="dk1"/>
                </a:solidFill>
                <a:latin typeface="Lexend"/>
                <a:ea typeface="Lexend"/>
                <a:cs typeface="Lexend"/>
                <a:sym typeface="Lexend"/>
              </a:rPr>
              <a:t>Y = I</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2</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I</a:t>
            </a:r>
            <a:r>
              <a:rPr baseline="-25000" lang="en" sz="1600">
                <a:solidFill>
                  <a:schemeClr val="dk1"/>
                </a:solidFill>
                <a:latin typeface="Lexend"/>
                <a:ea typeface="Lexend"/>
                <a:cs typeface="Lexend"/>
                <a:sym typeface="Lexend"/>
              </a:rPr>
              <a:t>3</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.S</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grpSp>
        <p:nvGrpSpPr>
          <p:cNvPr id="589" name="Google Shape;589;p39"/>
          <p:cNvGrpSpPr/>
          <p:nvPr/>
        </p:nvGrpSpPr>
        <p:grpSpPr>
          <a:xfrm>
            <a:off x="50480" y="122879"/>
            <a:ext cx="277873" cy="68400"/>
            <a:chOff x="411700" y="2416840"/>
            <a:chExt cx="277873" cy="68400"/>
          </a:xfrm>
        </p:grpSpPr>
        <p:sp>
          <p:nvSpPr>
            <p:cNvPr id="590" name="Google Shape;590;p3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3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3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93" name="Google Shape;593;p3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594" name="Google Shape;594;p3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595" name="Google Shape;595;p3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596" name="Google Shape;596;p39"/>
          <p:cNvPicPr preferRelativeResize="0"/>
          <p:nvPr/>
        </p:nvPicPr>
        <p:blipFill>
          <a:blip r:embed="rId4">
            <a:alphaModFix/>
          </a:blip>
          <a:stretch>
            <a:fillRect/>
          </a:stretch>
        </p:blipFill>
        <p:spPr>
          <a:xfrm>
            <a:off x="0" y="1699463"/>
            <a:ext cx="4941376" cy="3185525"/>
          </a:xfrm>
          <a:prstGeom prst="rect">
            <a:avLst/>
          </a:prstGeom>
          <a:noFill/>
          <a:ln>
            <a:noFill/>
          </a:ln>
        </p:spPr>
      </p:pic>
      <p:graphicFrame>
        <p:nvGraphicFramePr>
          <p:cNvPr id="597" name="Google Shape;597;p39"/>
          <p:cNvGraphicFramePr/>
          <p:nvPr/>
        </p:nvGraphicFramePr>
        <p:xfrm>
          <a:off x="6908300" y="1628038"/>
          <a:ext cx="3000000" cy="3000000"/>
        </p:xfrm>
        <a:graphic>
          <a:graphicData uri="http://schemas.openxmlformats.org/drawingml/2006/table">
            <a:tbl>
              <a:tblPr>
                <a:noFill/>
                <a:tableStyleId>{89043D2A-02A2-4C3A-B289-3E6D6C1B2619}</a:tableStyleId>
              </a:tblPr>
              <a:tblGrid>
                <a:gridCol w="388625"/>
                <a:gridCol w="414150"/>
                <a:gridCol w="414150"/>
              </a:tblGrid>
              <a:tr h="306900">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10150">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d</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598" name="Google Shape;598;p39"/>
          <p:cNvPicPr preferRelativeResize="0"/>
          <p:nvPr/>
        </p:nvPicPr>
        <p:blipFill>
          <a:blip r:embed="rId5">
            <a:alphaModFix/>
          </a:blip>
          <a:stretch>
            <a:fillRect/>
          </a:stretch>
        </p:blipFill>
        <p:spPr>
          <a:xfrm>
            <a:off x="6289100" y="3408525"/>
            <a:ext cx="2091642" cy="1547475"/>
          </a:xfrm>
          <a:prstGeom prst="rect">
            <a:avLst/>
          </a:prstGeom>
          <a:noFill/>
          <a:ln>
            <a:noFill/>
          </a:ln>
        </p:spPr>
      </p:pic>
      <p:sp>
        <p:nvSpPr>
          <p:cNvPr id="599" name="Google Shape;599;p39"/>
          <p:cNvSpPr txBox="1"/>
          <p:nvPr/>
        </p:nvSpPr>
        <p:spPr>
          <a:xfrm>
            <a:off x="2425700" y="2231150"/>
            <a:ext cx="22818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(a) </a:t>
            </a:r>
            <a:r>
              <a:rPr lang="en" sz="1300">
                <a:solidFill>
                  <a:srgbClr val="674EA7"/>
                </a:solidFill>
                <a:latin typeface="Lexend"/>
                <a:ea typeface="Lexend"/>
                <a:cs typeface="Lexend"/>
                <a:sym typeface="Lexend"/>
              </a:rPr>
              <a:t>Logic Diagram</a:t>
            </a:r>
            <a:endParaRPr sz="1100">
              <a:solidFill>
                <a:srgbClr val="674EA7"/>
              </a:solidFill>
              <a:latin typeface="Lexend"/>
              <a:ea typeface="Lexend"/>
              <a:cs typeface="Lexend"/>
              <a:sym typeface="Lexend"/>
            </a:endParaRPr>
          </a:p>
        </p:txBody>
      </p:sp>
      <p:sp>
        <p:nvSpPr>
          <p:cNvPr id="600" name="Google Shape;600;p39"/>
          <p:cNvSpPr txBox="1"/>
          <p:nvPr/>
        </p:nvSpPr>
        <p:spPr>
          <a:xfrm>
            <a:off x="5137850" y="1866350"/>
            <a:ext cx="17052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(b) Function Table</a:t>
            </a:r>
            <a:endParaRPr sz="1100">
              <a:solidFill>
                <a:srgbClr val="674EA7"/>
              </a:solidFill>
              <a:latin typeface="Lexend"/>
              <a:ea typeface="Lexend"/>
              <a:cs typeface="Lexend"/>
              <a:sym typeface="Lexend"/>
            </a:endParaRPr>
          </a:p>
        </p:txBody>
      </p:sp>
      <p:sp>
        <p:nvSpPr>
          <p:cNvPr id="601" name="Google Shape;601;p39"/>
          <p:cNvSpPr txBox="1"/>
          <p:nvPr/>
        </p:nvSpPr>
        <p:spPr>
          <a:xfrm>
            <a:off x="5218175" y="3109838"/>
            <a:ext cx="22818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(c) Block Diagram</a:t>
            </a:r>
            <a:endParaRPr sz="1100">
              <a:solidFill>
                <a:srgbClr val="674EA7"/>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4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7" name="Google Shape;607;p4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08" name="Google Shape;608;p4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09" name="Google Shape;609;p40"/>
          <p:cNvSpPr txBox="1"/>
          <p:nvPr/>
        </p:nvSpPr>
        <p:spPr>
          <a:xfrm>
            <a:off x="256650" y="972850"/>
            <a:ext cx="8428500" cy="9327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200"/>
              </a:spcBef>
              <a:spcAft>
                <a:spcPts val="0"/>
              </a:spcAft>
              <a:buClr>
                <a:schemeClr val="dk1"/>
              </a:buClr>
              <a:buSzPts val="1800"/>
              <a:buFont typeface="Lexend"/>
              <a:buChar char="●"/>
            </a:pPr>
            <a:r>
              <a:rPr lang="en" sz="1800">
                <a:solidFill>
                  <a:schemeClr val="dk1"/>
                </a:solidFill>
                <a:latin typeface="Lexend"/>
                <a:ea typeface="Lexend"/>
                <a:cs typeface="Lexend"/>
                <a:sym typeface="Lexend"/>
              </a:rPr>
              <a:t>Larger multiplexers can be constructed from smaller ones.</a:t>
            </a:r>
            <a:endParaRPr sz="1800">
              <a:solidFill>
                <a:schemeClr val="dk1"/>
              </a:solidFill>
              <a:latin typeface="Lexend"/>
              <a:ea typeface="Lexend"/>
              <a:cs typeface="Lexend"/>
              <a:sym typeface="Lexend"/>
            </a:endParaRPr>
          </a:p>
          <a:p>
            <a:pPr indent="-342900" lvl="0" marL="457200" rtl="0" algn="l">
              <a:lnSpc>
                <a:spcPct val="90000"/>
              </a:lnSpc>
              <a:spcBef>
                <a:spcPts val="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 8-to-1 multiplexer can be constructed from smaller multiplexers like this (from two 4x1 and one 2x1):</a:t>
            </a:r>
            <a:endParaRPr sz="1800">
              <a:solidFill>
                <a:schemeClr val="dk1"/>
              </a:solidFill>
              <a:latin typeface="Lexend"/>
              <a:ea typeface="Lexend"/>
              <a:cs typeface="Lexend"/>
              <a:sym typeface="Lexend"/>
            </a:endParaRPr>
          </a:p>
        </p:txBody>
      </p:sp>
      <p:grpSp>
        <p:nvGrpSpPr>
          <p:cNvPr id="610" name="Google Shape;610;p40"/>
          <p:cNvGrpSpPr/>
          <p:nvPr/>
        </p:nvGrpSpPr>
        <p:grpSpPr>
          <a:xfrm>
            <a:off x="50480" y="122879"/>
            <a:ext cx="277873" cy="68400"/>
            <a:chOff x="411700" y="2416840"/>
            <a:chExt cx="277873" cy="68400"/>
          </a:xfrm>
        </p:grpSpPr>
        <p:sp>
          <p:nvSpPr>
            <p:cNvPr id="611" name="Google Shape;611;p4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p4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4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14" name="Google Shape;614;p4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15" name="Google Shape;615;p4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16" name="Google Shape;616;p4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17" name="Google Shape;617;p40"/>
          <p:cNvPicPr preferRelativeResize="0"/>
          <p:nvPr/>
        </p:nvPicPr>
        <p:blipFill>
          <a:blip r:embed="rId4">
            <a:alphaModFix/>
          </a:blip>
          <a:stretch>
            <a:fillRect/>
          </a:stretch>
        </p:blipFill>
        <p:spPr>
          <a:xfrm>
            <a:off x="937450" y="1905550"/>
            <a:ext cx="3510420" cy="2971251"/>
          </a:xfrm>
          <a:prstGeom prst="rect">
            <a:avLst/>
          </a:prstGeom>
          <a:noFill/>
          <a:ln>
            <a:noFill/>
          </a:ln>
        </p:spPr>
      </p:pic>
      <p:graphicFrame>
        <p:nvGraphicFramePr>
          <p:cNvPr id="618" name="Google Shape;618;p40"/>
          <p:cNvGraphicFramePr/>
          <p:nvPr/>
        </p:nvGraphicFramePr>
        <p:xfrm>
          <a:off x="5390875" y="1643088"/>
          <a:ext cx="3000000" cy="3000000"/>
        </p:xfrm>
        <a:graphic>
          <a:graphicData uri="http://schemas.openxmlformats.org/drawingml/2006/table">
            <a:tbl>
              <a:tblPr>
                <a:noFill/>
                <a:tableStyleId>{89043D2A-02A2-4C3A-B289-3E6D6C1B2619}</a:tableStyleId>
              </a:tblPr>
              <a:tblGrid>
                <a:gridCol w="382900"/>
                <a:gridCol w="382900"/>
                <a:gridCol w="382900"/>
                <a:gridCol w="382900"/>
              </a:tblGrid>
              <a:tr h="211175">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24" name="Google Shape;624;p4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25" name="Google Shape;625;p4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26" name="Google Shape;626;p41"/>
          <p:cNvSpPr txBox="1"/>
          <p:nvPr/>
        </p:nvSpPr>
        <p:spPr>
          <a:xfrm>
            <a:off x="256650" y="972850"/>
            <a:ext cx="8428500" cy="6834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200"/>
              </a:spcBef>
              <a:spcAft>
                <a:spcPts val="0"/>
              </a:spcAft>
              <a:buClr>
                <a:srgbClr val="C00000"/>
              </a:buClr>
              <a:buSzPts val="1800"/>
              <a:buFont typeface="Lexend"/>
              <a:buChar char="●"/>
            </a:pPr>
            <a:r>
              <a:rPr lang="en" sz="1800">
                <a:solidFill>
                  <a:srgbClr val="C00000"/>
                </a:solidFill>
                <a:latin typeface="Lexend"/>
                <a:ea typeface="Lexend"/>
                <a:cs typeface="Lexend"/>
                <a:sym typeface="Lexend"/>
              </a:rPr>
              <a:t>Another implementation of an 8-to-1 multiplexer using smaller multiplexers (four 2x1 and one 4x1):</a:t>
            </a:r>
            <a:endParaRPr sz="1800">
              <a:solidFill>
                <a:srgbClr val="C00000"/>
              </a:solidFill>
              <a:latin typeface="Lexend"/>
              <a:ea typeface="Lexend"/>
              <a:cs typeface="Lexend"/>
              <a:sym typeface="Lexend"/>
            </a:endParaRPr>
          </a:p>
        </p:txBody>
      </p:sp>
      <p:grpSp>
        <p:nvGrpSpPr>
          <p:cNvPr id="627" name="Google Shape;627;p41"/>
          <p:cNvGrpSpPr/>
          <p:nvPr/>
        </p:nvGrpSpPr>
        <p:grpSpPr>
          <a:xfrm>
            <a:off x="50480" y="122879"/>
            <a:ext cx="277873" cy="68400"/>
            <a:chOff x="411700" y="2416840"/>
            <a:chExt cx="277873" cy="68400"/>
          </a:xfrm>
        </p:grpSpPr>
        <p:sp>
          <p:nvSpPr>
            <p:cNvPr id="628" name="Google Shape;628;p4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4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4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31" name="Google Shape;631;p4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32" name="Google Shape;632;p4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33" name="Google Shape;633;p4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34" name="Google Shape;634;p41"/>
          <p:cNvGraphicFramePr/>
          <p:nvPr/>
        </p:nvGraphicFramePr>
        <p:xfrm>
          <a:off x="5390875" y="1643088"/>
          <a:ext cx="3000000" cy="3000000"/>
        </p:xfrm>
        <a:graphic>
          <a:graphicData uri="http://schemas.openxmlformats.org/drawingml/2006/table">
            <a:tbl>
              <a:tblPr>
                <a:noFill/>
                <a:tableStyleId>{89043D2A-02A2-4C3A-B289-3E6D6C1B2619}</a:tableStyleId>
              </a:tblPr>
              <a:tblGrid>
                <a:gridCol w="382900"/>
                <a:gridCol w="382900"/>
                <a:gridCol w="382900"/>
                <a:gridCol w="382900"/>
              </a:tblGrid>
              <a:tr h="211175">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2</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1</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S</a:t>
                      </a:r>
                      <a:r>
                        <a:rPr b="1" baseline="-25000" lang="en" sz="1500">
                          <a:solidFill>
                            <a:schemeClr val="dk1"/>
                          </a:solidFill>
                          <a:latin typeface="Lexend"/>
                          <a:ea typeface="Lexend"/>
                          <a:cs typeface="Lexend"/>
                          <a:sym typeface="Lexend"/>
                        </a:rPr>
                        <a:t>0</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1500">
                          <a:solidFill>
                            <a:schemeClr val="dk1"/>
                          </a:solidFill>
                          <a:latin typeface="Lexend"/>
                          <a:ea typeface="Lexend"/>
                          <a:cs typeface="Lexend"/>
                          <a:sym typeface="Lexend"/>
                        </a:rPr>
                        <a:t>Y</a:t>
                      </a:r>
                      <a:endParaRPr b="1"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2</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3</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0</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4</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5</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FF0000"/>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0</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6</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217500">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1</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None/>
                      </a:pPr>
                      <a:r>
                        <a:rPr lang="en" sz="1300">
                          <a:solidFill>
                            <a:schemeClr val="dk1"/>
                          </a:solidFill>
                          <a:latin typeface="Lexend Medium"/>
                          <a:ea typeface="Lexend Medium"/>
                          <a:cs typeface="Lexend Medium"/>
                          <a:sym typeface="Lexend Medium"/>
                        </a:rPr>
                        <a:t>1</a:t>
                      </a:r>
                      <a:endParaRPr i="0" sz="1300" u="none">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100"/>
                        <a:buFont typeface="Arial"/>
                        <a:buNone/>
                      </a:pPr>
                      <a:r>
                        <a:rPr lang="en" sz="1300">
                          <a:solidFill>
                            <a:schemeClr val="dk1"/>
                          </a:solidFill>
                          <a:latin typeface="Lexend Medium"/>
                          <a:ea typeface="Lexend Medium"/>
                          <a:cs typeface="Lexend Medium"/>
                          <a:sym typeface="Lexend Medium"/>
                        </a:rPr>
                        <a:t>I</a:t>
                      </a:r>
                      <a:r>
                        <a:rPr baseline="-25000" lang="en" sz="1300">
                          <a:solidFill>
                            <a:schemeClr val="dk1"/>
                          </a:solidFill>
                          <a:latin typeface="Lexend Medium"/>
                          <a:ea typeface="Lexend Medium"/>
                          <a:cs typeface="Lexend Medium"/>
                          <a:sym typeface="Lexend Medium"/>
                        </a:rPr>
                        <a:t>7</a:t>
                      </a:r>
                      <a:endParaRPr sz="1300">
                        <a:solidFill>
                          <a:schemeClr val="dk1"/>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pic>
        <p:nvPicPr>
          <p:cNvPr id="635" name="Google Shape;635;p41"/>
          <p:cNvPicPr preferRelativeResize="0"/>
          <p:nvPr/>
        </p:nvPicPr>
        <p:blipFill>
          <a:blip r:embed="rId4">
            <a:alphaModFix/>
          </a:blip>
          <a:stretch>
            <a:fillRect/>
          </a:stretch>
        </p:blipFill>
        <p:spPr>
          <a:xfrm>
            <a:off x="741525" y="1631425"/>
            <a:ext cx="3705175" cy="3188724"/>
          </a:xfrm>
          <a:prstGeom prst="rect">
            <a:avLst/>
          </a:prstGeom>
          <a:noFill/>
          <a:ln>
            <a:noFill/>
          </a:ln>
        </p:spPr>
      </p:pic>
      <p:sp>
        <p:nvSpPr>
          <p:cNvPr id="636" name="Google Shape;636;p41"/>
          <p:cNvSpPr/>
          <p:nvPr/>
        </p:nvSpPr>
        <p:spPr>
          <a:xfrm>
            <a:off x="4283850" y="4539600"/>
            <a:ext cx="4188600" cy="337200"/>
          </a:xfrm>
          <a:prstGeom prst="wedgeRoundRectCallout">
            <a:avLst>
              <a:gd fmla="val 11276" name="adj1"/>
              <a:gd fmla="val -80531"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rgbClr val="008000"/>
                </a:solidFill>
                <a:latin typeface="Lexend"/>
                <a:ea typeface="Lexend"/>
                <a:cs typeface="Lexend"/>
                <a:sym typeface="Lexend"/>
              </a:rPr>
              <a:t>Q: Can we use only 2:1 multiplexers?</a:t>
            </a:r>
            <a:endParaRPr sz="1700">
              <a:solidFill>
                <a:srgbClr val="008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42" name="Google Shape;642;p42"/>
          <p:cNvPicPr preferRelativeResize="0"/>
          <p:nvPr/>
        </p:nvPicPr>
        <p:blipFill rotWithShape="1">
          <a:blip r:embed="rId3">
            <a:alphaModFix/>
          </a:blip>
          <a:srcRect b="0" l="0" r="0" t="0"/>
          <a:stretch/>
        </p:blipFill>
        <p:spPr>
          <a:xfrm>
            <a:off x="4192682" y="647302"/>
            <a:ext cx="4748295" cy="4284850"/>
          </a:xfrm>
          <a:prstGeom prst="rect">
            <a:avLst/>
          </a:prstGeom>
          <a:noFill/>
          <a:ln>
            <a:noFill/>
          </a:ln>
        </p:spPr>
      </p:pic>
      <p:pic>
        <p:nvPicPr>
          <p:cNvPr id="643" name="Google Shape;643;p42"/>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644" name="Google Shape;644;p4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45" name="Google Shape;645;p42"/>
          <p:cNvSpPr txBox="1"/>
          <p:nvPr/>
        </p:nvSpPr>
        <p:spPr>
          <a:xfrm>
            <a:off x="256650" y="972850"/>
            <a:ext cx="8428500" cy="837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Q: Can we use only</a:t>
            </a:r>
            <a:endParaRPr sz="1800">
              <a:solidFill>
                <a:srgbClr val="C00000"/>
              </a:solidFill>
              <a:latin typeface="Lexend"/>
              <a:ea typeface="Lexend"/>
              <a:cs typeface="Lexend"/>
              <a:sym typeface="Lexend"/>
            </a:endParaRPr>
          </a:p>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 2:1 multiplexers?</a:t>
            </a:r>
            <a:endParaRPr sz="1800">
              <a:solidFill>
                <a:srgbClr val="C00000"/>
              </a:solidFill>
              <a:latin typeface="Lexend"/>
              <a:ea typeface="Lexend"/>
              <a:cs typeface="Lexend"/>
              <a:sym typeface="Lexend"/>
            </a:endParaRPr>
          </a:p>
        </p:txBody>
      </p:sp>
      <p:grpSp>
        <p:nvGrpSpPr>
          <p:cNvPr id="646" name="Google Shape;646;p42"/>
          <p:cNvGrpSpPr/>
          <p:nvPr/>
        </p:nvGrpSpPr>
        <p:grpSpPr>
          <a:xfrm>
            <a:off x="50480" y="122879"/>
            <a:ext cx="277873" cy="68400"/>
            <a:chOff x="411700" y="2416840"/>
            <a:chExt cx="277873" cy="68400"/>
          </a:xfrm>
        </p:grpSpPr>
        <p:sp>
          <p:nvSpPr>
            <p:cNvPr id="647" name="Google Shape;647;p4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4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4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50" name="Google Shape;650;p4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Larger Multiplexers</a:t>
            </a:r>
            <a:endParaRPr sz="3600">
              <a:solidFill>
                <a:schemeClr val="dk1"/>
              </a:solidFill>
              <a:latin typeface="Lexend"/>
              <a:ea typeface="Lexend"/>
              <a:cs typeface="Lexend"/>
              <a:sym typeface="Lexend"/>
            </a:endParaRPr>
          </a:p>
        </p:txBody>
      </p:sp>
      <p:sp>
        <p:nvSpPr>
          <p:cNvPr id="651" name="Google Shape;651;p4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52" name="Google Shape;652;p4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8" name="Google Shape;658;p4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59" name="Google Shape;659;p4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60" name="Google Shape;660;p43"/>
          <p:cNvSpPr txBox="1"/>
          <p:nvPr/>
        </p:nvSpPr>
        <p:spPr>
          <a:xfrm>
            <a:off x="256650" y="972850"/>
            <a:ext cx="8428500" cy="4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800">
                <a:solidFill>
                  <a:srgbClr val="C00000"/>
                </a:solidFill>
                <a:latin typeface="Lexend"/>
                <a:ea typeface="Lexend"/>
                <a:cs typeface="Lexend"/>
                <a:sym typeface="Lexend"/>
              </a:rPr>
              <a:t>Q: </a:t>
            </a:r>
            <a:r>
              <a:rPr lang="en" sz="1800">
                <a:solidFill>
                  <a:srgbClr val="C00000"/>
                </a:solidFill>
                <a:latin typeface="Lexend"/>
                <a:ea typeface="Lexend"/>
                <a:cs typeface="Lexend"/>
                <a:sym typeface="Lexend"/>
              </a:rPr>
              <a:t>A 16-to-1 multiplexer can be constructed from only 4-to-1 multiplexers:</a:t>
            </a:r>
            <a:endParaRPr sz="1800">
              <a:solidFill>
                <a:srgbClr val="C00000"/>
              </a:solidFill>
              <a:latin typeface="Lexend"/>
              <a:ea typeface="Lexend"/>
              <a:cs typeface="Lexend"/>
              <a:sym typeface="Lexend"/>
            </a:endParaRPr>
          </a:p>
        </p:txBody>
      </p:sp>
      <p:grpSp>
        <p:nvGrpSpPr>
          <p:cNvPr id="661" name="Google Shape;661;p43"/>
          <p:cNvGrpSpPr/>
          <p:nvPr/>
        </p:nvGrpSpPr>
        <p:grpSpPr>
          <a:xfrm>
            <a:off x="50480" y="122879"/>
            <a:ext cx="277873" cy="68400"/>
            <a:chOff x="411700" y="2416840"/>
            <a:chExt cx="277873" cy="68400"/>
          </a:xfrm>
        </p:grpSpPr>
        <p:sp>
          <p:nvSpPr>
            <p:cNvPr id="662" name="Google Shape;662;p4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4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4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65" name="Google Shape;665;p4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 Larger Multiplexers</a:t>
            </a:r>
            <a:endParaRPr sz="3600">
              <a:solidFill>
                <a:schemeClr val="dk1"/>
              </a:solidFill>
              <a:latin typeface="Lexend"/>
              <a:ea typeface="Lexend"/>
              <a:cs typeface="Lexend"/>
              <a:sym typeface="Lexend"/>
            </a:endParaRPr>
          </a:p>
        </p:txBody>
      </p:sp>
      <p:sp>
        <p:nvSpPr>
          <p:cNvPr id="666" name="Google Shape;666;p4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67" name="Google Shape;667;p4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4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3" name="Google Shape;673;p4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74" name="Google Shape;674;p4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75" name="Google Shape;675;p44"/>
          <p:cNvSpPr txBox="1"/>
          <p:nvPr/>
        </p:nvSpPr>
        <p:spPr>
          <a:xfrm>
            <a:off x="256650" y="972850"/>
            <a:ext cx="8428500" cy="116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Encoder is a digital function that produces a </a:t>
            </a:r>
            <a:r>
              <a:rPr lang="en" sz="2000">
                <a:solidFill>
                  <a:srgbClr val="FF0000"/>
                </a:solidFill>
                <a:latin typeface="Lexend"/>
                <a:ea typeface="Lexend"/>
                <a:cs typeface="Lexend"/>
                <a:sym typeface="Lexend"/>
              </a:rPr>
              <a:t>reverse </a:t>
            </a:r>
            <a:r>
              <a:rPr lang="en" sz="2000">
                <a:solidFill>
                  <a:schemeClr val="dk1"/>
                </a:solidFill>
                <a:latin typeface="Lexend"/>
                <a:ea typeface="Lexend"/>
                <a:cs typeface="Lexend"/>
                <a:sym typeface="Lexend"/>
              </a:rPr>
              <a:t>operation </a:t>
            </a:r>
            <a:r>
              <a:rPr lang="en" sz="2000">
                <a:solidFill>
                  <a:srgbClr val="FF0000"/>
                </a:solidFill>
                <a:latin typeface="Lexend"/>
                <a:ea typeface="Lexend"/>
                <a:cs typeface="Lexend"/>
                <a:sym typeface="Lexend"/>
              </a:rPr>
              <a:t>of a decoder</a:t>
            </a:r>
            <a:r>
              <a:rPr lang="en"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It has 2</a:t>
            </a:r>
            <a:r>
              <a:rPr baseline="30000" lang="en" sz="2000">
                <a:solidFill>
                  <a:schemeClr val="dk1"/>
                </a:solidFill>
                <a:latin typeface="Lexend"/>
                <a:ea typeface="Lexend"/>
                <a:cs typeface="Lexend"/>
                <a:sym typeface="Lexend"/>
              </a:rPr>
              <a:t>n</a:t>
            </a:r>
            <a:r>
              <a:rPr lang="en" sz="2000">
                <a:solidFill>
                  <a:schemeClr val="dk1"/>
                </a:solidFill>
                <a:latin typeface="Lexend"/>
                <a:ea typeface="Lexend"/>
                <a:cs typeface="Lexend"/>
                <a:sym typeface="Lexend"/>
              </a:rPr>
              <a:t> input lines and n output lines</a:t>
            </a:r>
            <a:endParaRPr sz="2000">
              <a:solidFill>
                <a:schemeClr val="dk1"/>
              </a:solidFill>
              <a:latin typeface="Lexend"/>
              <a:ea typeface="Lexend"/>
              <a:cs typeface="Lexend"/>
              <a:sym typeface="Lexend"/>
            </a:endParaRPr>
          </a:p>
        </p:txBody>
      </p:sp>
      <p:grpSp>
        <p:nvGrpSpPr>
          <p:cNvPr id="676" name="Google Shape;676;p44"/>
          <p:cNvGrpSpPr/>
          <p:nvPr/>
        </p:nvGrpSpPr>
        <p:grpSpPr>
          <a:xfrm>
            <a:off x="50480" y="122879"/>
            <a:ext cx="277873" cy="68400"/>
            <a:chOff x="411700" y="2416840"/>
            <a:chExt cx="277873" cy="68400"/>
          </a:xfrm>
        </p:grpSpPr>
        <p:sp>
          <p:nvSpPr>
            <p:cNvPr id="677" name="Google Shape;677;p4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8" name="Google Shape;678;p4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9" name="Google Shape;679;p4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80" name="Google Shape;680;p4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Encoder</a:t>
            </a:r>
            <a:endParaRPr sz="3600">
              <a:solidFill>
                <a:schemeClr val="dk1"/>
              </a:solidFill>
              <a:latin typeface="Lexend"/>
              <a:ea typeface="Lexend"/>
              <a:cs typeface="Lexend"/>
              <a:sym typeface="Lexend"/>
            </a:endParaRPr>
          </a:p>
        </p:txBody>
      </p:sp>
      <p:sp>
        <p:nvSpPr>
          <p:cNvPr id="681" name="Google Shape;681;p4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82" name="Google Shape;682;p4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683" name="Google Shape;683;p44"/>
          <p:cNvPicPr preferRelativeResize="0"/>
          <p:nvPr/>
        </p:nvPicPr>
        <p:blipFill>
          <a:blip r:embed="rId4">
            <a:alphaModFix/>
          </a:blip>
          <a:stretch>
            <a:fillRect/>
          </a:stretch>
        </p:blipFill>
        <p:spPr>
          <a:xfrm>
            <a:off x="2815825" y="2641575"/>
            <a:ext cx="3512349" cy="1369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9" name="Google Shape;689;p4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690" name="Google Shape;690;p4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691" name="Google Shape;691;p45"/>
          <p:cNvSpPr txBox="1"/>
          <p:nvPr/>
        </p:nvSpPr>
        <p:spPr>
          <a:xfrm>
            <a:off x="6129550" y="3153575"/>
            <a:ext cx="2690100" cy="1323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X = D</a:t>
            </a:r>
            <a:r>
              <a:rPr baseline="-25000" lang="en" sz="2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Y = D</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Z = D</a:t>
            </a:r>
            <a:r>
              <a:rPr baseline="-25000" lang="en" sz="2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a:t>
            </a:r>
            <a:r>
              <a:rPr lang="en" sz="2000">
                <a:solidFill>
                  <a:schemeClr val="dk1"/>
                </a:solidFill>
                <a:latin typeface="Lexend"/>
                <a:ea typeface="Lexend"/>
                <a:cs typeface="Lexend"/>
                <a:sym typeface="Lexend"/>
              </a:rPr>
              <a:t>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grpSp>
        <p:nvGrpSpPr>
          <p:cNvPr id="692" name="Google Shape;692;p45"/>
          <p:cNvGrpSpPr/>
          <p:nvPr/>
        </p:nvGrpSpPr>
        <p:grpSpPr>
          <a:xfrm>
            <a:off x="50480" y="122879"/>
            <a:ext cx="277873" cy="68400"/>
            <a:chOff x="411700" y="2416840"/>
            <a:chExt cx="277873" cy="68400"/>
          </a:xfrm>
        </p:grpSpPr>
        <p:sp>
          <p:nvSpPr>
            <p:cNvPr id="693" name="Google Shape;693;p4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4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4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96" name="Google Shape;696;p45"/>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697" name="Google Shape;697;p4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698" name="Google Shape;698;p4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699" name="Google Shape;699;p45"/>
          <p:cNvGraphicFramePr/>
          <p:nvPr/>
        </p:nvGraphicFramePr>
        <p:xfrm>
          <a:off x="328350" y="1052725"/>
          <a:ext cx="3000000" cy="3000000"/>
        </p:xfrm>
        <a:graphic>
          <a:graphicData uri="http://schemas.openxmlformats.org/drawingml/2006/table">
            <a:tbl>
              <a:tblPr>
                <a:noFill/>
                <a:tableStyleId>{89043D2A-02A2-4C3A-B289-3E6D6C1B2619}</a:tableStyleId>
              </a:tblPr>
              <a:tblGrid>
                <a:gridCol w="468675"/>
                <a:gridCol w="468675"/>
                <a:gridCol w="468675"/>
                <a:gridCol w="468675"/>
                <a:gridCol w="468675"/>
                <a:gridCol w="468675"/>
                <a:gridCol w="543575"/>
                <a:gridCol w="543575"/>
                <a:gridCol w="543575"/>
                <a:gridCol w="543575"/>
                <a:gridCol w="543575"/>
              </a:tblGrid>
              <a:tr h="328825">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a:ea typeface="Lexend"/>
                          <a:cs typeface="Lexend"/>
                          <a:sym typeface="Lexend"/>
                        </a:rPr>
                        <a:t>D</a:t>
                      </a:r>
                      <a:r>
                        <a:rPr baseline="-25000" lang="en" sz="1500">
                          <a:latin typeface="Lexend"/>
                          <a:ea typeface="Lexend"/>
                          <a:cs typeface="Lexend"/>
                          <a:sym typeface="Lexend"/>
                        </a:rPr>
                        <a:t>0</a:t>
                      </a:r>
                      <a:endParaRPr baseline="-25000"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1</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2</a:t>
                      </a:r>
                      <a:endParaRPr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3</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4</a:t>
                      </a:r>
                      <a:endParaRPr sz="1500">
                        <a:solidFill>
                          <a:srgbClr val="00008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5</a:t>
                      </a:r>
                      <a:endParaRPr sz="1500">
                        <a:solidFill>
                          <a:srgbClr val="C0000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6</a:t>
                      </a:r>
                      <a:endParaRPr sz="1500">
                        <a:solidFill>
                          <a:srgbClr val="0000FF"/>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D</a:t>
                      </a:r>
                      <a:r>
                        <a:rPr baseline="-25000" lang="en" sz="1500">
                          <a:solidFill>
                            <a:schemeClr val="dk1"/>
                          </a:solidFill>
                          <a:latin typeface="Lexend"/>
                          <a:ea typeface="Lexend"/>
                          <a:cs typeface="Lexend"/>
                          <a:sym typeface="Lexend"/>
                        </a:rPr>
                        <a:t>7</a:t>
                      </a:r>
                      <a:endParaRPr sz="1500">
                        <a:solidFill>
                          <a:srgbClr val="000080"/>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x</a:t>
                      </a:r>
                      <a:endParaRPr sz="1500">
                        <a:solidFill>
                          <a:srgbClr val="C00000"/>
                        </a:solidFill>
                        <a:latin typeface="Lexend"/>
                        <a:ea typeface="Lexend"/>
                        <a:cs typeface="Lexend"/>
                        <a:sym typeface="Lexend"/>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y</a:t>
                      </a:r>
                      <a:endParaRPr sz="1500">
                        <a:solidFill>
                          <a:srgbClr val="0000FF"/>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500">
                          <a:solidFill>
                            <a:schemeClr val="dk1"/>
                          </a:solidFill>
                          <a:latin typeface="Lexend"/>
                          <a:ea typeface="Lexend"/>
                          <a:cs typeface="Lexend"/>
                          <a:sym typeface="Lexend"/>
                        </a:rPr>
                        <a:t>z</a:t>
                      </a:r>
                      <a:endParaRPr sz="1500">
                        <a:solidFill>
                          <a:schemeClr val="dk1"/>
                        </a:solidFill>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200"/>
                        <a:buFont typeface="Arial"/>
                        <a:buNone/>
                      </a:pPr>
                      <a:r>
                        <a:rPr b="1" lang="en" sz="1500">
                          <a:latin typeface="Lexend"/>
                          <a:ea typeface="Lexend"/>
                          <a:cs typeface="Lexend"/>
                          <a:sym typeface="Lexend"/>
                        </a:rPr>
                        <a:t>1</a:t>
                      </a:r>
                      <a:endParaRPr b="1" sz="1500">
                        <a:latin typeface="Lexend"/>
                        <a:ea typeface="Lexend"/>
                        <a:cs typeface="Lexend"/>
                        <a:sym typeface="Lexend"/>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Arial"/>
                        <a:buNone/>
                      </a:pPr>
                      <a:r>
                        <a:rPr lang="en" sz="1500">
                          <a:solidFill>
                            <a:schemeClr val="dk1"/>
                          </a:solidFill>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r h="338650">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500">
                          <a:latin typeface="Lexend Medium"/>
                          <a:ea typeface="Lexend Medium"/>
                          <a:cs typeface="Lexend Medium"/>
                          <a:sym typeface="Lexend Medium"/>
                        </a:rPr>
                        <a:t>0</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chemeClr val="dk1"/>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200"/>
                        <a:buFont typeface="Arial"/>
                        <a:buNone/>
                      </a:pPr>
                      <a:r>
                        <a:rPr b="1" lang="en" sz="1500">
                          <a:solidFill>
                            <a:schemeClr val="dk1"/>
                          </a:solidFill>
                          <a:latin typeface="Lexend"/>
                          <a:ea typeface="Lexend"/>
                          <a:cs typeface="Lexend"/>
                          <a:sym typeface="Lexend"/>
                        </a:rPr>
                        <a:t>1</a:t>
                      </a:r>
                      <a:endParaRPr sz="1500">
                        <a:solidFill>
                          <a:srgbClr val="0000FF"/>
                        </a:solidFill>
                        <a:latin typeface="Lexend Medium"/>
                        <a:ea typeface="Lexend Medium"/>
                        <a:cs typeface="Lexend Medium"/>
                        <a:sym typeface="Lexend Medium"/>
                      </a:endParaRPr>
                    </a:p>
                  </a:txBody>
                  <a:tcPr marT="45700" marB="45700" marR="91450" marL="91450">
                    <a:lnL cap="flat" cmpd="sng" w="9525">
                      <a:solidFill>
                        <a:srgbClr val="DCDFFE"/>
                      </a:solidFill>
                      <a:prstDash val="solid"/>
                      <a:round/>
                      <a:headEnd len="sm" w="sm" type="none"/>
                      <a:tailEnd len="sm" w="sm" type="none"/>
                    </a:lnL>
                    <a:lnR cap="flat" cmpd="sng" w="9525">
                      <a:solidFill>
                        <a:srgbClr val="DCDFFE"/>
                      </a:solidFill>
                      <a:prstDash val="solid"/>
                      <a:round/>
                      <a:headEnd len="sm" w="sm" type="none"/>
                      <a:tailEnd len="sm" w="sm" type="none"/>
                    </a:lnR>
                    <a:lnT cap="flat" cmpd="sng" w="9525">
                      <a:solidFill>
                        <a:srgbClr val="DCDFFE"/>
                      </a:solidFill>
                      <a:prstDash val="solid"/>
                      <a:round/>
                      <a:headEnd len="sm" w="sm" type="none"/>
                      <a:tailEnd len="sm" w="sm" type="none"/>
                    </a:lnT>
                    <a:lnB cap="flat" cmpd="sng" w="9525">
                      <a:solidFill>
                        <a:srgbClr val="DCDFF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05" name="Google Shape;705;p4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06" name="Google Shape;706;p4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07" name="Google Shape;707;p46"/>
          <p:cNvSpPr txBox="1"/>
          <p:nvPr/>
        </p:nvSpPr>
        <p:spPr>
          <a:xfrm>
            <a:off x="3539275" y="1308300"/>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X = D</a:t>
            </a:r>
            <a:r>
              <a:rPr baseline="-25000" lang="en" sz="2000">
                <a:solidFill>
                  <a:schemeClr val="dk1"/>
                </a:solidFill>
                <a:latin typeface="Lexend"/>
                <a:ea typeface="Lexend"/>
                <a:cs typeface="Lexend"/>
                <a:sym typeface="Lexend"/>
              </a:rPr>
              <a:t>4</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grpSp>
        <p:nvGrpSpPr>
          <p:cNvPr id="708" name="Google Shape;708;p46"/>
          <p:cNvGrpSpPr/>
          <p:nvPr/>
        </p:nvGrpSpPr>
        <p:grpSpPr>
          <a:xfrm>
            <a:off x="50480" y="122879"/>
            <a:ext cx="277873" cy="68400"/>
            <a:chOff x="411700" y="2416840"/>
            <a:chExt cx="277873" cy="68400"/>
          </a:xfrm>
        </p:grpSpPr>
        <p:sp>
          <p:nvSpPr>
            <p:cNvPr id="709" name="Google Shape;709;p4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4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4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12" name="Google Shape;712;p46"/>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Octal-binary encoder</a:t>
            </a:r>
            <a:endParaRPr sz="3600">
              <a:solidFill>
                <a:schemeClr val="dk1"/>
              </a:solidFill>
              <a:latin typeface="Lexend"/>
              <a:ea typeface="Lexend"/>
              <a:cs typeface="Lexend"/>
              <a:sym typeface="Lexend"/>
            </a:endParaRPr>
          </a:p>
        </p:txBody>
      </p:sp>
      <p:sp>
        <p:nvSpPr>
          <p:cNvPr id="713" name="Google Shape;713;p4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14" name="Google Shape;714;p4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715" name="Google Shape;715;p46"/>
          <p:cNvPicPr preferRelativeResize="0"/>
          <p:nvPr/>
        </p:nvPicPr>
        <p:blipFill>
          <a:blip r:embed="rId4">
            <a:alphaModFix/>
          </a:blip>
          <a:stretch>
            <a:fillRect/>
          </a:stretch>
        </p:blipFill>
        <p:spPr>
          <a:xfrm>
            <a:off x="328350" y="928450"/>
            <a:ext cx="3288650" cy="3620426"/>
          </a:xfrm>
          <a:prstGeom prst="rect">
            <a:avLst/>
          </a:prstGeom>
          <a:noFill/>
          <a:ln>
            <a:noFill/>
          </a:ln>
        </p:spPr>
      </p:pic>
      <p:sp>
        <p:nvSpPr>
          <p:cNvPr id="716" name="Google Shape;716;p46"/>
          <p:cNvSpPr txBox="1"/>
          <p:nvPr/>
        </p:nvSpPr>
        <p:spPr>
          <a:xfrm>
            <a:off x="3539275" y="3566225"/>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Z = D</a:t>
            </a:r>
            <a:r>
              <a:rPr baseline="-25000" lang="en" sz="2000">
                <a:solidFill>
                  <a:schemeClr val="dk1"/>
                </a:solidFill>
                <a:latin typeface="Lexend"/>
                <a:ea typeface="Lexend"/>
                <a:cs typeface="Lexend"/>
                <a:sym typeface="Lexend"/>
              </a:rPr>
              <a:t>1</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5</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sp>
        <p:nvSpPr>
          <p:cNvPr id="717" name="Google Shape;717;p46"/>
          <p:cNvSpPr txBox="1"/>
          <p:nvPr/>
        </p:nvSpPr>
        <p:spPr>
          <a:xfrm>
            <a:off x="3539275" y="2421375"/>
            <a:ext cx="26901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Y = D</a:t>
            </a:r>
            <a:r>
              <a:rPr baseline="-25000" lang="en" sz="2000">
                <a:solidFill>
                  <a:schemeClr val="dk1"/>
                </a:solidFill>
                <a:latin typeface="Lexend"/>
                <a:ea typeface="Lexend"/>
                <a:cs typeface="Lexend"/>
                <a:sym typeface="Lexend"/>
              </a:rPr>
              <a:t>2</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3</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6</a:t>
            </a:r>
            <a:r>
              <a:rPr lang="en" sz="2000">
                <a:solidFill>
                  <a:schemeClr val="dk1"/>
                </a:solidFill>
                <a:latin typeface="Lexend"/>
                <a:ea typeface="Lexend"/>
                <a:cs typeface="Lexend"/>
                <a:sym typeface="Lexend"/>
              </a:rPr>
              <a:t> + D</a:t>
            </a:r>
            <a:r>
              <a:rPr baseline="-25000" lang="en" sz="2000">
                <a:solidFill>
                  <a:schemeClr val="dk1"/>
                </a:solidFill>
                <a:latin typeface="Lexend"/>
                <a:ea typeface="Lexend"/>
                <a:cs typeface="Lexend"/>
                <a:sym typeface="Lexend"/>
              </a:rPr>
              <a:t>7</a:t>
            </a:r>
            <a:endParaRPr baseline="-25000" sz="2000">
              <a:solidFill>
                <a:schemeClr val="dk1"/>
              </a:solidFill>
              <a:latin typeface="Lexend"/>
              <a:ea typeface="Lexend"/>
              <a:cs typeface="Lexend"/>
              <a:sym typeface="Lexend"/>
            </a:endParaRPr>
          </a:p>
        </p:txBody>
      </p:sp>
      <p:sp>
        <p:nvSpPr>
          <p:cNvPr id="718" name="Google Shape;718;p46"/>
          <p:cNvSpPr txBox="1"/>
          <p:nvPr/>
        </p:nvSpPr>
        <p:spPr>
          <a:xfrm>
            <a:off x="209775" y="4456975"/>
            <a:ext cx="35652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a:solidFill>
                  <a:srgbClr val="674EA7"/>
                </a:solidFill>
                <a:latin typeface="Lexend"/>
                <a:ea typeface="Lexend"/>
                <a:cs typeface="Lexend"/>
                <a:sym typeface="Lexend"/>
              </a:rPr>
              <a:t>Octal to Binary Encoder Logic Diagram</a:t>
            </a:r>
            <a:endParaRPr sz="1100">
              <a:solidFill>
                <a:srgbClr val="674EA7"/>
              </a:solidFill>
              <a:latin typeface="Lexend"/>
              <a:ea typeface="Lexend"/>
              <a:cs typeface="Lexend"/>
              <a:sym typeface="Lexend"/>
            </a:endParaRPr>
          </a:p>
        </p:txBody>
      </p:sp>
      <p:sp>
        <p:nvSpPr>
          <p:cNvPr id="719" name="Google Shape;719;p46"/>
          <p:cNvSpPr/>
          <p:nvPr/>
        </p:nvSpPr>
        <p:spPr>
          <a:xfrm>
            <a:off x="4910400" y="4078600"/>
            <a:ext cx="3893100" cy="761700"/>
          </a:xfrm>
          <a:prstGeom prst="wedgeRoundRectCallout">
            <a:avLst>
              <a:gd fmla="val 4981" name="adj1"/>
              <a:gd fmla="val -70672" name="adj2"/>
              <a:gd fmla="val 0" name="adj3"/>
            </a:avLst>
          </a:prstGeom>
          <a:solidFill>
            <a:srgbClr val="00FFFF"/>
          </a:solidFill>
          <a:ln cap="flat" cmpd="sng" w="9525">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8000"/>
                </a:solidFill>
                <a:latin typeface="Lexend"/>
                <a:ea typeface="Lexend"/>
                <a:cs typeface="Lexend"/>
                <a:sym typeface="Lexend"/>
              </a:rPr>
              <a:t>There are 8 input variables so there will be 256  input combination, amongst which in Octal-binary </a:t>
            </a:r>
            <a:r>
              <a:rPr lang="en" sz="1300">
                <a:solidFill>
                  <a:srgbClr val="008000"/>
                </a:solidFill>
                <a:latin typeface="Lexend"/>
                <a:ea typeface="Lexend"/>
                <a:cs typeface="Lexend"/>
                <a:sym typeface="Lexend"/>
              </a:rPr>
              <a:t>e</a:t>
            </a:r>
            <a:r>
              <a:rPr lang="en" sz="1300">
                <a:solidFill>
                  <a:srgbClr val="008000"/>
                </a:solidFill>
                <a:latin typeface="Lexend"/>
                <a:ea typeface="Lexend"/>
                <a:cs typeface="Lexend"/>
                <a:sym typeface="Lexend"/>
              </a:rPr>
              <a:t>ncoder only 8 are useful</a:t>
            </a:r>
            <a:endParaRPr sz="1300">
              <a:solidFill>
                <a:srgbClr val="008000"/>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4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25" name="Google Shape;725;p4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26" name="Google Shape;726;p4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27" name="Google Shape;727;p47"/>
          <p:cNvSpPr txBox="1"/>
          <p:nvPr/>
        </p:nvSpPr>
        <p:spPr>
          <a:xfrm>
            <a:off x="256650" y="972850"/>
            <a:ext cx="8428500" cy="35247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Accepts multiple values and encodes them</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Works when more than one input is active</a:t>
            </a:r>
            <a:endParaRPr sz="21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Consists of:</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Inputs (2</a:t>
            </a:r>
            <a:r>
              <a:rPr baseline="30000" lang="en" sz="2100">
                <a:solidFill>
                  <a:schemeClr val="dk1"/>
                </a:solidFill>
                <a:latin typeface="Lexend"/>
                <a:ea typeface="Lexend"/>
                <a:cs typeface="Lexend"/>
                <a:sym typeface="Lexend"/>
              </a:rPr>
              <a:t>n</a:t>
            </a:r>
            <a:r>
              <a:rPr lang="en" sz="2100">
                <a:solidFill>
                  <a:schemeClr val="dk1"/>
                </a:solidFill>
                <a:latin typeface="Lexend"/>
                <a:ea typeface="Lexend"/>
                <a:cs typeface="Lexend"/>
                <a:sym typeface="Lexend"/>
              </a:rPr>
              <a:t>)</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Outputs</a:t>
            </a:r>
            <a:endParaRPr sz="2100">
              <a:solidFill>
                <a:schemeClr val="dk1"/>
              </a:solidFill>
              <a:latin typeface="Lexend"/>
              <a:ea typeface="Lexend"/>
              <a:cs typeface="Lexend"/>
              <a:sym typeface="Lexend"/>
            </a:endParaRPr>
          </a:p>
          <a:p>
            <a:pPr indent="-361950" lvl="2" marL="13716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when more than one output is active, sets output to correspond to highest input</a:t>
            </a:r>
            <a:endParaRPr sz="2100">
              <a:solidFill>
                <a:schemeClr val="dk1"/>
              </a:solidFill>
              <a:latin typeface="Lexend"/>
              <a:ea typeface="Lexend"/>
              <a:cs typeface="Lexend"/>
              <a:sym typeface="Lexend"/>
            </a:endParaRPr>
          </a:p>
          <a:p>
            <a:pPr indent="-361950" lvl="2" marL="13716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V (indicates whether any of the inputs are active). This helps to show the output when all inputs are 0s</a:t>
            </a:r>
            <a:endParaRPr sz="2100">
              <a:solidFill>
                <a:schemeClr val="dk1"/>
              </a:solidFill>
              <a:latin typeface="Lexend"/>
              <a:ea typeface="Lexend"/>
              <a:cs typeface="Lexend"/>
              <a:sym typeface="Lexend"/>
            </a:endParaRPr>
          </a:p>
          <a:p>
            <a:pPr indent="-361950" lvl="1" marL="914400" rtl="0" algn="l">
              <a:lnSpc>
                <a:spcPct val="90000"/>
              </a:lnSpc>
              <a:spcBef>
                <a:spcPts val="0"/>
              </a:spcBef>
              <a:spcAft>
                <a:spcPts val="0"/>
              </a:spcAft>
              <a:buClr>
                <a:schemeClr val="dk1"/>
              </a:buClr>
              <a:buSzPts val="2100"/>
              <a:buFont typeface="Lexend"/>
              <a:buChar char="○"/>
            </a:pPr>
            <a:r>
              <a:rPr lang="en" sz="2100">
                <a:solidFill>
                  <a:schemeClr val="dk1"/>
                </a:solidFill>
                <a:latin typeface="Lexend"/>
                <a:ea typeface="Lexend"/>
                <a:cs typeface="Lexend"/>
                <a:sym typeface="Lexend"/>
              </a:rPr>
              <a:t>Selectors / Enable</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2000">
              <a:solidFill>
                <a:schemeClr val="dk1"/>
              </a:solidFill>
              <a:latin typeface="Lexend"/>
              <a:ea typeface="Lexend"/>
              <a:cs typeface="Lexend"/>
              <a:sym typeface="Lexend"/>
            </a:endParaRPr>
          </a:p>
        </p:txBody>
      </p:sp>
      <p:grpSp>
        <p:nvGrpSpPr>
          <p:cNvPr id="728" name="Google Shape;728;p47"/>
          <p:cNvGrpSpPr/>
          <p:nvPr/>
        </p:nvGrpSpPr>
        <p:grpSpPr>
          <a:xfrm>
            <a:off x="50480" y="122879"/>
            <a:ext cx="277873" cy="68400"/>
            <a:chOff x="411700" y="2416840"/>
            <a:chExt cx="277873" cy="68400"/>
          </a:xfrm>
        </p:grpSpPr>
        <p:sp>
          <p:nvSpPr>
            <p:cNvPr id="729" name="Google Shape;729;p4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p4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4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2" name="Google Shape;732;p47"/>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33" name="Google Shape;733;p4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34" name="Google Shape;734;p4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0" name="Google Shape;740;p4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41" name="Google Shape;741;p4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42" name="Google Shape;742;p48"/>
          <p:cNvSpPr txBox="1"/>
          <p:nvPr/>
        </p:nvSpPr>
        <p:spPr>
          <a:xfrm>
            <a:off x="256650" y="972850"/>
            <a:ext cx="8428500" cy="13482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8x3 encoder in a if user give D2 and D7 together, it will allow data of D7 to pass.</a:t>
            </a:r>
            <a:endParaRPr sz="2100">
              <a:solidFill>
                <a:schemeClr val="dk1"/>
              </a:solidFill>
              <a:latin typeface="Lexend"/>
              <a:ea typeface="Lexend"/>
              <a:cs typeface="Lexend"/>
              <a:sym typeface="Lexend"/>
            </a:endParaRPr>
          </a:p>
        </p:txBody>
      </p:sp>
      <p:grpSp>
        <p:nvGrpSpPr>
          <p:cNvPr id="743" name="Google Shape;743;p48"/>
          <p:cNvGrpSpPr/>
          <p:nvPr/>
        </p:nvGrpSpPr>
        <p:grpSpPr>
          <a:xfrm>
            <a:off x="50480" y="122879"/>
            <a:ext cx="277873" cy="68400"/>
            <a:chOff x="411700" y="2416840"/>
            <a:chExt cx="277873" cy="68400"/>
          </a:xfrm>
        </p:grpSpPr>
        <p:sp>
          <p:nvSpPr>
            <p:cNvPr id="744" name="Google Shape;744;p4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4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4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47" name="Google Shape;747;p4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Priority Encoder</a:t>
            </a:r>
            <a:endParaRPr sz="3600">
              <a:solidFill>
                <a:schemeClr val="dk1"/>
              </a:solidFill>
              <a:latin typeface="Lexend"/>
              <a:ea typeface="Lexend"/>
              <a:cs typeface="Lexend"/>
              <a:sym typeface="Lexend"/>
            </a:endParaRPr>
          </a:p>
        </p:txBody>
      </p:sp>
      <p:sp>
        <p:nvSpPr>
          <p:cNvPr id="748" name="Google Shape;748;p4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49" name="Google Shape;749;p4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4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5" name="Google Shape;755;p4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56" name="Google Shape;756;p4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57" name="Google Shape;757;p49"/>
          <p:cNvSpPr txBox="1"/>
          <p:nvPr/>
        </p:nvSpPr>
        <p:spPr>
          <a:xfrm>
            <a:off x="256650" y="972850"/>
            <a:ext cx="8428500" cy="13482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2100">
                <a:solidFill>
                  <a:schemeClr val="dk1"/>
                </a:solidFill>
                <a:latin typeface="Lexend"/>
                <a:ea typeface="Lexend"/>
                <a:cs typeface="Lexend"/>
                <a:sym typeface="Lexend"/>
              </a:rPr>
              <a:t>Design a priority encoder, which will allow more than one input to exist and encodes only the highest priority input line. For example, 4x2 encoder in a if user give D2 and D3 together, it will allow data of D3 to pass.</a:t>
            </a:r>
            <a:endParaRPr sz="2100">
              <a:solidFill>
                <a:schemeClr val="dk1"/>
              </a:solidFill>
              <a:latin typeface="Lexend"/>
              <a:ea typeface="Lexend"/>
              <a:cs typeface="Lexend"/>
              <a:sym typeface="Lexend"/>
            </a:endParaRPr>
          </a:p>
        </p:txBody>
      </p:sp>
      <p:grpSp>
        <p:nvGrpSpPr>
          <p:cNvPr id="758" name="Google Shape;758;p49"/>
          <p:cNvGrpSpPr/>
          <p:nvPr/>
        </p:nvGrpSpPr>
        <p:grpSpPr>
          <a:xfrm>
            <a:off x="50480" y="122879"/>
            <a:ext cx="277873" cy="68400"/>
            <a:chOff x="411700" y="2416840"/>
            <a:chExt cx="277873" cy="68400"/>
          </a:xfrm>
        </p:grpSpPr>
        <p:sp>
          <p:nvSpPr>
            <p:cNvPr id="759" name="Google Shape;759;p4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0" name="Google Shape;760;p4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4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62" name="Google Shape;762;p49"/>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4x2 Priority Encoder</a:t>
            </a:r>
            <a:endParaRPr sz="3600">
              <a:solidFill>
                <a:schemeClr val="dk1"/>
              </a:solidFill>
              <a:latin typeface="Lexend"/>
              <a:ea typeface="Lexend"/>
              <a:cs typeface="Lexend"/>
              <a:sym typeface="Lexend"/>
            </a:endParaRPr>
          </a:p>
        </p:txBody>
      </p:sp>
      <p:sp>
        <p:nvSpPr>
          <p:cNvPr id="763" name="Google Shape;763;p4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64" name="Google Shape;764;p4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5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70" name="Google Shape;770;p5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71" name="Google Shape;771;p5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772" name="Google Shape;772;p50"/>
          <p:cNvSpPr txBox="1"/>
          <p:nvPr/>
        </p:nvSpPr>
        <p:spPr>
          <a:xfrm>
            <a:off x="256650" y="972850"/>
            <a:ext cx="47214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Designing a 4x2 priority encoder</a:t>
            </a:r>
            <a:endParaRPr sz="2000">
              <a:solidFill>
                <a:schemeClr val="dk1"/>
              </a:solidFill>
              <a:latin typeface="Lexend"/>
              <a:ea typeface="Lexend"/>
              <a:cs typeface="Lexend"/>
              <a:sym typeface="Lexend"/>
            </a:endParaRPr>
          </a:p>
        </p:txBody>
      </p:sp>
      <p:grpSp>
        <p:nvGrpSpPr>
          <p:cNvPr id="773" name="Google Shape;773;p50"/>
          <p:cNvGrpSpPr/>
          <p:nvPr/>
        </p:nvGrpSpPr>
        <p:grpSpPr>
          <a:xfrm>
            <a:off x="50480" y="122879"/>
            <a:ext cx="277873" cy="68400"/>
            <a:chOff x="411700" y="2416840"/>
            <a:chExt cx="277873" cy="68400"/>
          </a:xfrm>
        </p:grpSpPr>
        <p:sp>
          <p:nvSpPr>
            <p:cNvPr id="774" name="Google Shape;774;p5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5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5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77" name="Google Shape;777;p50"/>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78" name="Google Shape;778;p5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779" name="Google Shape;779;p5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aphicFrame>
        <p:nvGraphicFramePr>
          <p:cNvPr id="780" name="Google Shape;780;p50"/>
          <p:cNvGraphicFramePr/>
          <p:nvPr/>
        </p:nvGraphicFramePr>
        <p:xfrm>
          <a:off x="4608225" y="771026"/>
          <a:ext cx="3000000" cy="3000000"/>
        </p:xfrm>
        <a:graphic>
          <a:graphicData uri="http://schemas.openxmlformats.org/drawingml/2006/table">
            <a:tbl>
              <a:tblPr>
                <a:noFill/>
                <a:tableStyleId>{A6579D49-83E5-4EAA-99B0-B4FCA156BC75}</a:tableStyleId>
              </a:tblPr>
              <a:tblGrid>
                <a:gridCol w="485300"/>
                <a:gridCol w="495150"/>
                <a:gridCol w="485950"/>
                <a:gridCol w="485950"/>
                <a:gridCol w="453175"/>
                <a:gridCol w="453175"/>
                <a:gridCol w="485950"/>
              </a:tblGrid>
              <a:tr h="251825">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a:solidFill>
                            <a:schemeClr val="dk1"/>
                          </a:solidFill>
                          <a:latin typeface="Lexend"/>
                          <a:ea typeface="Lexend"/>
                          <a:cs typeface="Lexend"/>
                          <a:sym typeface="Lexend"/>
                        </a:rPr>
                        <a:t>3</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2</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1</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r>
                        <a:rPr b="1" baseline="-25000" lang="en" sz="1100" u="none" cap="none" strike="noStrike">
                          <a:solidFill>
                            <a:schemeClr val="dk1"/>
                          </a:solidFill>
                          <a:latin typeface="Lexend"/>
                          <a:ea typeface="Lexend"/>
                          <a:cs typeface="Lexend"/>
                          <a:sym typeface="Lexend"/>
                        </a:rPr>
                        <a:t>0</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r>
                        <a:rPr b="1" baseline="-25000" lang="en" sz="1100">
                          <a:solidFill>
                            <a:schemeClr val="dk1"/>
                          </a:solidFill>
                          <a:latin typeface="Lexend"/>
                          <a:ea typeface="Lexend"/>
                          <a:cs typeface="Lexend"/>
                          <a:sym typeface="Lexend"/>
                        </a:rPr>
                        <a:t>1</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r>
                        <a:rPr b="1" baseline="-25000" lang="en" sz="1100">
                          <a:solidFill>
                            <a:schemeClr val="dk1"/>
                          </a:solidFill>
                          <a:latin typeface="Lexend"/>
                          <a:ea typeface="Lexend"/>
                          <a:cs typeface="Lexend"/>
                          <a:sym typeface="Lexend"/>
                        </a:rPr>
                        <a:t>0</a:t>
                      </a:r>
                      <a:endParaRPr b="1" baseline="30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V</a:t>
                      </a:r>
                      <a:endParaRPr b="1" baseline="30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X</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X</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413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u="none" cap="none" strike="noStrike">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sp>
        <p:nvSpPr>
          <p:cNvPr id="781" name="Google Shape;781;p50"/>
          <p:cNvSpPr/>
          <p:nvPr/>
        </p:nvSpPr>
        <p:spPr>
          <a:xfrm>
            <a:off x="5128450" y="2675150"/>
            <a:ext cx="2026200" cy="304800"/>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782" name="Google Shape;782;p50"/>
          <p:cNvCxnSpPr>
            <a:stCxn id="781" idx="2"/>
            <a:endCxn id="783" idx="3"/>
          </p:cNvCxnSpPr>
          <p:nvPr/>
        </p:nvCxnSpPr>
        <p:spPr>
          <a:xfrm rot="10800000">
            <a:off x="3212050" y="2571650"/>
            <a:ext cx="1916400" cy="255900"/>
          </a:xfrm>
          <a:prstGeom prst="straightConnector1">
            <a:avLst/>
          </a:prstGeom>
          <a:noFill/>
          <a:ln cap="flat" cmpd="sng" w="9525">
            <a:solidFill>
              <a:srgbClr val="5B9BD5"/>
            </a:solidFill>
            <a:prstDash val="solid"/>
            <a:miter lim="800000"/>
            <a:headEnd len="sm" w="sm" type="none"/>
            <a:tailEnd len="med" w="med" type="triangle"/>
          </a:ln>
        </p:spPr>
      </p:cxnSp>
      <p:sp>
        <p:nvSpPr>
          <p:cNvPr id="783" name="Google Shape;783;p50"/>
          <p:cNvSpPr/>
          <p:nvPr/>
        </p:nvSpPr>
        <p:spPr>
          <a:xfrm>
            <a:off x="849725" y="1847850"/>
            <a:ext cx="2362200" cy="1447800"/>
          </a:xfrm>
          <a:prstGeom prst="roundRect">
            <a:avLst>
              <a:gd fmla="val 16667" name="adj"/>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i="0" lang="en" sz="1600" u="none" cap="none" strike="noStrike">
                <a:solidFill>
                  <a:srgbClr val="FFFFFF"/>
                </a:solidFill>
                <a:latin typeface="Lexend"/>
                <a:ea typeface="Lexend"/>
                <a:cs typeface="Lexend"/>
                <a:sym typeface="Lexend"/>
              </a:rPr>
              <a:t>Note: Amongst all 3 input, D</a:t>
            </a:r>
            <a:r>
              <a:rPr baseline="-25000" i="0" lang="en" sz="1600" u="none" cap="none" strike="noStrike">
                <a:solidFill>
                  <a:srgbClr val="FFFFFF"/>
                </a:solidFill>
                <a:latin typeface="Lexend"/>
                <a:ea typeface="Lexend"/>
                <a:cs typeface="Lexend"/>
                <a:sym typeface="Lexend"/>
              </a:rPr>
              <a:t>2</a:t>
            </a:r>
            <a:r>
              <a:rPr i="0" lang="en" sz="1600" u="none" cap="none" strike="noStrike">
                <a:solidFill>
                  <a:srgbClr val="FFFFFF"/>
                </a:solidFill>
                <a:latin typeface="Lexend"/>
                <a:ea typeface="Lexend"/>
                <a:cs typeface="Lexend"/>
                <a:sym typeface="Lexend"/>
              </a:rPr>
              <a:t> is highest so output reflects the binary value of 2</a:t>
            </a:r>
            <a:endParaRPr i="0" sz="1400" u="none" cap="none" strike="noStrike">
              <a:solidFill>
                <a:srgbClr val="000000"/>
              </a:solidFill>
              <a:latin typeface="Lexend"/>
              <a:ea typeface="Lexend"/>
              <a:cs typeface="Lexend"/>
              <a:sym typeface="Lexend"/>
            </a:endParaRPr>
          </a:p>
        </p:txBody>
      </p:sp>
      <p:cxnSp>
        <p:nvCxnSpPr>
          <p:cNvPr id="784" name="Google Shape;784;p50"/>
          <p:cNvCxnSpPr/>
          <p:nvPr/>
        </p:nvCxnSpPr>
        <p:spPr>
          <a:xfrm rot="10800000">
            <a:off x="7737763" y="887200"/>
            <a:ext cx="633300" cy="378000"/>
          </a:xfrm>
          <a:prstGeom prst="straightConnector1">
            <a:avLst/>
          </a:prstGeom>
          <a:noFill/>
          <a:ln cap="flat" cmpd="sng" w="9525">
            <a:solidFill>
              <a:srgbClr val="5B9BD5"/>
            </a:solidFill>
            <a:prstDash val="solid"/>
            <a:miter lim="800000"/>
            <a:headEnd len="sm" w="sm" type="none"/>
            <a:tailEnd len="med" w="med" type="triangle"/>
          </a:ln>
        </p:spPr>
      </p:cxnSp>
      <p:sp>
        <p:nvSpPr>
          <p:cNvPr id="785" name="Google Shape;785;p50"/>
          <p:cNvSpPr/>
          <p:nvPr/>
        </p:nvSpPr>
        <p:spPr>
          <a:xfrm>
            <a:off x="8068675" y="1265200"/>
            <a:ext cx="952500" cy="2966700"/>
          </a:xfrm>
          <a:prstGeom prst="roundRect">
            <a:avLst>
              <a:gd fmla="val 8685" name="adj"/>
            </a:avLst>
          </a:prstGeom>
          <a:solidFill>
            <a:srgbClr val="5B9BD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i="0" lang="en" u="none" cap="none" strike="noStrike">
                <a:solidFill>
                  <a:srgbClr val="FFFFFF"/>
                </a:solidFill>
                <a:latin typeface="Lexend"/>
                <a:ea typeface="Lexend"/>
                <a:cs typeface="Lexend"/>
                <a:sym typeface="Lexend"/>
              </a:rPr>
              <a:t>Note: V is not really an output, just shows whether there is an active input or not.</a:t>
            </a:r>
            <a:endParaRPr i="0" sz="1600" u="none" cap="none" strike="noStrike">
              <a:solidFill>
                <a:srgbClr val="000000"/>
              </a:solidFill>
              <a:latin typeface="Lexend"/>
              <a:ea typeface="Lexend"/>
              <a:cs typeface="Lexend"/>
              <a:sym typeface="Lexend"/>
            </a:endParaRPr>
          </a:p>
        </p:txBody>
      </p:sp>
      <p:sp>
        <p:nvSpPr>
          <p:cNvPr id="786" name="Google Shape;786;p50"/>
          <p:cNvSpPr txBox="1"/>
          <p:nvPr/>
        </p:nvSpPr>
        <p:spPr>
          <a:xfrm>
            <a:off x="50475" y="3436100"/>
            <a:ext cx="4356000" cy="1199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700">
                <a:solidFill>
                  <a:schemeClr val="dk1"/>
                </a:solidFill>
                <a:latin typeface="Lexend"/>
                <a:ea typeface="Lexend"/>
                <a:cs typeface="Lexend"/>
                <a:sym typeface="Lexend"/>
              </a:rPr>
              <a:t>From the truth table</a:t>
            </a:r>
            <a:endParaRPr sz="17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5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2" name="Google Shape;792;p5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793" name="Google Shape;793;p5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794" name="Google Shape;794;p51"/>
          <p:cNvGrpSpPr/>
          <p:nvPr/>
        </p:nvGrpSpPr>
        <p:grpSpPr>
          <a:xfrm>
            <a:off x="50480" y="122879"/>
            <a:ext cx="277873" cy="68400"/>
            <a:chOff x="411700" y="2416840"/>
            <a:chExt cx="277873" cy="68400"/>
          </a:xfrm>
        </p:grpSpPr>
        <p:sp>
          <p:nvSpPr>
            <p:cNvPr id="795" name="Google Shape;795;p5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5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7" name="Google Shape;797;p5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98" name="Google Shape;798;p51"/>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799" name="Google Shape;799;p5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00" name="Google Shape;800;p5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801" name="Google Shape;801;p51"/>
          <p:cNvSpPr txBox="1"/>
          <p:nvPr/>
        </p:nvSpPr>
        <p:spPr>
          <a:xfrm>
            <a:off x="209775" y="801150"/>
            <a:ext cx="4356000" cy="809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∑(4,5,6,7,8,9,10,11,12,13,14,15) + d(0)</a:t>
            </a:r>
            <a:endParaRPr sz="16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700">
                <a:solidFill>
                  <a:srgbClr val="292929"/>
                </a:solidFill>
                <a:latin typeface="Lexend"/>
                <a:ea typeface="Lexend"/>
                <a:cs typeface="Lexend"/>
                <a:sym typeface="Lexend"/>
              </a:rPr>
              <a:t>∑(2,3,8,9,10,11,12,13,14,15) + d(0)</a:t>
            </a:r>
            <a:endParaRPr sz="1600">
              <a:solidFill>
                <a:schemeClr val="dk1"/>
              </a:solidFill>
              <a:latin typeface="Lexend"/>
              <a:ea typeface="Lexend"/>
              <a:cs typeface="Lexend"/>
              <a:sym typeface="Lexend"/>
            </a:endParaRPr>
          </a:p>
        </p:txBody>
      </p:sp>
      <p:sp>
        <p:nvSpPr>
          <p:cNvPr id="802" name="Google Shape;802;p51"/>
          <p:cNvSpPr txBox="1"/>
          <p:nvPr/>
        </p:nvSpPr>
        <p:spPr>
          <a:xfrm>
            <a:off x="427850" y="1977600"/>
            <a:ext cx="63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03" name="Google Shape;803;p51"/>
          <p:cNvGraphicFramePr/>
          <p:nvPr/>
        </p:nvGraphicFramePr>
        <p:xfrm>
          <a:off x="1312975" y="2221100"/>
          <a:ext cx="3000000" cy="3000000"/>
        </p:xfrm>
        <a:graphic>
          <a:graphicData uri="http://schemas.openxmlformats.org/drawingml/2006/table">
            <a:tbl>
              <a:tblPr>
                <a:noFill/>
                <a:tableStyleId>{4B89442D-220A-4500-B633-C9F5DED07BAD}</a:tableStyleId>
              </a:tblPr>
              <a:tblGrid>
                <a:gridCol w="450900"/>
                <a:gridCol w="450900"/>
                <a:gridCol w="450900"/>
                <a:gridCol w="450900"/>
              </a:tblGrid>
              <a:tr h="423300">
                <a:tc>
                  <a:txBody>
                    <a:bodyPr/>
                    <a:lstStyle/>
                    <a:p>
                      <a:pPr indent="0" lvl="0" marL="0" rtl="0" algn="ctr">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58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bl>
          </a:graphicData>
        </a:graphic>
      </p:graphicFrame>
      <p:cxnSp>
        <p:nvCxnSpPr>
          <p:cNvPr id="804" name="Google Shape;804;p51"/>
          <p:cNvCxnSpPr/>
          <p:nvPr/>
        </p:nvCxnSpPr>
        <p:spPr>
          <a:xfrm rot="10800000">
            <a:off x="934979" y="1847688"/>
            <a:ext cx="378000" cy="378000"/>
          </a:xfrm>
          <a:prstGeom prst="straightConnector1">
            <a:avLst/>
          </a:prstGeom>
          <a:noFill/>
          <a:ln cap="flat" cmpd="sng" w="19050">
            <a:solidFill>
              <a:srgbClr val="DCDFFE"/>
            </a:solidFill>
            <a:prstDash val="solid"/>
            <a:round/>
            <a:headEnd len="med" w="med" type="none"/>
            <a:tailEnd len="med" w="med" type="none"/>
          </a:ln>
        </p:spPr>
      </p:cxnSp>
      <p:sp>
        <p:nvSpPr>
          <p:cNvPr id="805" name="Google Shape;805;p51"/>
          <p:cNvSpPr txBox="1"/>
          <p:nvPr/>
        </p:nvSpPr>
        <p:spPr>
          <a:xfrm>
            <a:off x="1023625" y="1667338"/>
            <a:ext cx="7065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a:solidFill>
                <a:srgbClr val="292929"/>
              </a:solidFill>
              <a:latin typeface="Lexend"/>
              <a:ea typeface="Lexend"/>
              <a:cs typeface="Lexend"/>
              <a:sym typeface="Lexend"/>
            </a:endParaRPr>
          </a:p>
        </p:txBody>
      </p:sp>
      <p:sp>
        <p:nvSpPr>
          <p:cNvPr id="806" name="Google Shape;806;p51"/>
          <p:cNvSpPr txBox="1"/>
          <p:nvPr/>
        </p:nvSpPr>
        <p:spPr>
          <a:xfrm>
            <a:off x="1358923" y="1919000"/>
            <a:ext cx="175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07" name="Google Shape;807;p51"/>
          <p:cNvSpPr txBox="1"/>
          <p:nvPr/>
        </p:nvSpPr>
        <p:spPr>
          <a:xfrm>
            <a:off x="2521126" y="1619250"/>
            <a:ext cx="765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08" name="Google Shape;808;p51"/>
          <p:cNvSpPr/>
          <p:nvPr/>
        </p:nvSpPr>
        <p:spPr>
          <a:xfrm rot="5400000">
            <a:off x="2589675" y="1525122"/>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9" name="Google Shape;809;p51"/>
          <p:cNvSpPr txBox="1"/>
          <p:nvPr/>
        </p:nvSpPr>
        <p:spPr>
          <a:xfrm>
            <a:off x="3224154" y="2926300"/>
            <a:ext cx="5487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10" name="Google Shape;810;p51"/>
          <p:cNvSpPr/>
          <p:nvPr/>
        </p:nvSpPr>
        <p:spPr>
          <a:xfrm rot="10800000">
            <a:off x="3146325" y="2660458"/>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1" name="Google Shape;811;p51"/>
          <p:cNvSpPr txBox="1"/>
          <p:nvPr/>
        </p:nvSpPr>
        <p:spPr>
          <a:xfrm>
            <a:off x="2015475" y="4080200"/>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12" name="Google Shape;812;p51"/>
          <p:cNvSpPr/>
          <p:nvPr/>
        </p:nvSpPr>
        <p:spPr>
          <a:xfrm rot="-5400000">
            <a:off x="2144425" y="3574697"/>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3" name="Google Shape;813;p51"/>
          <p:cNvSpPr txBox="1"/>
          <p:nvPr/>
        </p:nvSpPr>
        <p:spPr>
          <a:xfrm>
            <a:off x="579029" y="3355875"/>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14" name="Google Shape;814;p51"/>
          <p:cNvSpPr txBox="1"/>
          <p:nvPr/>
        </p:nvSpPr>
        <p:spPr>
          <a:xfrm>
            <a:off x="996170" y="2280550"/>
            <a:ext cx="378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15" name="Google Shape;815;p51"/>
          <p:cNvSpPr/>
          <p:nvPr/>
        </p:nvSpPr>
        <p:spPr>
          <a:xfrm>
            <a:off x="986345" y="3085047"/>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51"/>
          <p:cNvSpPr txBox="1"/>
          <p:nvPr/>
        </p:nvSpPr>
        <p:spPr>
          <a:xfrm>
            <a:off x="5127450" y="2042925"/>
            <a:ext cx="63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baseline="-25000">
              <a:latin typeface="Lexend"/>
              <a:ea typeface="Lexend"/>
              <a:cs typeface="Lexend"/>
              <a:sym typeface="Lexend"/>
            </a:endParaRPr>
          </a:p>
        </p:txBody>
      </p:sp>
      <p:graphicFrame>
        <p:nvGraphicFramePr>
          <p:cNvPr id="817" name="Google Shape;817;p51"/>
          <p:cNvGraphicFramePr/>
          <p:nvPr/>
        </p:nvGraphicFramePr>
        <p:xfrm>
          <a:off x="6012575" y="2286425"/>
          <a:ext cx="3000000" cy="3000000"/>
        </p:xfrm>
        <a:graphic>
          <a:graphicData uri="http://schemas.openxmlformats.org/drawingml/2006/table">
            <a:tbl>
              <a:tblPr>
                <a:noFill/>
                <a:tableStyleId>{4B89442D-220A-4500-B633-C9F5DED07BAD}</a:tableStyleId>
              </a:tblPr>
              <a:tblGrid>
                <a:gridCol w="450900"/>
                <a:gridCol w="450900"/>
                <a:gridCol w="450900"/>
                <a:gridCol w="450900"/>
              </a:tblGrid>
              <a:tr h="423300">
                <a:tc>
                  <a:txBody>
                    <a:bodyPr/>
                    <a:lstStyle/>
                    <a:p>
                      <a:pPr indent="0" lvl="0" marL="0" rtl="0" algn="ctr">
                        <a:spcBef>
                          <a:spcPts val="0"/>
                        </a:spcBef>
                        <a:spcAft>
                          <a:spcPts val="0"/>
                        </a:spcAft>
                        <a:buNone/>
                      </a:pPr>
                      <a:r>
                        <a:rPr lang="en" sz="1800">
                          <a:latin typeface="Lexend"/>
                          <a:ea typeface="Lexend"/>
                          <a:cs typeface="Lexend"/>
                          <a:sym typeface="Lexend"/>
                        </a:rPr>
                        <a:t>X</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33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r h="425800">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800">
                          <a:latin typeface="Lexend"/>
                          <a:ea typeface="Lexend"/>
                          <a:cs typeface="Lexend"/>
                          <a:sym typeface="Lexend"/>
                        </a:rPr>
                        <a:t>1</a:t>
                      </a:r>
                      <a:endParaRPr sz="1800">
                        <a:latin typeface="Lexend"/>
                        <a:ea typeface="Lexend"/>
                        <a:cs typeface="Lexend"/>
                        <a:sym typeface="Lexend"/>
                      </a:endParaRPr>
                    </a:p>
                  </a:txBody>
                  <a:tcPr marT="34275" marB="34275" marR="68575" marL="68575" anchor="ctr">
                    <a:lnL cap="flat" cmpd="sng" w="19050">
                      <a:solidFill>
                        <a:srgbClr val="DCDFFE"/>
                      </a:solidFill>
                      <a:prstDash val="solid"/>
                      <a:round/>
                      <a:headEnd len="sm" w="sm" type="none"/>
                      <a:tailEnd len="sm" w="sm" type="none"/>
                    </a:lnL>
                    <a:lnR cap="flat" cmpd="sng" w="19050">
                      <a:solidFill>
                        <a:srgbClr val="DCDFFE"/>
                      </a:solidFill>
                      <a:prstDash val="solid"/>
                      <a:round/>
                      <a:headEnd len="sm" w="sm" type="none"/>
                      <a:tailEnd len="sm" w="sm" type="none"/>
                    </a:lnR>
                    <a:lnT cap="flat" cmpd="sng" w="19050">
                      <a:solidFill>
                        <a:srgbClr val="DCDFFE"/>
                      </a:solidFill>
                      <a:prstDash val="solid"/>
                      <a:round/>
                      <a:headEnd len="sm" w="sm" type="none"/>
                      <a:tailEnd len="sm" w="sm" type="none"/>
                    </a:lnT>
                    <a:lnB cap="flat" cmpd="sng" w="19050">
                      <a:solidFill>
                        <a:srgbClr val="DCDFFE"/>
                      </a:solidFill>
                      <a:prstDash val="solid"/>
                      <a:round/>
                      <a:headEnd len="sm" w="sm" type="none"/>
                      <a:tailEnd len="sm" w="sm" type="none"/>
                    </a:lnB>
                    <a:solidFill>
                      <a:srgbClr val="FFFFFF"/>
                    </a:solidFill>
                  </a:tcPr>
                </a:tc>
              </a:tr>
            </a:tbl>
          </a:graphicData>
        </a:graphic>
      </p:graphicFrame>
      <p:cxnSp>
        <p:nvCxnSpPr>
          <p:cNvPr id="818" name="Google Shape;818;p51"/>
          <p:cNvCxnSpPr/>
          <p:nvPr/>
        </p:nvCxnSpPr>
        <p:spPr>
          <a:xfrm rot="10800000">
            <a:off x="5634579" y="1913013"/>
            <a:ext cx="378000" cy="378000"/>
          </a:xfrm>
          <a:prstGeom prst="straightConnector1">
            <a:avLst/>
          </a:prstGeom>
          <a:noFill/>
          <a:ln cap="flat" cmpd="sng" w="19050">
            <a:solidFill>
              <a:srgbClr val="DCDFFE"/>
            </a:solidFill>
            <a:prstDash val="solid"/>
            <a:round/>
            <a:headEnd len="med" w="med" type="none"/>
            <a:tailEnd len="med" w="med" type="none"/>
          </a:ln>
        </p:spPr>
      </p:cxnSp>
      <p:sp>
        <p:nvSpPr>
          <p:cNvPr id="819" name="Google Shape;819;p51"/>
          <p:cNvSpPr txBox="1"/>
          <p:nvPr/>
        </p:nvSpPr>
        <p:spPr>
          <a:xfrm>
            <a:off x="5723225" y="1732663"/>
            <a:ext cx="706500" cy="523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baseline="-250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a:solidFill>
                <a:srgbClr val="292929"/>
              </a:solidFill>
              <a:latin typeface="Lexend"/>
              <a:ea typeface="Lexend"/>
              <a:cs typeface="Lexend"/>
              <a:sym typeface="Lexend"/>
            </a:endParaRPr>
          </a:p>
        </p:txBody>
      </p:sp>
      <p:sp>
        <p:nvSpPr>
          <p:cNvPr id="820" name="Google Shape;820;p51"/>
          <p:cNvSpPr txBox="1"/>
          <p:nvPr/>
        </p:nvSpPr>
        <p:spPr>
          <a:xfrm>
            <a:off x="6058523" y="1984325"/>
            <a:ext cx="17577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292929"/>
                </a:solidFill>
                <a:latin typeface="Lexend"/>
                <a:ea typeface="Lexend"/>
                <a:cs typeface="Lexend"/>
                <a:sym typeface="Lexend"/>
              </a:rPr>
              <a:t>00      01       11      10</a:t>
            </a:r>
            <a:endParaRPr sz="1200">
              <a:latin typeface="Lexend"/>
              <a:ea typeface="Lexend"/>
              <a:cs typeface="Lexend"/>
              <a:sym typeface="Lexend"/>
            </a:endParaRPr>
          </a:p>
        </p:txBody>
      </p:sp>
      <p:sp>
        <p:nvSpPr>
          <p:cNvPr id="821" name="Google Shape;821;p51"/>
          <p:cNvSpPr txBox="1"/>
          <p:nvPr/>
        </p:nvSpPr>
        <p:spPr>
          <a:xfrm>
            <a:off x="7220726" y="1684575"/>
            <a:ext cx="7659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1</a:t>
            </a:r>
            <a:endParaRPr sz="1200">
              <a:latin typeface="Lexend"/>
              <a:ea typeface="Lexend"/>
              <a:cs typeface="Lexend"/>
              <a:sym typeface="Lexend"/>
            </a:endParaRPr>
          </a:p>
        </p:txBody>
      </p:sp>
      <p:sp>
        <p:nvSpPr>
          <p:cNvPr id="822" name="Google Shape;822;p51"/>
          <p:cNvSpPr/>
          <p:nvPr/>
        </p:nvSpPr>
        <p:spPr>
          <a:xfrm rot="5400000">
            <a:off x="7289275" y="1590447"/>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3" name="Google Shape;823;p51"/>
          <p:cNvSpPr txBox="1"/>
          <p:nvPr/>
        </p:nvSpPr>
        <p:spPr>
          <a:xfrm>
            <a:off x="7923754" y="2991625"/>
            <a:ext cx="5487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2</a:t>
            </a:r>
            <a:endParaRPr sz="1200">
              <a:latin typeface="Lexend"/>
              <a:ea typeface="Lexend"/>
              <a:cs typeface="Lexend"/>
              <a:sym typeface="Lexend"/>
            </a:endParaRPr>
          </a:p>
        </p:txBody>
      </p:sp>
      <p:sp>
        <p:nvSpPr>
          <p:cNvPr id="824" name="Google Shape;824;p51"/>
          <p:cNvSpPr/>
          <p:nvPr/>
        </p:nvSpPr>
        <p:spPr>
          <a:xfrm rot="10800000">
            <a:off x="7845925" y="2725783"/>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5" name="Google Shape;825;p51"/>
          <p:cNvSpPr txBox="1"/>
          <p:nvPr/>
        </p:nvSpPr>
        <p:spPr>
          <a:xfrm>
            <a:off x="6715075" y="4145525"/>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0</a:t>
            </a:r>
            <a:endParaRPr sz="1200">
              <a:latin typeface="Lexend"/>
              <a:ea typeface="Lexend"/>
              <a:cs typeface="Lexend"/>
              <a:sym typeface="Lexend"/>
            </a:endParaRPr>
          </a:p>
        </p:txBody>
      </p:sp>
      <p:sp>
        <p:nvSpPr>
          <p:cNvPr id="826" name="Google Shape;826;p51"/>
          <p:cNvSpPr/>
          <p:nvPr/>
        </p:nvSpPr>
        <p:spPr>
          <a:xfrm rot="-5400000">
            <a:off x="6844025" y="3640022"/>
            <a:ext cx="140700" cy="8703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7" name="Google Shape;827;p51"/>
          <p:cNvSpPr txBox="1"/>
          <p:nvPr/>
        </p:nvSpPr>
        <p:spPr>
          <a:xfrm>
            <a:off x="5278629" y="3421200"/>
            <a:ext cx="444600" cy="307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292929"/>
              </a:buClr>
              <a:buSzPts val="1800"/>
              <a:buFont typeface="Calibri"/>
              <a:buNone/>
            </a:pPr>
            <a:r>
              <a:rPr lang="en">
                <a:solidFill>
                  <a:srgbClr val="292929"/>
                </a:solidFill>
                <a:latin typeface="Lexend"/>
                <a:ea typeface="Lexend"/>
                <a:cs typeface="Lexend"/>
                <a:sym typeface="Lexend"/>
              </a:rPr>
              <a:t>D</a:t>
            </a:r>
            <a:r>
              <a:rPr baseline="-25000" lang="en">
                <a:solidFill>
                  <a:srgbClr val="292929"/>
                </a:solidFill>
                <a:latin typeface="Lexend"/>
                <a:ea typeface="Lexend"/>
                <a:cs typeface="Lexend"/>
                <a:sym typeface="Lexend"/>
              </a:rPr>
              <a:t>3</a:t>
            </a:r>
            <a:endParaRPr sz="1200">
              <a:latin typeface="Lexend"/>
              <a:ea typeface="Lexend"/>
              <a:cs typeface="Lexend"/>
              <a:sym typeface="Lexend"/>
            </a:endParaRPr>
          </a:p>
        </p:txBody>
      </p:sp>
      <p:sp>
        <p:nvSpPr>
          <p:cNvPr id="828" name="Google Shape;828;p51"/>
          <p:cNvSpPr txBox="1"/>
          <p:nvPr/>
        </p:nvSpPr>
        <p:spPr>
          <a:xfrm>
            <a:off x="5695770" y="2345875"/>
            <a:ext cx="378000" cy="1616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00 </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01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11</a:t>
            </a:r>
            <a:endParaRPr sz="12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t/>
            </a:r>
            <a:endParaRPr sz="1700">
              <a:solidFill>
                <a:srgbClr val="000000"/>
              </a:solidFill>
              <a:latin typeface="Lexend"/>
              <a:ea typeface="Lexend"/>
              <a:cs typeface="Lexend"/>
              <a:sym typeface="Lexend"/>
            </a:endParaRPr>
          </a:p>
          <a:p>
            <a:pPr indent="0" lvl="0" marL="0" marR="0" rtl="0" algn="l">
              <a:lnSpc>
                <a:spcPct val="100000"/>
              </a:lnSpc>
              <a:spcBef>
                <a:spcPts val="0"/>
              </a:spcBef>
              <a:spcAft>
                <a:spcPts val="0"/>
              </a:spcAft>
              <a:buClr>
                <a:srgbClr val="292929"/>
              </a:buClr>
              <a:buSzPts val="1800"/>
              <a:buFont typeface="Calibri"/>
              <a:buNone/>
            </a:pPr>
            <a:r>
              <a:rPr lang="en" sz="1200">
                <a:solidFill>
                  <a:srgbClr val="000000"/>
                </a:solidFill>
                <a:latin typeface="Lexend"/>
                <a:ea typeface="Lexend"/>
                <a:cs typeface="Lexend"/>
                <a:sym typeface="Lexend"/>
              </a:rPr>
              <a:t>10</a:t>
            </a:r>
            <a:endParaRPr sz="1200">
              <a:solidFill>
                <a:srgbClr val="000000"/>
              </a:solidFill>
              <a:latin typeface="Lexend"/>
              <a:ea typeface="Lexend"/>
              <a:cs typeface="Lexend"/>
              <a:sym typeface="Lexend"/>
            </a:endParaRPr>
          </a:p>
        </p:txBody>
      </p:sp>
      <p:sp>
        <p:nvSpPr>
          <p:cNvPr id="829" name="Google Shape;829;p51"/>
          <p:cNvSpPr/>
          <p:nvPr/>
        </p:nvSpPr>
        <p:spPr>
          <a:xfrm>
            <a:off x="5685945" y="3150372"/>
            <a:ext cx="140700" cy="829800"/>
          </a:xfrm>
          <a:prstGeom prst="leftBrace">
            <a:avLst>
              <a:gd fmla="val 50000" name="adj1"/>
              <a:gd fmla="val 50000" name="adj2"/>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51"/>
          <p:cNvSpPr txBox="1"/>
          <p:nvPr/>
        </p:nvSpPr>
        <p:spPr>
          <a:xfrm>
            <a:off x="1374175" y="2681125"/>
            <a:ext cx="1663800" cy="747900"/>
          </a:xfrm>
          <a:prstGeom prst="rect">
            <a:avLst/>
          </a:prstGeom>
          <a:noFill/>
          <a:ln cap="flat" cmpd="sng" w="254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31" name="Google Shape;831;p51"/>
          <p:cNvSpPr txBox="1"/>
          <p:nvPr/>
        </p:nvSpPr>
        <p:spPr>
          <a:xfrm>
            <a:off x="6082475" y="3191325"/>
            <a:ext cx="1663800" cy="747900"/>
          </a:xfrm>
          <a:prstGeom prst="rect">
            <a:avLst/>
          </a:prstGeom>
          <a:noFill/>
          <a:ln cap="flat" cmpd="sng" w="25400">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832" name="Google Shape;832;p51"/>
          <p:cNvSpPr txBox="1"/>
          <p:nvPr/>
        </p:nvSpPr>
        <p:spPr>
          <a:xfrm>
            <a:off x="1455649" y="3126000"/>
            <a:ext cx="1491000" cy="747900"/>
          </a:xfrm>
          <a:prstGeom prst="rect">
            <a:avLst/>
          </a:prstGeom>
          <a:noFill/>
          <a:ln cap="flat" cmpd="sng" w="254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292929"/>
              </a:solidFill>
              <a:latin typeface="Arial"/>
              <a:ea typeface="Arial"/>
              <a:cs typeface="Arial"/>
              <a:sym typeface="Arial"/>
            </a:endParaRPr>
          </a:p>
        </p:txBody>
      </p:sp>
      <p:sp>
        <p:nvSpPr>
          <p:cNvPr id="833" name="Google Shape;833;p51"/>
          <p:cNvSpPr/>
          <p:nvPr/>
        </p:nvSpPr>
        <p:spPr>
          <a:xfrm flipH="1" rot="5400000">
            <a:off x="7214380" y="2066730"/>
            <a:ext cx="334219" cy="787821"/>
          </a:xfrm>
          <a:custGeom>
            <a:rect b="b" l="l" r="r" t="t"/>
            <a:pathLst>
              <a:path extrusionOk="0" h="12436" w="16140">
                <a:moveTo>
                  <a:pt x="15875" y="0"/>
                </a:moveTo>
                <a:lnTo>
                  <a:pt x="0" y="0"/>
                </a:lnTo>
                <a:lnTo>
                  <a:pt x="0" y="12436"/>
                </a:lnTo>
                <a:lnTo>
                  <a:pt x="16140" y="12436"/>
                </a:lnTo>
              </a:path>
            </a:pathLst>
          </a:custGeom>
          <a:noFill/>
          <a:ln cap="flat" cmpd="sng" w="28575">
            <a:solidFill>
              <a:srgbClr val="FF0000"/>
            </a:solidFill>
            <a:prstDash val="solid"/>
            <a:miter lim="8000"/>
            <a:headEnd len="med" w="med" type="none"/>
            <a:tailEnd len="med" w="med" type="none"/>
          </a:ln>
        </p:spPr>
      </p:sp>
      <p:sp>
        <p:nvSpPr>
          <p:cNvPr id="834" name="Google Shape;834;p51"/>
          <p:cNvSpPr/>
          <p:nvPr/>
        </p:nvSpPr>
        <p:spPr>
          <a:xfrm flipH="1" rot="-5400000">
            <a:off x="7192518" y="3436880"/>
            <a:ext cx="334219" cy="787821"/>
          </a:xfrm>
          <a:custGeom>
            <a:rect b="b" l="l" r="r" t="t"/>
            <a:pathLst>
              <a:path extrusionOk="0" h="12436" w="16140">
                <a:moveTo>
                  <a:pt x="15875" y="0"/>
                </a:moveTo>
                <a:lnTo>
                  <a:pt x="0" y="0"/>
                </a:lnTo>
                <a:lnTo>
                  <a:pt x="0" y="12436"/>
                </a:lnTo>
                <a:lnTo>
                  <a:pt x="16140" y="12436"/>
                </a:lnTo>
              </a:path>
            </a:pathLst>
          </a:custGeom>
          <a:noFill/>
          <a:ln cap="flat" cmpd="sng" w="28575">
            <a:solidFill>
              <a:srgbClr val="FF0000"/>
            </a:solidFill>
            <a:prstDash val="solid"/>
            <a:miter lim="8000"/>
            <a:headEnd len="med" w="med" type="none"/>
            <a:tailEnd len="med" w="med" type="none"/>
          </a:ln>
        </p:spPr>
      </p:sp>
      <p:sp>
        <p:nvSpPr>
          <p:cNvPr id="835" name="Google Shape;835;p51"/>
          <p:cNvSpPr txBox="1"/>
          <p:nvPr/>
        </p:nvSpPr>
        <p:spPr>
          <a:xfrm>
            <a:off x="1526275" y="4429300"/>
            <a:ext cx="13770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3</a:t>
            </a:r>
            <a:endParaRPr baseline="-25000" sz="1100">
              <a:solidFill>
                <a:srgbClr val="FF0000"/>
              </a:solidFill>
              <a:latin typeface="Lexend"/>
              <a:ea typeface="Lexend"/>
              <a:cs typeface="Lexend"/>
              <a:sym typeface="Lexend"/>
            </a:endParaRPr>
          </a:p>
        </p:txBody>
      </p:sp>
      <p:sp>
        <p:nvSpPr>
          <p:cNvPr id="836" name="Google Shape;836;p51"/>
          <p:cNvSpPr txBox="1"/>
          <p:nvPr/>
        </p:nvSpPr>
        <p:spPr>
          <a:xfrm>
            <a:off x="6105475" y="4465488"/>
            <a:ext cx="1663800" cy="406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100">
              <a:solidFill>
                <a:srgbClr val="FF0000"/>
              </a:solidFill>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5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42" name="Google Shape;842;p5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43" name="Google Shape;843;p5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44" name="Google Shape;844;p52"/>
          <p:cNvSpPr txBox="1"/>
          <p:nvPr/>
        </p:nvSpPr>
        <p:spPr>
          <a:xfrm>
            <a:off x="256650" y="972850"/>
            <a:ext cx="8428500" cy="475500"/>
          </a:xfrm>
          <a:prstGeom prst="rect">
            <a:avLst/>
          </a:prstGeom>
          <a:noFill/>
          <a:ln>
            <a:noFill/>
          </a:ln>
        </p:spPr>
        <p:txBody>
          <a:bodyPr anchorCtr="0" anchor="t" bIns="91425" lIns="91425" spcFirstLastPara="1" rIns="91425" wrap="square" tIns="91425">
            <a:spAutoFit/>
          </a:bodyPr>
          <a:lstStyle/>
          <a:p>
            <a:pPr indent="-361950" lvl="0" marL="457200" rtl="0" algn="l">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1</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2</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3</a:t>
            </a:r>
            <a:r>
              <a:rPr lang="en" sz="1600">
                <a:solidFill>
                  <a:srgbClr val="FF0000"/>
                </a:solidFill>
                <a:latin typeface="Lexend"/>
                <a:ea typeface="Lexend"/>
                <a:cs typeface="Lexend"/>
                <a:sym typeface="Lexend"/>
              </a:rPr>
              <a:t>                 </a:t>
            </a:r>
            <a:r>
              <a:rPr lang="en" sz="1600">
                <a:solidFill>
                  <a:schemeClr val="dk1"/>
                </a:solidFill>
                <a:latin typeface="Lexend"/>
                <a:ea typeface="Lexend"/>
                <a:cs typeface="Lexend"/>
                <a:sym typeface="Lexend"/>
              </a:rPr>
              <a:t>A</a:t>
            </a:r>
            <a:r>
              <a:rPr baseline="-25000" lang="en" sz="1600">
                <a:solidFill>
                  <a:schemeClr val="dk1"/>
                </a:solidFill>
                <a:latin typeface="Lexend"/>
                <a:ea typeface="Lexend"/>
                <a:cs typeface="Lexend"/>
                <a:sym typeface="Lexend"/>
              </a:rPr>
              <a:t>0</a:t>
            </a:r>
            <a:r>
              <a:rPr lang="en" sz="1600">
                <a:solidFill>
                  <a:schemeClr val="dk1"/>
                </a:solidFill>
                <a:latin typeface="Lexend"/>
                <a:ea typeface="Lexend"/>
                <a:cs typeface="Lexend"/>
                <a:sym typeface="Lexend"/>
              </a:rPr>
              <a:t> = </a:t>
            </a:r>
            <a:r>
              <a:rPr lang="en" sz="1600">
                <a:solidFill>
                  <a:srgbClr val="0000FF"/>
                </a:solidFill>
                <a:latin typeface="Lexend"/>
                <a:ea typeface="Lexend"/>
                <a:cs typeface="Lexend"/>
                <a:sym typeface="Lexend"/>
              </a:rPr>
              <a:t>D</a:t>
            </a:r>
            <a:r>
              <a:rPr baseline="-25000" lang="en" sz="1600">
                <a:solidFill>
                  <a:srgbClr val="0000FF"/>
                </a:solidFill>
                <a:latin typeface="Lexend"/>
                <a:ea typeface="Lexend"/>
                <a:cs typeface="Lexend"/>
                <a:sym typeface="Lexend"/>
              </a:rPr>
              <a:t>3</a:t>
            </a:r>
            <a:r>
              <a:rPr lang="en" sz="1600">
                <a:solidFill>
                  <a:srgbClr val="0000FF"/>
                </a:solidFill>
                <a:latin typeface="Lexend"/>
                <a:ea typeface="Lexend"/>
                <a:cs typeface="Lexend"/>
                <a:sym typeface="Lexend"/>
              </a:rPr>
              <a:t> </a:t>
            </a:r>
            <a:r>
              <a:rPr lang="en" sz="1600">
                <a:solidFill>
                  <a:schemeClr val="dk1"/>
                </a:solidFill>
                <a:latin typeface="Lexend"/>
                <a:ea typeface="Lexend"/>
                <a:cs typeface="Lexend"/>
                <a:sym typeface="Lexend"/>
              </a:rPr>
              <a:t>+ </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1</a:t>
            </a:r>
            <a:r>
              <a:rPr lang="en" sz="1600">
                <a:solidFill>
                  <a:srgbClr val="FF0000"/>
                </a:solidFill>
                <a:latin typeface="Lexend"/>
                <a:ea typeface="Lexend"/>
                <a:cs typeface="Lexend"/>
                <a:sym typeface="Lexend"/>
              </a:rPr>
              <a:t>D</a:t>
            </a:r>
            <a:r>
              <a:rPr baseline="-25000" lang="en" sz="1600">
                <a:solidFill>
                  <a:srgbClr val="FF0000"/>
                </a:solidFill>
                <a:latin typeface="Lexend"/>
                <a:ea typeface="Lexend"/>
                <a:cs typeface="Lexend"/>
                <a:sym typeface="Lexend"/>
              </a:rPr>
              <a:t>2</a:t>
            </a:r>
            <a:r>
              <a:rPr lang="en" sz="1600">
                <a:solidFill>
                  <a:srgbClr val="FF0000"/>
                </a:solidFill>
                <a:latin typeface="Lexend"/>
                <a:ea typeface="Lexend"/>
                <a:cs typeface="Lexend"/>
                <a:sym typeface="Lexend"/>
              </a:rPr>
              <a:t>’</a:t>
            </a:r>
            <a:endParaRPr sz="1600">
              <a:solidFill>
                <a:srgbClr val="FF0000"/>
              </a:solidFill>
              <a:latin typeface="Lexend"/>
              <a:ea typeface="Lexend"/>
              <a:cs typeface="Lexend"/>
              <a:sym typeface="Lexend"/>
            </a:endParaRPr>
          </a:p>
        </p:txBody>
      </p:sp>
      <p:grpSp>
        <p:nvGrpSpPr>
          <p:cNvPr id="845" name="Google Shape;845;p52"/>
          <p:cNvGrpSpPr/>
          <p:nvPr/>
        </p:nvGrpSpPr>
        <p:grpSpPr>
          <a:xfrm>
            <a:off x="50480" y="122879"/>
            <a:ext cx="277873" cy="68400"/>
            <a:chOff x="411700" y="2416840"/>
            <a:chExt cx="277873" cy="68400"/>
          </a:xfrm>
        </p:grpSpPr>
        <p:sp>
          <p:nvSpPr>
            <p:cNvPr id="846" name="Google Shape;846;p5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7" name="Google Shape;847;p5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8" name="Google Shape;848;p5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49" name="Google Shape;849;p5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Example: </a:t>
            </a:r>
            <a:r>
              <a:rPr lang="en" sz="3600">
                <a:solidFill>
                  <a:schemeClr val="dk1"/>
                </a:solidFill>
                <a:latin typeface="Lexend"/>
                <a:ea typeface="Lexend"/>
                <a:cs typeface="Lexend"/>
                <a:sym typeface="Lexend"/>
              </a:rPr>
              <a:t>4x2 </a:t>
            </a:r>
            <a:r>
              <a:rPr lang="en" sz="3600">
                <a:solidFill>
                  <a:schemeClr val="dk1"/>
                </a:solidFill>
                <a:latin typeface="Lexend"/>
                <a:ea typeface="Lexend"/>
                <a:cs typeface="Lexend"/>
                <a:sym typeface="Lexend"/>
              </a:rPr>
              <a:t>Priority Encoder</a:t>
            </a:r>
            <a:endParaRPr sz="3600">
              <a:solidFill>
                <a:schemeClr val="dk1"/>
              </a:solidFill>
              <a:latin typeface="Lexend"/>
              <a:ea typeface="Lexend"/>
              <a:cs typeface="Lexend"/>
              <a:sym typeface="Lexend"/>
            </a:endParaRPr>
          </a:p>
        </p:txBody>
      </p:sp>
      <p:sp>
        <p:nvSpPr>
          <p:cNvPr id="850" name="Google Shape;850;p5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51" name="Google Shape;851;p5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852" name="Google Shape;852;p52"/>
          <p:cNvPicPr preferRelativeResize="0"/>
          <p:nvPr/>
        </p:nvPicPr>
        <p:blipFill>
          <a:blip r:embed="rId4">
            <a:alphaModFix/>
          </a:blip>
          <a:stretch>
            <a:fillRect/>
          </a:stretch>
        </p:blipFill>
        <p:spPr>
          <a:xfrm>
            <a:off x="1355000" y="1909125"/>
            <a:ext cx="6434008" cy="3023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pic>
        <p:nvPicPr>
          <p:cNvPr id="857" name="Google Shape;857;p5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58" name="Google Shape;858;p5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59" name="Google Shape;859;p5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60" name="Google Shape;860;p5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61" name="Google Shape;861;p53"/>
          <p:cNvGrpSpPr/>
          <p:nvPr/>
        </p:nvGrpSpPr>
        <p:grpSpPr>
          <a:xfrm>
            <a:off x="55863" y="1096534"/>
            <a:ext cx="7362874" cy="1618375"/>
            <a:chOff x="5351018" y="4955476"/>
            <a:chExt cx="4003085" cy="885422"/>
          </a:xfrm>
        </p:grpSpPr>
        <p:sp>
          <p:nvSpPr>
            <p:cNvPr id="862" name="Google Shape;862;p53"/>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3" name="Google Shape;863;p53"/>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4" name="Google Shape;864;p53"/>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5" name="Google Shape;865;p53"/>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866" name="Google Shape;866;p53"/>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867" name="Google Shape;867;p53"/>
          <p:cNvSpPr/>
          <p:nvPr/>
        </p:nvSpPr>
        <p:spPr>
          <a:xfrm>
            <a:off x="4883091" y="2459986"/>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868" name="Google Shape;868;p53"/>
          <p:cNvSpPr txBox="1"/>
          <p:nvPr/>
        </p:nvSpPr>
        <p:spPr>
          <a:xfrm>
            <a:off x="156075" y="1314563"/>
            <a:ext cx="7070400" cy="118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Boolean Function </a:t>
            </a:r>
            <a:r>
              <a:rPr lang="en" sz="3200">
                <a:latin typeface="Lexend"/>
                <a:ea typeface="Lexend"/>
                <a:cs typeface="Lexend"/>
                <a:sym typeface="Lexend"/>
              </a:rPr>
              <a:t>Implementation </a:t>
            </a:r>
            <a:r>
              <a:rPr lang="en" sz="3200">
                <a:latin typeface="Lexend"/>
                <a:ea typeface="Lexend"/>
                <a:cs typeface="Lexend"/>
                <a:sym typeface="Lexend"/>
              </a:rPr>
              <a:t>using MSI Circuits</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5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74" name="Google Shape;874;p5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875" name="Google Shape;875;p5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876" name="Google Shape;876;p54"/>
          <p:cNvSpPr txBox="1"/>
          <p:nvPr/>
        </p:nvSpPr>
        <p:spPr>
          <a:xfrm>
            <a:off x="256650" y="972850"/>
            <a:ext cx="8428500" cy="143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600">
                <a:solidFill>
                  <a:schemeClr val="dk1"/>
                </a:solidFill>
                <a:latin typeface="Lexend"/>
                <a:ea typeface="Lexend"/>
                <a:cs typeface="Lexend"/>
                <a:sym typeface="Lexend"/>
              </a:rPr>
              <a:t>Using 4:1 MUX  design </a:t>
            </a:r>
            <a:endParaRPr sz="1600">
              <a:solidFill>
                <a:schemeClr val="dk1"/>
              </a:solidFill>
              <a:latin typeface="Lexend"/>
              <a:ea typeface="Lexend"/>
              <a:cs typeface="Lexend"/>
              <a:sym typeface="Lexend"/>
            </a:endParaRPr>
          </a:p>
          <a:p>
            <a:pPr indent="-361950" lvl="0" marL="457200" rtl="0" algn="l">
              <a:lnSpc>
                <a:spcPct val="90000"/>
              </a:lnSpc>
              <a:spcBef>
                <a:spcPts val="1200"/>
              </a:spcBef>
              <a:spcAft>
                <a:spcPts val="0"/>
              </a:spcAft>
              <a:buClr>
                <a:schemeClr val="dk1"/>
              </a:buClr>
              <a:buSzPts val="2100"/>
              <a:buFont typeface="Lexend"/>
              <a:buChar char="●"/>
            </a:pPr>
            <a:r>
              <a:rPr lang="en" sz="1600">
                <a:solidFill>
                  <a:schemeClr val="dk1"/>
                </a:solidFill>
                <a:latin typeface="Lexend"/>
                <a:ea typeface="Lexend"/>
                <a:cs typeface="Lexend"/>
                <a:sym typeface="Lexend"/>
              </a:rPr>
              <a:t>AND gate</a:t>
            </a:r>
            <a:endParaRPr sz="16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OR gate</a:t>
            </a:r>
            <a:endParaRPr sz="1600">
              <a:solidFill>
                <a:schemeClr val="dk1"/>
              </a:solidFill>
              <a:latin typeface="Lexend"/>
              <a:ea typeface="Lexend"/>
              <a:cs typeface="Lexend"/>
              <a:sym typeface="Lexend"/>
            </a:endParaRPr>
          </a:p>
          <a:p>
            <a:pPr indent="-361950" lvl="0" marL="457200" rtl="0" algn="l">
              <a:lnSpc>
                <a:spcPct val="90000"/>
              </a:lnSpc>
              <a:spcBef>
                <a:spcPts val="0"/>
              </a:spcBef>
              <a:spcAft>
                <a:spcPts val="0"/>
              </a:spcAft>
              <a:buClr>
                <a:schemeClr val="dk1"/>
              </a:buClr>
              <a:buSzPts val="2100"/>
              <a:buFont typeface="Lexend"/>
              <a:buChar char="●"/>
            </a:pPr>
            <a:r>
              <a:rPr lang="en" sz="1600">
                <a:solidFill>
                  <a:schemeClr val="dk1"/>
                </a:solidFill>
                <a:latin typeface="Lexend"/>
                <a:ea typeface="Lexend"/>
                <a:cs typeface="Lexend"/>
                <a:sym typeface="Lexend"/>
              </a:rPr>
              <a:t>NOT gate</a:t>
            </a:r>
            <a:endParaRPr sz="1600">
              <a:solidFill>
                <a:schemeClr val="dk1"/>
              </a:solidFill>
              <a:latin typeface="Lexend"/>
              <a:ea typeface="Lexend"/>
              <a:cs typeface="Lexend"/>
              <a:sym typeface="Lexend"/>
            </a:endParaRPr>
          </a:p>
        </p:txBody>
      </p:sp>
      <p:grpSp>
        <p:nvGrpSpPr>
          <p:cNvPr id="877" name="Google Shape;877;p54"/>
          <p:cNvGrpSpPr/>
          <p:nvPr/>
        </p:nvGrpSpPr>
        <p:grpSpPr>
          <a:xfrm>
            <a:off x="50480" y="122879"/>
            <a:ext cx="277873" cy="68400"/>
            <a:chOff x="411700" y="2416840"/>
            <a:chExt cx="277873" cy="68400"/>
          </a:xfrm>
        </p:grpSpPr>
        <p:sp>
          <p:nvSpPr>
            <p:cNvPr id="878" name="Google Shape;878;p5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9" name="Google Shape;879;p5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5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81" name="Google Shape;881;p54"/>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3600">
              <a:solidFill>
                <a:schemeClr val="dk1"/>
              </a:solidFill>
              <a:latin typeface="Lexend"/>
              <a:ea typeface="Lexend"/>
              <a:cs typeface="Lexend"/>
              <a:sym typeface="Lexend"/>
            </a:endParaRPr>
          </a:p>
        </p:txBody>
      </p:sp>
      <p:sp>
        <p:nvSpPr>
          <p:cNvPr id="882" name="Google Shape;882;p5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883" name="Google Shape;883;p5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884" name="Google Shape;884;p54"/>
          <p:cNvGrpSpPr/>
          <p:nvPr/>
        </p:nvGrpSpPr>
        <p:grpSpPr>
          <a:xfrm>
            <a:off x="4340239" y="699312"/>
            <a:ext cx="2752840" cy="1706640"/>
            <a:chOff x="228600" y="2323686"/>
            <a:chExt cx="2752014" cy="1706811"/>
          </a:xfrm>
        </p:grpSpPr>
        <p:grpSp>
          <p:nvGrpSpPr>
            <p:cNvPr id="885" name="Google Shape;885;p54"/>
            <p:cNvGrpSpPr/>
            <p:nvPr/>
          </p:nvGrpSpPr>
          <p:grpSpPr>
            <a:xfrm>
              <a:off x="990353" y="2601747"/>
              <a:ext cx="1990261" cy="1428750"/>
              <a:chOff x="990353" y="2601747"/>
              <a:chExt cx="1990261" cy="1428750"/>
            </a:xfrm>
          </p:grpSpPr>
          <p:cxnSp>
            <p:nvCxnSpPr>
              <p:cNvPr id="886" name="Google Shape;886;p54"/>
              <p:cNvCxnSpPr/>
              <p:nvPr/>
            </p:nvCxnSpPr>
            <p:spPr>
              <a:xfrm rot="10800000">
                <a:off x="1263285" y="3447799"/>
                <a:ext cx="381000" cy="0"/>
              </a:xfrm>
              <a:prstGeom prst="straightConnector1">
                <a:avLst/>
              </a:prstGeom>
              <a:noFill/>
              <a:ln cap="flat" cmpd="sng" w="9525">
                <a:solidFill>
                  <a:srgbClr val="000000"/>
                </a:solidFill>
                <a:prstDash val="solid"/>
                <a:miter lim="800000"/>
                <a:headEnd len="sm" w="sm" type="none"/>
                <a:tailEnd len="sm" w="sm" type="none"/>
              </a:ln>
            </p:spPr>
          </p:cxnSp>
          <p:grpSp>
            <p:nvGrpSpPr>
              <p:cNvPr id="887" name="Google Shape;887;p54"/>
              <p:cNvGrpSpPr/>
              <p:nvPr/>
            </p:nvGrpSpPr>
            <p:grpSpPr>
              <a:xfrm>
                <a:off x="990353" y="2601747"/>
                <a:ext cx="1990261" cy="1428750"/>
                <a:chOff x="990353" y="2601747"/>
                <a:chExt cx="1990261" cy="1428750"/>
              </a:xfrm>
            </p:grpSpPr>
            <p:pic>
              <p:nvPicPr>
                <p:cNvPr id="888" name="Google Shape;888;p54"/>
                <p:cNvPicPr preferRelativeResize="0"/>
                <p:nvPr/>
              </p:nvPicPr>
              <p:blipFill rotWithShape="1">
                <a:blip r:embed="rId4">
                  <a:alphaModFix/>
                </a:blip>
                <a:srcRect b="0" l="0" r="0" t="0"/>
                <a:stretch/>
              </p:blipFill>
              <p:spPr>
                <a:xfrm>
                  <a:off x="1437564" y="2601747"/>
                  <a:ext cx="1543050" cy="1428750"/>
                </a:xfrm>
                <a:prstGeom prst="rect">
                  <a:avLst/>
                </a:prstGeom>
                <a:noFill/>
                <a:ln>
                  <a:noFill/>
                </a:ln>
              </p:spPr>
            </p:pic>
            <p:grpSp>
              <p:nvGrpSpPr>
                <p:cNvPr id="889" name="Google Shape;889;p54"/>
                <p:cNvGrpSpPr/>
                <p:nvPr/>
              </p:nvGrpSpPr>
              <p:grpSpPr>
                <a:xfrm>
                  <a:off x="1236304" y="2626943"/>
                  <a:ext cx="404806" cy="820800"/>
                  <a:chOff x="1236304" y="2626943"/>
                  <a:chExt cx="404806" cy="820800"/>
                </a:xfrm>
              </p:grpSpPr>
              <p:cxnSp>
                <p:nvCxnSpPr>
                  <p:cNvPr id="890" name="Google Shape;890;p54"/>
                  <p:cNvCxnSpPr/>
                  <p:nvPr/>
                </p:nvCxnSpPr>
                <p:spPr>
                  <a:xfrm>
                    <a:off x="1260208" y="2626943"/>
                    <a:ext cx="0" cy="820800"/>
                  </a:xfrm>
                  <a:prstGeom prst="straightConnector1">
                    <a:avLst/>
                  </a:prstGeom>
                  <a:noFill/>
                  <a:ln cap="flat" cmpd="sng" w="9525">
                    <a:solidFill>
                      <a:srgbClr val="000000"/>
                    </a:solidFill>
                    <a:prstDash val="solid"/>
                    <a:miter lim="800000"/>
                    <a:headEnd len="sm" w="sm" type="none"/>
                    <a:tailEnd len="sm" w="sm" type="none"/>
                  </a:ln>
                </p:spPr>
              </p:cxnSp>
              <p:cxnSp>
                <p:nvCxnSpPr>
                  <p:cNvPr id="891" name="Google Shape;891;p54"/>
                  <p:cNvCxnSpPr/>
                  <p:nvPr/>
                </p:nvCxnSpPr>
                <p:spPr>
                  <a:xfrm rot="10800000">
                    <a:off x="1236304" y="2895269"/>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892" name="Google Shape;892;p54"/>
                  <p:cNvCxnSpPr/>
                  <p:nvPr/>
                </p:nvCxnSpPr>
                <p:spPr>
                  <a:xfrm rot="10800000">
                    <a:off x="1260110" y="3200113"/>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893" name="Google Shape;893;p54"/>
                <p:cNvCxnSpPr/>
                <p:nvPr/>
              </p:nvCxnSpPr>
              <p:spPr>
                <a:xfrm rot="10800000">
                  <a:off x="990353" y="3684372"/>
                  <a:ext cx="436500" cy="0"/>
                </a:xfrm>
                <a:prstGeom prst="straightConnector1">
                  <a:avLst/>
                </a:prstGeom>
                <a:noFill/>
                <a:ln cap="flat" cmpd="sng" w="9525">
                  <a:solidFill>
                    <a:srgbClr val="000000"/>
                  </a:solidFill>
                  <a:prstDash val="solid"/>
                  <a:miter lim="800000"/>
                  <a:headEnd len="sm" w="sm" type="none"/>
                  <a:tailEnd len="sm" w="sm" type="none"/>
                </a:ln>
              </p:spPr>
            </p:cxnSp>
          </p:grpSp>
        </p:grpSp>
        <p:sp>
          <p:nvSpPr>
            <p:cNvPr id="894" name="Google Shape;894;p54"/>
            <p:cNvSpPr txBox="1"/>
            <p:nvPr/>
          </p:nvSpPr>
          <p:spPr>
            <a:xfrm>
              <a:off x="386615" y="2562807"/>
              <a:ext cx="980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895" name="Google Shape;895;p54"/>
            <p:cNvSpPr txBox="1"/>
            <p:nvPr/>
          </p:nvSpPr>
          <p:spPr>
            <a:xfrm>
              <a:off x="228600" y="3479468"/>
              <a:ext cx="76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sp>
          <p:nvSpPr>
            <p:cNvPr id="896" name="Google Shape;896;p54"/>
            <p:cNvSpPr txBox="1"/>
            <p:nvPr/>
          </p:nvSpPr>
          <p:spPr>
            <a:xfrm>
              <a:off x="1807334" y="2323686"/>
              <a:ext cx="1011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AND</a:t>
              </a:r>
              <a:endParaRPr i="0" sz="1400" u="none" cap="none" strike="noStrike">
                <a:solidFill>
                  <a:srgbClr val="000000"/>
                </a:solidFill>
                <a:latin typeface="Lexend"/>
                <a:ea typeface="Lexend"/>
                <a:cs typeface="Lexend"/>
                <a:sym typeface="Lexend"/>
              </a:endParaRPr>
            </a:p>
          </p:txBody>
        </p:sp>
      </p:grpSp>
      <p:grpSp>
        <p:nvGrpSpPr>
          <p:cNvPr id="897" name="Google Shape;897;p54"/>
          <p:cNvGrpSpPr/>
          <p:nvPr/>
        </p:nvGrpSpPr>
        <p:grpSpPr>
          <a:xfrm>
            <a:off x="709995" y="3110394"/>
            <a:ext cx="3251176" cy="1428750"/>
            <a:chOff x="4464399" y="2608713"/>
            <a:chExt cx="3250851" cy="1428750"/>
          </a:xfrm>
        </p:grpSpPr>
        <p:grpSp>
          <p:nvGrpSpPr>
            <p:cNvPr id="898" name="Google Shape;898;p54"/>
            <p:cNvGrpSpPr/>
            <p:nvPr/>
          </p:nvGrpSpPr>
          <p:grpSpPr>
            <a:xfrm>
              <a:off x="5085087" y="2608713"/>
              <a:ext cx="2630163" cy="1428750"/>
              <a:chOff x="5085087" y="2608713"/>
              <a:chExt cx="2630163" cy="1428750"/>
            </a:xfrm>
          </p:grpSpPr>
          <p:pic>
            <p:nvPicPr>
              <p:cNvPr id="899" name="Google Shape;899;p54"/>
              <p:cNvPicPr preferRelativeResize="0"/>
              <p:nvPr/>
            </p:nvPicPr>
            <p:blipFill rotWithShape="1">
              <a:blip r:embed="rId4">
                <a:alphaModFix/>
              </a:blip>
              <a:srcRect b="0" l="0" r="0" t="0"/>
              <a:stretch/>
            </p:blipFill>
            <p:spPr>
              <a:xfrm>
                <a:off x="6172200" y="2608713"/>
                <a:ext cx="1543050" cy="1428750"/>
              </a:xfrm>
              <a:prstGeom prst="rect">
                <a:avLst/>
              </a:prstGeom>
              <a:noFill/>
              <a:ln>
                <a:noFill/>
              </a:ln>
            </p:spPr>
          </p:pic>
          <p:grpSp>
            <p:nvGrpSpPr>
              <p:cNvPr id="900" name="Google Shape;900;p54"/>
              <p:cNvGrpSpPr/>
              <p:nvPr/>
            </p:nvGrpSpPr>
            <p:grpSpPr>
              <a:xfrm>
                <a:off x="5085087" y="2921450"/>
                <a:ext cx="1288870" cy="804988"/>
                <a:chOff x="5085087" y="2921450"/>
                <a:chExt cx="1288870" cy="804988"/>
              </a:xfrm>
            </p:grpSpPr>
            <p:grpSp>
              <p:nvGrpSpPr>
                <p:cNvPr id="901" name="Google Shape;901;p54"/>
                <p:cNvGrpSpPr/>
                <p:nvPr/>
              </p:nvGrpSpPr>
              <p:grpSpPr>
                <a:xfrm>
                  <a:off x="5969146" y="3037338"/>
                  <a:ext cx="404811" cy="689100"/>
                  <a:chOff x="5969146" y="2758270"/>
                  <a:chExt cx="404811" cy="689100"/>
                </a:xfrm>
              </p:grpSpPr>
              <p:grpSp>
                <p:nvGrpSpPr>
                  <p:cNvPr id="902" name="Google Shape;902;p54"/>
                  <p:cNvGrpSpPr/>
                  <p:nvPr/>
                </p:nvGrpSpPr>
                <p:grpSpPr>
                  <a:xfrm>
                    <a:off x="5969146" y="2758270"/>
                    <a:ext cx="404811" cy="689100"/>
                    <a:chOff x="1236003" y="2758270"/>
                    <a:chExt cx="404811" cy="689100"/>
                  </a:xfrm>
                </p:grpSpPr>
                <p:cxnSp>
                  <p:nvCxnSpPr>
                    <p:cNvPr id="903" name="Google Shape;903;p54"/>
                    <p:cNvCxnSpPr/>
                    <p:nvPr/>
                  </p:nvCxnSpPr>
                  <p:spPr>
                    <a:xfrm>
                      <a:off x="1259855" y="2758270"/>
                      <a:ext cx="0" cy="689100"/>
                    </a:xfrm>
                    <a:prstGeom prst="straightConnector1">
                      <a:avLst/>
                    </a:prstGeom>
                    <a:noFill/>
                    <a:ln cap="flat" cmpd="sng" w="9525">
                      <a:solidFill>
                        <a:srgbClr val="000000"/>
                      </a:solidFill>
                      <a:prstDash val="solid"/>
                      <a:miter lim="800000"/>
                      <a:headEnd len="sm" w="sm" type="none"/>
                      <a:tailEnd len="sm" w="sm" type="none"/>
                    </a:ln>
                  </p:spPr>
                </p:cxnSp>
                <p:cxnSp>
                  <p:nvCxnSpPr>
                    <p:cNvPr id="904" name="Google Shape;904;p54"/>
                    <p:cNvCxnSpPr/>
                    <p:nvPr/>
                  </p:nvCxnSpPr>
                  <p:spPr>
                    <a:xfrm rot="10800000">
                      <a:off x="1236003" y="2896382"/>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905" name="Google Shape;905;p54"/>
                    <p:cNvCxnSpPr/>
                    <p:nvPr/>
                  </p:nvCxnSpPr>
                  <p:spPr>
                    <a:xfrm rot="10800000">
                      <a:off x="1259814" y="3201182"/>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906" name="Google Shape;906;p54"/>
                  <p:cNvCxnSpPr/>
                  <p:nvPr/>
                </p:nvCxnSpPr>
                <p:spPr>
                  <a:xfrm rot="10800000">
                    <a:off x="5992957" y="3447245"/>
                    <a:ext cx="381000" cy="0"/>
                  </a:xfrm>
                  <a:prstGeom prst="straightConnector1">
                    <a:avLst/>
                  </a:prstGeom>
                  <a:noFill/>
                  <a:ln cap="flat" cmpd="sng" w="9525">
                    <a:solidFill>
                      <a:srgbClr val="000000"/>
                    </a:solidFill>
                    <a:prstDash val="solid"/>
                    <a:miter lim="800000"/>
                    <a:headEnd len="sm" w="sm" type="none"/>
                    <a:tailEnd len="sm" w="sm" type="none"/>
                  </a:ln>
                </p:spPr>
              </p:cxnSp>
            </p:grpSp>
            <p:cxnSp>
              <p:nvCxnSpPr>
                <p:cNvPr id="907" name="Google Shape;907;p54"/>
                <p:cNvCxnSpPr/>
                <p:nvPr/>
              </p:nvCxnSpPr>
              <p:spPr>
                <a:xfrm rot="10800000">
                  <a:off x="5723167" y="2921450"/>
                  <a:ext cx="436500" cy="0"/>
                </a:xfrm>
                <a:prstGeom prst="straightConnector1">
                  <a:avLst/>
                </a:prstGeom>
                <a:noFill/>
                <a:ln cap="flat" cmpd="sng" w="9525">
                  <a:solidFill>
                    <a:srgbClr val="000000"/>
                  </a:solidFill>
                  <a:prstDash val="solid"/>
                  <a:miter lim="800000"/>
                  <a:headEnd len="sm" w="sm" type="none"/>
                  <a:tailEnd len="sm" w="sm" type="none"/>
                </a:ln>
              </p:spPr>
            </p:cxnSp>
            <p:cxnSp>
              <p:nvCxnSpPr>
                <p:cNvPr id="908" name="Google Shape;908;p54"/>
                <p:cNvCxnSpPr/>
                <p:nvPr/>
              </p:nvCxnSpPr>
              <p:spPr>
                <a:xfrm rot="10800000">
                  <a:off x="5085087" y="3037338"/>
                  <a:ext cx="884100" cy="0"/>
                </a:xfrm>
                <a:prstGeom prst="straightConnector1">
                  <a:avLst/>
                </a:prstGeom>
                <a:noFill/>
                <a:ln cap="flat" cmpd="sng" w="9525">
                  <a:solidFill>
                    <a:srgbClr val="000000"/>
                  </a:solidFill>
                  <a:prstDash val="solid"/>
                  <a:miter lim="800000"/>
                  <a:headEnd len="sm" w="sm" type="none"/>
                  <a:tailEnd len="sm" w="sm" type="none"/>
                </a:ln>
              </p:spPr>
            </p:cxnSp>
          </p:grpSp>
        </p:grpSp>
        <p:sp>
          <p:nvSpPr>
            <p:cNvPr id="909" name="Google Shape;909;p54"/>
            <p:cNvSpPr txBox="1"/>
            <p:nvPr/>
          </p:nvSpPr>
          <p:spPr>
            <a:xfrm>
              <a:off x="5084610" y="2620562"/>
              <a:ext cx="948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910" name="Google Shape;910;p54"/>
            <p:cNvSpPr txBox="1"/>
            <p:nvPr/>
          </p:nvSpPr>
          <p:spPr>
            <a:xfrm>
              <a:off x="4464399" y="2909064"/>
              <a:ext cx="736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grpSp>
      <p:sp>
        <p:nvSpPr>
          <p:cNvPr id="911" name="Google Shape;911;p54"/>
          <p:cNvSpPr txBox="1"/>
          <p:nvPr/>
        </p:nvSpPr>
        <p:spPr>
          <a:xfrm>
            <a:off x="2765842" y="2826232"/>
            <a:ext cx="719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OR</a:t>
            </a:r>
            <a:endParaRPr i="0" sz="1400" u="none" cap="none" strike="noStrike">
              <a:solidFill>
                <a:srgbClr val="000000"/>
              </a:solidFill>
              <a:latin typeface="Lexend"/>
              <a:ea typeface="Lexend"/>
              <a:cs typeface="Lexend"/>
              <a:sym typeface="Lexend"/>
            </a:endParaRPr>
          </a:p>
        </p:txBody>
      </p:sp>
      <p:pic>
        <p:nvPicPr>
          <p:cNvPr id="912" name="Google Shape;912;p54"/>
          <p:cNvPicPr preferRelativeResize="0"/>
          <p:nvPr/>
        </p:nvPicPr>
        <p:blipFill rotWithShape="1">
          <a:blip r:embed="rId4">
            <a:alphaModFix/>
          </a:blip>
          <a:srcRect b="0" l="0" r="0" t="0"/>
          <a:stretch/>
        </p:blipFill>
        <p:spPr>
          <a:xfrm>
            <a:off x="6769103" y="3102906"/>
            <a:ext cx="1543050" cy="1428750"/>
          </a:xfrm>
          <a:prstGeom prst="rect">
            <a:avLst/>
          </a:prstGeom>
          <a:noFill/>
          <a:ln>
            <a:noFill/>
          </a:ln>
        </p:spPr>
      </p:pic>
      <p:cxnSp>
        <p:nvCxnSpPr>
          <p:cNvPr id="913" name="Google Shape;913;p54"/>
          <p:cNvCxnSpPr/>
          <p:nvPr/>
        </p:nvCxnSpPr>
        <p:spPr>
          <a:xfrm rot="10800000">
            <a:off x="5788104" y="3407706"/>
            <a:ext cx="981000" cy="0"/>
          </a:xfrm>
          <a:prstGeom prst="straightConnector1">
            <a:avLst/>
          </a:prstGeom>
          <a:noFill/>
          <a:ln cap="flat" cmpd="sng" w="9525">
            <a:solidFill>
              <a:srgbClr val="000000"/>
            </a:solidFill>
            <a:prstDash val="solid"/>
            <a:miter lim="800000"/>
            <a:headEnd len="sm" w="sm" type="none"/>
            <a:tailEnd len="sm" w="sm" type="none"/>
          </a:ln>
        </p:spPr>
      </p:cxnSp>
      <p:cxnSp>
        <p:nvCxnSpPr>
          <p:cNvPr id="914" name="Google Shape;914;p54"/>
          <p:cNvCxnSpPr/>
          <p:nvPr/>
        </p:nvCxnSpPr>
        <p:spPr>
          <a:xfrm rot="10800000">
            <a:off x="5787992" y="4169706"/>
            <a:ext cx="1071600" cy="0"/>
          </a:xfrm>
          <a:prstGeom prst="straightConnector1">
            <a:avLst/>
          </a:prstGeom>
          <a:noFill/>
          <a:ln cap="flat" cmpd="sng" w="9525">
            <a:solidFill>
              <a:srgbClr val="000000"/>
            </a:solidFill>
            <a:prstDash val="solid"/>
            <a:miter lim="800000"/>
            <a:headEnd len="sm" w="sm" type="none"/>
            <a:tailEnd len="sm" w="sm" type="none"/>
          </a:ln>
        </p:spPr>
      </p:cxnSp>
      <p:cxnSp>
        <p:nvCxnSpPr>
          <p:cNvPr id="915" name="Google Shape;915;p54"/>
          <p:cNvCxnSpPr/>
          <p:nvPr/>
        </p:nvCxnSpPr>
        <p:spPr>
          <a:xfrm rot="10800000">
            <a:off x="6535741" y="3712506"/>
            <a:ext cx="381000" cy="0"/>
          </a:xfrm>
          <a:prstGeom prst="straightConnector1">
            <a:avLst/>
          </a:prstGeom>
          <a:noFill/>
          <a:ln cap="flat" cmpd="sng" w="9525">
            <a:solidFill>
              <a:srgbClr val="000000"/>
            </a:solidFill>
            <a:prstDash val="solid"/>
            <a:miter lim="800000"/>
            <a:headEnd len="sm" w="sm" type="none"/>
            <a:tailEnd len="sm" w="sm" type="none"/>
          </a:ln>
        </p:spPr>
      </p:cxnSp>
      <p:cxnSp>
        <p:nvCxnSpPr>
          <p:cNvPr id="916" name="Google Shape;916;p54"/>
          <p:cNvCxnSpPr/>
          <p:nvPr/>
        </p:nvCxnSpPr>
        <p:spPr>
          <a:xfrm rot="10800000">
            <a:off x="6451603" y="3941106"/>
            <a:ext cx="381000" cy="0"/>
          </a:xfrm>
          <a:prstGeom prst="straightConnector1">
            <a:avLst/>
          </a:prstGeom>
          <a:noFill/>
          <a:ln cap="flat" cmpd="sng" w="9525">
            <a:solidFill>
              <a:srgbClr val="000000"/>
            </a:solidFill>
            <a:prstDash val="solid"/>
            <a:miter lim="800000"/>
            <a:headEnd len="sm" w="sm" type="none"/>
            <a:tailEnd len="sm" w="sm" type="none"/>
          </a:ln>
        </p:spPr>
      </p:cxnSp>
      <p:sp>
        <p:nvSpPr>
          <p:cNvPr id="917" name="Google Shape;917;p54"/>
          <p:cNvSpPr txBox="1"/>
          <p:nvPr/>
        </p:nvSpPr>
        <p:spPr>
          <a:xfrm>
            <a:off x="5000628" y="3941107"/>
            <a:ext cx="979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GND</a:t>
            </a:r>
            <a:endParaRPr i="0" sz="1400" u="none" cap="none" strike="noStrike">
              <a:solidFill>
                <a:srgbClr val="000000"/>
              </a:solidFill>
              <a:latin typeface="Lexend"/>
              <a:ea typeface="Lexend"/>
              <a:cs typeface="Lexend"/>
              <a:sym typeface="Lexend"/>
            </a:endParaRPr>
          </a:p>
        </p:txBody>
      </p:sp>
      <p:sp>
        <p:nvSpPr>
          <p:cNvPr id="918" name="Google Shape;918;p54"/>
          <p:cNvSpPr txBox="1"/>
          <p:nvPr/>
        </p:nvSpPr>
        <p:spPr>
          <a:xfrm>
            <a:off x="5226053" y="3177520"/>
            <a:ext cx="7620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sp>
        <p:nvSpPr>
          <p:cNvPr id="919" name="Google Shape;919;p54"/>
          <p:cNvSpPr txBox="1"/>
          <p:nvPr/>
        </p:nvSpPr>
        <p:spPr>
          <a:xfrm>
            <a:off x="7169154" y="2826682"/>
            <a:ext cx="1006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NOT</a:t>
            </a:r>
            <a:endParaRPr i="0" sz="1400" u="none" cap="none" strike="noStrike">
              <a:solidFill>
                <a:srgbClr val="000000"/>
              </a:solidFill>
              <a:latin typeface="Lexend"/>
              <a:ea typeface="Lexend"/>
              <a:cs typeface="Lexend"/>
              <a:sym typeface="Lexend"/>
            </a:endParaRPr>
          </a:p>
        </p:txBody>
      </p:sp>
      <p:sp>
        <p:nvSpPr>
          <p:cNvPr id="920" name="Google Shape;920;p54"/>
          <p:cNvSpPr txBox="1"/>
          <p:nvPr/>
        </p:nvSpPr>
        <p:spPr>
          <a:xfrm>
            <a:off x="6181728" y="3401356"/>
            <a:ext cx="3048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sp>
        <p:nvSpPr>
          <p:cNvPr id="921" name="Google Shape;921;p54"/>
          <p:cNvSpPr txBox="1"/>
          <p:nvPr/>
        </p:nvSpPr>
        <p:spPr>
          <a:xfrm>
            <a:off x="5919980" y="2420925"/>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i="0" sz="1400" u="none" cap="none" strike="noStrike">
              <a:solidFill>
                <a:srgbClr val="000000"/>
              </a:solidFill>
              <a:latin typeface="Lexend"/>
              <a:ea typeface="Lexend"/>
              <a:cs typeface="Lexend"/>
              <a:sym typeface="Lexend"/>
            </a:endParaRPr>
          </a:p>
        </p:txBody>
      </p:sp>
      <p:sp>
        <p:nvSpPr>
          <p:cNvPr id="922" name="Google Shape;922;p54"/>
          <p:cNvSpPr txBox="1"/>
          <p:nvPr/>
        </p:nvSpPr>
        <p:spPr>
          <a:xfrm>
            <a:off x="2765855" y="4470450"/>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  B</a:t>
            </a:r>
            <a:endParaRPr i="0" sz="1400" u="none" cap="none" strike="noStrike">
              <a:solidFill>
                <a:srgbClr val="000000"/>
              </a:solidFill>
              <a:latin typeface="Lexend"/>
              <a:ea typeface="Lexend"/>
              <a:cs typeface="Lexend"/>
              <a:sym typeface="Lexend"/>
            </a:endParaRPr>
          </a:p>
        </p:txBody>
      </p:sp>
      <p:sp>
        <p:nvSpPr>
          <p:cNvPr id="923" name="Google Shape;923;p54"/>
          <p:cNvSpPr txBox="1"/>
          <p:nvPr/>
        </p:nvSpPr>
        <p:spPr>
          <a:xfrm>
            <a:off x="7285080" y="4539150"/>
            <a:ext cx="10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lang="en" sz="2400">
                <a:latin typeface="Lexend"/>
                <a:ea typeface="Lexend"/>
                <a:cs typeface="Lexend"/>
                <a:sym typeface="Lexend"/>
              </a:rPr>
              <a:t>A</a:t>
            </a:r>
            <a:endParaRPr i="0" sz="1400" u="none" cap="none" strike="noStrike">
              <a:solidFill>
                <a:srgbClr val="000000"/>
              </a:solidFill>
              <a:latin typeface="Lexend"/>
              <a:ea typeface="Lexend"/>
              <a:cs typeface="Lexend"/>
              <a:sym typeface="Lexend"/>
            </a:endParaRPr>
          </a:p>
        </p:txBody>
      </p:sp>
      <p:cxnSp>
        <p:nvCxnSpPr>
          <p:cNvPr id="924" name="Google Shape;924;p54"/>
          <p:cNvCxnSpPr/>
          <p:nvPr/>
        </p:nvCxnSpPr>
        <p:spPr>
          <a:xfrm rot="10800000">
            <a:off x="7330375" y="4531650"/>
            <a:ext cx="358200" cy="0"/>
          </a:xfrm>
          <a:prstGeom prst="straightConnector1">
            <a:avLst/>
          </a:prstGeom>
          <a:noFill/>
          <a:ln cap="flat" cmpd="sng" w="9525">
            <a:solidFill>
              <a:srgbClr val="000000"/>
            </a:solidFill>
            <a:prstDash val="solid"/>
            <a:miter lim="800000"/>
            <a:headEnd len="sm" w="sm" type="none"/>
            <a:tailEnd len="sm" w="sm" type="none"/>
          </a:ln>
        </p:spPr>
      </p:cxnSp>
      <p:cxnSp>
        <p:nvCxnSpPr>
          <p:cNvPr id="925" name="Google Shape;925;p54"/>
          <p:cNvCxnSpPr/>
          <p:nvPr/>
        </p:nvCxnSpPr>
        <p:spPr>
          <a:xfrm rot="10800000">
            <a:off x="7502350" y="4531650"/>
            <a:ext cx="0" cy="103500"/>
          </a:xfrm>
          <a:prstGeom prst="straightConnector1">
            <a:avLst/>
          </a:prstGeom>
          <a:noFill/>
          <a:ln cap="flat" cmpd="sng" w="9525">
            <a:solidFill>
              <a:srgbClr val="000000"/>
            </a:solidFill>
            <a:prstDash val="solid"/>
            <a:miter lim="800000"/>
            <a:headEnd len="sm" w="sm" type="none"/>
            <a:tailEnd len="sm" w="sm"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55"/>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31" name="Google Shape;931;p5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32" name="Google Shape;932;p5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33" name="Google Shape;933;p55"/>
          <p:cNvSpPr txBox="1"/>
          <p:nvPr/>
        </p:nvSpPr>
        <p:spPr>
          <a:xfrm>
            <a:off x="256650" y="972850"/>
            <a:ext cx="8428500" cy="1754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a)Build the following function using 8x1 Mux.</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F(A,B,C)=∑(0,4,5)</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000">
                <a:solidFill>
                  <a:schemeClr val="dk1"/>
                </a:solidFill>
                <a:latin typeface="Lexend"/>
                <a:ea typeface="Lexend"/>
                <a:cs typeface="Lexend"/>
                <a:sym typeface="Lexend"/>
              </a:rPr>
              <a:t>b)Design same thing with 3x8 decoder</a:t>
            </a:r>
            <a:endParaRPr sz="20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c) Try designing it with single 4x1 Mux</a:t>
            </a:r>
            <a:endParaRPr sz="2000">
              <a:solidFill>
                <a:schemeClr val="dk1"/>
              </a:solidFill>
              <a:latin typeface="Lexend"/>
              <a:ea typeface="Lexend"/>
              <a:cs typeface="Lexend"/>
              <a:sym typeface="Lexend"/>
            </a:endParaRPr>
          </a:p>
        </p:txBody>
      </p:sp>
      <p:grpSp>
        <p:nvGrpSpPr>
          <p:cNvPr id="934" name="Google Shape;934;p55"/>
          <p:cNvGrpSpPr/>
          <p:nvPr/>
        </p:nvGrpSpPr>
        <p:grpSpPr>
          <a:xfrm>
            <a:off x="50480" y="122879"/>
            <a:ext cx="277873" cy="68400"/>
            <a:chOff x="411700" y="2416840"/>
            <a:chExt cx="277873" cy="68400"/>
          </a:xfrm>
        </p:grpSpPr>
        <p:sp>
          <p:nvSpPr>
            <p:cNvPr id="935" name="Google Shape;935;p55"/>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6" name="Google Shape;936;p55"/>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55"/>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38" name="Google Shape;938;p55"/>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it yourself</a:t>
            </a:r>
            <a:endParaRPr sz="4400">
              <a:solidFill>
                <a:schemeClr val="dk1"/>
              </a:solidFill>
              <a:latin typeface="Calibri"/>
              <a:ea typeface="Calibri"/>
              <a:cs typeface="Calibri"/>
              <a:sym typeface="Calibri"/>
            </a:endParaRPr>
          </a:p>
        </p:txBody>
      </p:sp>
      <p:sp>
        <p:nvSpPr>
          <p:cNvPr id="939" name="Google Shape;939;p5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40" name="Google Shape;940;p5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5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46" name="Google Shape;946;p5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47" name="Google Shape;947;p5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48" name="Google Shape;948;p56"/>
          <p:cNvSpPr txBox="1"/>
          <p:nvPr/>
        </p:nvSpPr>
        <p:spPr>
          <a:xfrm>
            <a:off x="256650" y="972850"/>
            <a:ext cx="84285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000">
                <a:solidFill>
                  <a:schemeClr val="dk1"/>
                </a:solidFill>
                <a:latin typeface="Lexend"/>
                <a:ea typeface="Lexend"/>
                <a:cs typeface="Lexend"/>
                <a:sym typeface="Lexend"/>
              </a:rPr>
              <a:t>F=∑(0,4,5)</a:t>
            </a:r>
            <a:endParaRPr sz="2000">
              <a:solidFill>
                <a:schemeClr val="dk1"/>
              </a:solidFill>
              <a:latin typeface="Lexend"/>
              <a:ea typeface="Lexend"/>
              <a:cs typeface="Lexend"/>
              <a:sym typeface="Lexend"/>
            </a:endParaRPr>
          </a:p>
        </p:txBody>
      </p:sp>
      <p:grpSp>
        <p:nvGrpSpPr>
          <p:cNvPr id="949" name="Google Shape;949;p56"/>
          <p:cNvGrpSpPr/>
          <p:nvPr/>
        </p:nvGrpSpPr>
        <p:grpSpPr>
          <a:xfrm>
            <a:off x="50480" y="122879"/>
            <a:ext cx="277873" cy="68400"/>
            <a:chOff x="411700" y="2416840"/>
            <a:chExt cx="277873" cy="68400"/>
          </a:xfrm>
        </p:grpSpPr>
        <p:sp>
          <p:nvSpPr>
            <p:cNvPr id="950" name="Google Shape;950;p5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5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2" name="Google Shape;952;p5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53" name="Google Shape;953;p56"/>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3600">
              <a:solidFill>
                <a:schemeClr val="dk1"/>
              </a:solidFill>
              <a:latin typeface="Lexend"/>
              <a:ea typeface="Lexend"/>
              <a:cs typeface="Lexend"/>
              <a:sym typeface="Lexend"/>
            </a:endParaRPr>
          </a:p>
        </p:txBody>
      </p:sp>
      <p:sp>
        <p:nvSpPr>
          <p:cNvPr id="954" name="Google Shape;954;p5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55" name="Google Shape;955;p5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56" name="Google Shape;956;p56"/>
          <p:cNvGrpSpPr/>
          <p:nvPr/>
        </p:nvGrpSpPr>
        <p:grpSpPr>
          <a:xfrm>
            <a:off x="710914" y="1838176"/>
            <a:ext cx="3128975" cy="2405063"/>
            <a:chOff x="533388" y="2724150"/>
            <a:chExt cx="3128975" cy="2405063"/>
          </a:xfrm>
        </p:grpSpPr>
        <p:pic>
          <p:nvPicPr>
            <p:cNvPr id="957" name="Google Shape;957;p56"/>
            <p:cNvPicPr preferRelativeResize="0"/>
            <p:nvPr/>
          </p:nvPicPr>
          <p:blipFill rotWithShape="1">
            <a:blip r:embed="rId4">
              <a:alphaModFix/>
            </a:blip>
            <a:srcRect b="0" l="0" r="0" t="0"/>
            <a:stretch/>
          </p:blipFill>
          <p:spPr>
            <a:xfrm>
              <a:off x="1528763" y="2724150"/>
              <a:ext cx="2133600" cy="2405063"/>
            </a:xfrm>
            <a:prstGeom prst="rect">
              <a:avLst/>
            </a:prstGeom>
            <a:noFill/>
            <a:ln>
              <a:noFill/>
            </a:ln>
          </p:spPr>
        </p:pic>
        <p:grpSp>
          <p:nvGrpSpPr>
            <p:cNvPr id="958" name="Google Shape;958;p56"/>
            <p:cNvGrpSpPr/>
            <p:nvPr/>
          </p:nvGrpSpPr>
          <p:grpSpPr>
            <a:xfrm>
              <a:off x="533388" y="2935427"/>
              <a:ext cx="1133469" cy="1909882"/>
              <a:chOff x="2286000" y="3124200"/>
              <a:chExt cx="1134036" cy="1909500"/>
            </a:xfrm>
          </p:grpSpPr>
          <p:cxnSp>
            <p:nvCxnSpPr>
              <p:cNvPr id="959" name="Google Shape;959;p56"/>
              <p:cNvCxnSpPr/>
              <p:nvPr/>
            </p:nvCxnSpPr>
            <p:spPr>
              <a:xfrm rot="10800000">
                <a:off x="2438436" y="3124200"/>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0" name="Google Shape;960;p56"/>
              <p:cNvCxnSpPr/>
              <p:nvPr/>
            </p:nvCxnSpPr>
            <p:spPr>
              <a:xfrm rot="10800000">
                <a:off x="2438436" y="3886081"/>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1" name="Google Shape;961;p56"/>
              <p:cNvCxnSpPr/>
              <p:nvPr/>
            </p:nvCxnSpPr>
            <p:spPr>
              <a:xfrm rot="10800000">
                <a:off x="2438436" y="4119407"/>
                <a:ext cx="981600" cy="0"/>
              </a:xfrm>
              <a:prstGeom prst="straightConnector1">
                <a:avLst/>
              </a:prstGeom>
              <a:noFill/>
              <a:ln cap="flat" cmpd="sng" w="9525">
                <a:solidFill>
                  <a:srgbClr val="5B9BD5"/>
                </a:solidFill>
                <a:prstDash val="solid"/>
                <a:miter lim="800000"/>
                <a:headEnd len="sm" w="sm" type="none"/>
                <a:tailEnd len="sm" w="sm" type="none"/>
              </a:ln>
            </p:spPr>
          </p:cxnSp>
          <p:cxnSp>
            <p:nvCxnSpPr>
              <p:cNvPr id="962" name="Google Shape;962;p56"/>
              <p:cNvCxnSpPr/>
              <p:nvPr/>
            </p:nvCxnSpPr>
            <p:spPr>
              <a:xfrm>
                <a:off x="2438475" y="3124200"/>
                <a:ext cx="0" cy="1371300"/>
              </a:xfrm>
              <a:prstGeom prst="straightConnector1">
                <a:avLst/>
              </a:prstGeom>
              <a:noFill/>
              <a:ln cap="flat" cmpd="sng" w="9525">
                <a:solidFill>
                  <a:srgbClr val="5B9BD5"/>
                </a:solidFill>
                <a:prstDash val="solid"/>
                <a:miter lim="800000"/>
                <a:headEnd len="sm" w="sm" type="none"/>
                <a:tailEnd len="sm" w="sm" type="none"/>
              </a:ln>
            </p:spPr>
          </p:cxnSp>
          <p:sp>
            <p:nvSpPr>
              <p:cNvPr id="963" name="Google Shape;963;p56"/>
              <p:cNvSpPr txBox="1"/>
              <p:nvPr/>
            </p:nvSpPr>
            <p:spPr>
              <a:xfrm>
                <a:off x="2286000" y="4572000"/>
                <a:ext cx="99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none" cap="none" strike="noStrike">
                    <a:solidFill>
                      <a:srgbClr val="000000"/>
                    </a:solidFill>
                    <a:latin typeface="Lexend"/>
                    <a:ea typeface="Lexend"/>
                    <a:cs typeface="Lexend"/>
                    <a:sym typeface="Lexend"/>
                  </a:rPr>
                  <a:t>5V</a:t>
                </a:r>
                <a:endParaRPr i="0" sz="1400" u="none" cap="none" strike="noStrike">
                  <a:solidFill>
                    <a:srgbClr val="000000"/>
                  </a:solidFill>
                  <a:latin typeface="Lexend"/>
                  <a:ea typeface="Lexend"/>
                  <a:cs typeface="Lexend"/>
                  <a:sym typeface="Lexend"/>
                </a:endParaRPr>
              </a:p>
            </p:txBody>
          </p:sp>
        </p:grpSp>
      </p:grpSp>
      <p:sp>
        <p:nvSpPr>
          <p:cNvPr id="964" name="Google Shape;964;p56"/>
          <p:cNvSpPr txBox="1"/>
          <p:nvPr/>
        </p:nvSpPr>
        <p:spPr>
          <a:xfrm>
            <a:off x="328339" y="1598463"/>
            <a:ext cx="458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rgbClr val="000000"/>
                </a:solidFill>
                <a:latin typeface="Lexend"/>
                <a:ea typeface="Lexend"/>
                <a:cs typeface="Lexend"/>
                <a:sym typeface="Lexend"/>
              </a:rPr>
              <a:t>a)</a:t>
            </a:r>
            <a:endParaRPr i="0" sz="1000" u="none" cap="none" strike="noStrike">
              <a:solidFill>
                <a:srgbClr val="000000"/>
              </a:solidFill>
              <a:latin typeface="Lexend"/>
              <a:ea typeface="Lexend"/>
              <a:cs typeface="Lexend"/>
              <a:sym typeface="Lexend"/>
            </a:endParaRPr>
          </a:p>
        </p:txBody>
      </p:sp>
      <p:sp>
        <p:nvSpPr>
          <p:cNvPr id="965" name="Google Shape;965;p56"/>
          <p:cNvSpPr txBox="1"/>
          <p:nvPr/>
        </p:nvSpPr>
        <p:spPr>
          <a:xfrm>
            <a:off x="4072300" y="1525863"/>
            <a:ext cx="5334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200" u="none" cap="none" strike="noStrike">
                <a:solidFill>
                  <a:srgbClr val="000000"/>
                </a:solidFill>
                <a:latin typeface="Lexend"/>
                <a:ea typeface="Lexend"/>
                <a:cs typeface="Lexend"/>
                <a:sym typeface="Lexend"/>
              </a:rPr>
              <a:t>b)</a:t>
            </a:r>
            <a:endParaRPr i="0" sz="1200" u="none" cap="none" strike="noStrike">
              <a:solidFill>
                <a:srgbClr val="000000"/>
              </a:solidFill>
              <a:latin typeface="Lexend"/>
              <a:ea typeface="Lexend"/>
              <a:cs typeface="Lexend"/>
              <a:sym typeface="Lexend"/>
            </a:endParaRPr>
          </a:p>
        </p:txBody>
      </p:sp>
      <p:pic>
        <p:nvPicPr>
          <p:cNvPr id="966" name="Google Shape;966;p56"/>
          <p:cNvPicPr preferRelativeResize="0"/>
          <p:nvPr/>
        </p:nvPicPr>
        <p:blipFill rotWithShape="1">
          <a:blip r:embed="rId5">
            <a:alphaModFix/>
          </a:blip>
          <a:srcRect b="0" l="0" r="0" t="0"/>
          <a:stretch/>
        </p:blipFill>
        <p:spPr>
          <a:xfrm>
            <a:off x="4567675" y="1683112"/>
            <a:ext cx="4576318" cy="2265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5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2" name="Google Shape;972;p57"/>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73" name="Google Shape;973;p5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74" name="Google Shape;974;p57"/>
          <p:cNvSpPr txBox="1"/>
          <p:nvPr/>
        </p:nvSpPr>
        <p:spPr>
          <a:xfrm>
            <a:off x="247825" y="829025"/>
            <a:ext cx="8428500" cy="2973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in a column are not circled, apply 0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two minterms are circled, apply 1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Clr>
                <a:schemeClr val="dk1"/>
              </a:buClr>
              <a:buSzPts val="1100"/>
              <a:buFont typeface="Arial"/>
              <a:buNone/>
            </a:pPr>
            <a:r>
              <a:rPr lang="en" sz="2100">
                <a:solidFill>
                  <a:schemeClr val="dk1"/>
                </a:solidFill>
                <a:latin typeface="Lexend"/>
                <a:ea typeface="Lexend"/>
                <a:cs typeface="Lexend"/>
                <a:sym typeface="Lexend"/>
              </a:rPr>
              <a:t>If the bottom minterm is circled and the top is not circled, apply A to the corresponding multiplexer input.</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If the top minterm is circled and the bottom is not circled, apply A' to the corresponding multiplexer input.</a:t>
            </a:r>
            <a:endParaRPr sz="2200">
              <a:solidFill>
                <a:schemeClr val="dk1"/>
              </a:solidFill>
              <a:latin typeface="Lexend"/>
              <a:ea typeface="Lexend"/>
              <a:cs typeface="Lexend"/>
              <a:sym typeface="Lexend"/>
            </a:endParaRPr>
          </a:p>
        </p:txBody>
      </p:sp>
      <p:grpSp>
        <p:nvGrpSpPr>
          <p:cNvPr id="975" name="Google Shape;975;p57"/>
          <p:cNvGrpSpPr/>
          <p:nvPr/>
        </p:nvGrpSpPr>
        <p:grpSpPr>
          <a:xfrm>
            <a:off x="50480" y="122879"/>
            <a:ext cx="277873" cy="68400"/>
            <a:chOff x="411700" y="2416840"/>
            <a:chExt cx="277873" cy="68400"/>
          </a:xfrm>
        </p:grpSpPr>
        <p:sp>
          <p:nvSpPr>
            <p:cNvPr id="976" name="Google Shape;976;p5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5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5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79" name="Google Shape;979;p57"/>
          <p:cNvSpPr txBox="1"/>
          <p:nvPr/>
        </p:nvSpPr>
        <p:spPr>
          <a:xfrm>
            <a:off x="209775" y="163775"/>
            <a:ext cx="90459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2500">
                <a:solidFill>
                  <a:schemeClr val="dk1"/>
                </a:solidFill>
                <a:latin typeface="Lexend"/>
                <a:ea typeface="Lexend"/>
                <a:cs typeface="Lexend"/>
                <a:sym typeface="Lexend"/>
              </a:rPr>
              <a:t>Rules: for using smaller mux to build larger equation</a:t>
            </a:r>
            <a:endParaRPr sz="2500">
              <a:solidFill>
                <a:schemeClr val="dk1"/>
              </a:solidFill>
              <a:latin typeface="Lexend"/>
              <a:ea typeface="Lexend"/>
              <a:cs typeface="Lexend"/>
              <a:sym typeface="Lexend"/>
            </a:endParaRPr>
          </a:p>
        </p:txBody>
      </p:sp>
      <p:sp>
        <p:nvSpPr>
          <p:cNvPr id="980" name="Google Shape;980;p5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81" name="Google Shape;981;p5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58"/>
          <p:cNvSpPr/>
          <p:nvPr/>
        </p:nvSpPr>
        <p:spPr>
          <a:xfrm>
            <a:off x="0" y="1015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7" name="Google Shape;987;p5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988" name="Google Shape;988;p5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989" name="Google Shape;989;p58"/>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990" name="Google Shape;990;p58"/>
          <p:cNvGrpSpPr/>
          <p:nvPr/>
        </p:nvGrpSpPr>
        <p:grpSpPr>
          <a:xfrm>
            <a:off x="50480" y="122879"/>
            <a:ext cx="277873" cy="68400"/>
            <a:chOff x="411700" y="2416840"/>
            <a:chExt cx="277873" cy="68400"/>
          </a:xfrm>
        </p:grpSpPr>
        <p:sp>
          <p:nvSpPr>
            <p:cNvPr id="991" name="Google Shape;991;p5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2" name="Google Shape;992;p5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3" name="Google Shape;993;p5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94" name="Google Shape;994;p58"/>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Solution </a:t>
            </a:r>
            <a:endParaRPr sz="3600">
              <a:solidFill>
                <a:schemeClr val="dk1"/>
              </a:solidFill>
              <a:latin typeface="Lexend"/>
              <a:ea typeface="Lexend"/>
              <a:cs typeface="Lexend"/>
              <a:sym typeface="Lexend"/>
            </a:endParaRPr>
          </a:p>
        </p:txBody>
      </p:sp>
      <p:sp>
        <p:nvSpPr>
          <p:cNvPr id="995" name="Google Shape;995;p5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996" name="Google Shape;996;p5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997" name="Google Shape;997;p58"/>
          <p:cNvGrpSpPr/>
          <p:nvPr/>
        </p:nvGrpSpPr>
        <p:grpSpPr>
          <a:xfrm>
            <a:off x="1093601" y="2094990"/>
            <a:ext cx="2524125" cy="1533982"/>
            <a:chOff x="3307662" y="4581525"/>
            <a:chExt cx="2524125" cy="1533675"/>
          </a:xfrm>
        </p:grpSpPr>
        <p:grpSp>
          <p:nvGrpSpPr>
            <p:cNvPr id="998" name="Google Shape;998;p58"/>
            <p:cNvGrpSpPr/>
            <p:nvPr/>
          </p:nvGrpSpPr>
          <p:grpSpPr>
            <a:xfrm>
              <a:off x="3307662" y="4581525"/>
              <a:ext cx="2524125" cy="1514475"/>
              <a:chOff x="3307662" y="4581525"/>
              <a:chExt cx="2524125" cy="1514475"/>
            </a:xfrm>
          </p:grpSpPr>
          <p:pic>
            <p:nvPicPr>
              <p:cNvPr id="999" name="Google Shape;999;p58"/>
              <p:cNvPicPr preferRelativeResize="0"/>
              <p:nvPr/>
            </p:nvPicPr>
            <p:blipFill rotWithShape="1">
              <a:blip r:embed="rId4">
                <a:alphaModFix/>
              </a:blip>
              <a:srcRect b="0" l="0" r="0" t="0"/>
              <a:stretch/>
            </p:blipFill>
            <p:spPr>
              <a:xfrm>
                <a:off x="3307662" y="4581525"/>
                <a:ext cx="2524125" cy="1514475"/>
              </a:xfrm>
              <a:prstGeom prst="rect">
                <a:avLst/>
              </a:prstGeom>
              <a:noFill/>
              <a:ln>
                <a:noFill/>
              </a:ln>
            </p:spPr>
          </p:pic>
          <p:sp>
            <p:nvSpPr>
              <p:cNvPr id="1000" name="Google Shape;1000;p58"/>
              <p:cNvSpPr/>
              <p:nvPr/>
            </p:nvSpPr>
            <p:spPr>
              <a:xfrm>
                <a:off x="3961712" y="5029117"/>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1" name="Google Shape;1001;p58"/>
              <p:cNvSpPr/>
              <p:nvPr/>
            </p:nvSpPr>
            <p:spPr>
              <a:xfrm>
                <a:off x="3961712" y="5341795"/>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02" name="Google Shape;1002;p58"/>
              <p:cNvSpPr/>
              <p:nvPr/>
            </p:nvSpPr>
            <p:spPr>
              <a:xfrm>
                <a:off x="4417325" y="5357667"/>
                <a:ext cx="152400" cy="228600"/>
              </a:xfrm>
              <a:prstGeom prst="ellipse">
                <a:avLst/>
              </a:prstGeom>
              <a:no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sp>
          <p:nvSpPr>
            <p:cNvPr id="1003" name="Google Shape;1003;p58"/>
            <p:cNvSpPr txBox="1"/>
            <p:nvPr/>
          </p:nvSpPr>
          <p:spPr>
            <a:xfrm>
              <a:off x="3886200" y="5715000"/>
              <a:ext cx="17526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000" u="none" cap="none" strike="noStrike">
                  <a:solidFill>
                    <a:srgbClr val="000000"/>
                  </a:solidFill>
                  <a:latin typeface="Lexend"/>
                  <a:ea typeface="Lexend"/>
                  <a:cs typeface="Lexend"/>
                  <a:sym typeface="Lexend"/>
                </a:rPr>
                <a:t>1     A    0    0</a:t>
              </a:r>
              <a:endParaRPr i="0" sz="1000" u="none" cap="none" strike="noStrike">
                <a:solidFill>
                  <a:srgbClr val="000000"/>
                </a:solidFill>
                <a:latin typeface="Lexend"/>
                <a:ea typeface="Lexend"/>
                <a:cs typeface="Lexend"/>
                <a:sym typeface="Lexend"/>
              </a:endParaRPr>
            </a:p>
          </p:txBody>
        </p:sp>
      </p:grpSp>
      <p:grpSp>
        <p:nvGrpSpPr>
          <p:cNvPr id="1004" name="Google Shape;1004;p58"/>
          <p:cNvGrpSpPr/>
          <p:nvPr/>
        </p:nvGrpSpPr>
        <p:grpSpPr>
          <a:xfrm>
            <a:off x="5684740" y="1935562"/>
            <a:ext cx="1890805" cy="1859899"/>
            <a:chOff x="6665212" y="4286458"/>
            <a:chExt cx="1889482" cy="1859341"/>
          </a:xfrm>
        </p:grpSpPr>
        <p:sp>
          <p:nvSpPr>
            <p:cNvPr id="1005" name="Google Shape;1005;p58"/>
            <p:cNvSpPr txBox="1"/>
            <p:nvPr/>
          </p:nvSpPr>
          <p:spPr>
            <a:xfrm>
              <a:off x="7335494" y="5714999"/>
              <a:ext cx="12192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200" u="none" cap="none" strike="noStrike">
                  <a:solidFill>
                    <a:srgbClr val="000000"/>
                  </a:solidFill>
                  <a:latin typeface="Lexend"/>
                  <a:ea typeface="Lexend"/>
                  <a:cs typeface="Lexend"/>
                  <a:sym typeface="Lexend"/>
                </a:rPr>
                <a:t>B   C</a:t>
              </a:r>
              <a:endParaRPr i="0" sz="1200" u="none" cap="none" strike="noStrike">
                <a:solidFill>
                  <a:srgbClr val="000000"/>
                </a:solidFill>
                <a:latin typeface="Lexend"/>
                <a:ea typeface="Lexend"/>
                <a:cs typeface="Lexend"/>
                <a:sym typeface="Lexend"/>
              </a:endParaRPr>
            </a:p>
          </p:txBody>
        </p:sp>
        <p:grpSp>
          <p:nvGrpSpPr>
            <p:cNvPr id="1006" name="Google Shape;1006;p58"/>
            <p:cNvGrpSpPr/>
            <p:nvPr/>
          </p:nvGrpSpPr>
          <p:grpSpPr>
            <a:xfrm>
              <a:off x="6665212" y="4286458"/>
              <a:ext cx="1817411" cy="1705416"/>
              <a:chOff x="6665212" y="4286458"/>
              <a:chExt cx="1817411" cy="1705416"/>
            </a:xfrm>
          </p:grpSpPr>
          <p:pic>
            <p:nvPicPr>
              <p:cNvPr id="1007" name="Google Shape;1007;p58"/>
              <p:cNvPicPr preferRelativeResize="0"/>
              <p:nvPr/>
            </p:nvPicPr>
            <p:blipFill rotWithShape="1">
              <a:blip r:embed="rId5">
                <a:alphaModFix/>
              </a:blip>
              <a:srcRect b="0" l="0" r="0" t="0"/>
              <a:stretch/>
            </p:blipFill>
            <p:spPr>
              <a:xfrm>
                <a:off x="6939174" y="4286458"/>
                <a:ext cx="1543449" cy="1428542"/>
              </a:xfrm>
              <a:prstGeom prst="rect">
                <a:avLst/>
              </a:prstGeom>
              <a:noFill/>
              <a:ln>
                <a:noFill/>
              </a:ln>
            </p:spPr>
          </p:pic>
          <p:sp>
            <p:nvSpPr>
              <p:cNvPr id="1008" name="Google Shape;1008;p58"/>
              <p:cNvSpPr txBox="1"/>
              <p:nvPr/>
            </p:nvSpPr>
            <p:spPr>
              <a:xfrm>
                <a:off x="6665212" y="4360774"/>
                <a:ext cx="403800" cy="1631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1</a:t>
                </a:r>
                <a:br>
                  <a:rPr b="0" i="0" lang="en" sz="2000" u="none" cap="none" strike="noStrike">
                    <a:solidFill>
                      <a:srgbClr val="000000"/>
                    </a:solidFill>
                    <a:latin typeface="Times New Roman"/>
                    <a:ea typeface="Times New Roman"/>
                    <a:cs typeface="Times New Roman"/>
                    <a:sym typeface="Times New Roman"/>
                  </a:rPr>
                </a:br>
                <a:r>
                  <a:rPr b="0" i="0" lang="en" sz="2000" u="none" cap="none" strike="noStrike">
                    <a:solidFill>
                      <a:srgbClr val="000000"/>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0</a:t>
                </a:r>
                <a:br>
                  <a:rPr b="0" i="0" lang="en" sz="2000" u="none" cap="none" strike="noStrike">
                    <a:solidFill>
                      <a:srgbClr val="000000"/>
                    </a:solidFill>
                    <a:latin typeface="Times New Roman"/>
                    <a:ea typeface="Times New Roman"/>
                    <a:cs typeface="Times New Roman"/>
                    <a:sym typeface="Times New Roman"/>
                  </a:rPr>
                </a:br>
                <a:endParaRPr b="0" i="0" sz="2000" u="none" cap="none" strike="noStrike">
                  <a:solidFill>
                    <a:srgbClr val="000000"/>
                  </a:solidFill>
                  <a:latin typeface="Times New Roman"/>
                  <a:ea typeface="Times New Roman"/>
                  <a:cs typeface="Times New Roman"/>
                  <a:sym typeface="Times New Roman"/>
                </a:endParaRPr>
              </a:p>
            </p:txBody>
          </p:sp>
        </p:grpSp>
      </p:grpSp>
      <p:sp>
        <p:nvSpPr>
          <p:cNvPr id="1009" name="Google Shape;1009;p58"/>
          <p:cNvSpPr txBox="1"/>
          <p:nvPr/>
        </p:nvSpPr>
        <p:spPr>
          <a:xfrm>
            <a:off x="3153925" y="850463"/>
            <a:ext cx="26163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300" u="none" cap="none" strike="noStrike">
                <a:solidFill>
                  <a:srgbClr val="000000"/>
                </a:solidFill>
                <a:latin typeface="Lexend"/>
                <a:ea typeface="Lexend"/>
                <a:cs typeface="Lexend"/>
                <a:sym typeface="Lexend"/>
              </a:rPr>
              <a:t>Answer: Part ( c )</a:t>
            </a:r>
            <a:endParaRPr i="0" sz="1300" u="none" cap="none" strike="noStrike">
              <a:solidFill>
                <a:srgbClr val="000000"/>
              </a:solidFill>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59"/>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15" name="Google Shape;1015;p5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16" name="Google Shape;1016;p59"/>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17" name="Google Shape;1017;p59"/>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18" name="Google Shape;1018;p59"/>
          <p:cNvGrpSpPr/>
          <p:nvPr/>
        </p:nvGrpSpPr>
        <p:grpSpPr>
          <a:xfrm>
            <a:off x="50480" y="122879"/>
            <a:ext cx="277873" cy="68400"/>
            <a:chOff x="411700" y="2416840"/>
            <a:chExt cx="277873" cy="68400"/>
          </a:xfrm>
        </p:grpSpPr>
        <p:sp>
          <p:nvSpPr>
            <p:cNvPr id="1019" name="Google Shape;1019;p5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0" name="Google Shape;1020;p5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1" name="Google Shape;1021;p5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22" name="Google Shape;1022;p59"/>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Build the following function using 4x1 MUX</a:t>
            </a:r>
            <a:endParaRPr sz="3000">
              <a:solidFill>
                <a:schemeClr val="dk1"/>
              </a:solidFill>
              <a:latin typeface="Lexend"/>
              <a:ea typeface="Lexend"/>
              <a:cs typeface="Lexend"/>
              <a:sym typeface="Lexend"/>
            </a:endParaRPr>
          </a:p>
        </p:txBody>
      </p:sp>
      <p:sp>
        <p:nvSpPr>
          <p:cNvPr id="1023" name="Google Shape;1023;p5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24" name="Google Shape;1024;p5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25" name="Google Shape;1025;p59"/>
          <p:cNvSpPr txBox="1"/>
          <p:nvPr/>
        </p:nvSpPr>
        <p:spPr>
          <a:xfrm>
            <a:off x="247825" y="829025"/>
            <a:ext cx="8428500" cy="475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 = ∑ ( 1, 3, 5, 6)</a:t>
            </a:r>
            <a:endParaRPr sz="2200">
              <a:solidFill>
                <a:schemeClr val="dk1"/>
              </a:solidFill>
              <a:latin typeface="Lexend"/>
              <a:ea typeface="Lexend"/>
              <a:cs typeface="Lexend"/>
              <a:sym typeface="Lexend"/>
            </a:endParaRPr>
          </a:p>
        </p:txBody>
      </p:sp>
      <p:pic>
        <p:nvPicPr>
          <p:cNvPr id="1026" name="Google Shape;1026;p59"/>
          <p:cNvPicPr preferRelativeResize="0"/>
          <p:nvPr/>
        </p:nvPicPr>
        <p:blipFill rotWithShape="1">
          <a:blip r:embed="rId4">
            <a:alphaModFix/>
          </a:blip>
          <a:srcRect b="0" l="0" r="0" t="0"/>
          <a:stretch/>
        </p:blipFill>
        <p:spPr>
          <a:xfrm>
            <a:off x="5195825" y="1586624"/>
            <a:ext cx="3871974" cy="2474675"/>
          </a:xfrm>
          <a:prstGeom prst="rect">
            <a:avLst/>
          </a:prstGeom>
          <a:noFill/>
          <a:ln>
            <a:noFill/>
          </a:ln>
        </p:spPr>
      </p:pic>
      <p:pic>
        <p:nvPicPr>
          <p:cNvPr id="1027" name="Google Shape;1027;p59"/>
          <p:cNvPicPr preferRelativeResize="0"/>
          <p:nvPr/>
        </p:nvPicPr>
        <p:blipFill rotWithShape="1">
          <a:blip r:embed="rId5">
            <a:alphaModFix/>
          </a:blip>
          <a:srcRect b="8199" l="33528" r="32259" t="64572"/>
          <a:stretch/>
        </p:blipFill>
        <p:spPr>
          <a:xfrm>
            <a:off x="1516888" y="1976550"/>
            <a:ext cx="2479424" cy="15672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6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33" name="Google Shape;1033;p6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34" name="Google Shape;1034;p6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35" name="Google Shape;1035;p60"/>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36" name="Google Shape;1036;p60"/>
          <p:cNvGrpSpPr/>
          <p:nvPr/>
        </p:nvGrpSpPr>
        <p:grpSpPr>
          <a:xfrm>
            <a:off x="50480" y="122879"/>
            <a:ext cx="277873" cy="68400"/>
            <a:chOff x="411700" y="2416840"/>
            <a:chExt cx="277873" cy="68400"/>
          </a:xfrm>
        </p:grpSpPr>
        <p:sp>
          <p:nvSpPr>
            <p:cNvPr id="1037" name="Google Shape;1037;p6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8" name="Google Shape;1038;p6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9" name="Google Shape;1039;p6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40" name="Google Shape;1040;p60"/>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Try it yourself</a:t>
            </a:r>
            <a:endParaRPr sz="3000">
              <a:solidFill>
                <a:schemeClr val="dk1"/>
              </a:solidFill>
              <a:latin typeface="Lexend"/>
              <a:ea typeface="Lexend"/>
              <a:cs typeface="Lexend"/>
              <a:sym typeface="Lexend"/>
            </a:endParaRPr>
          </a:p>
        </p:txBody>
      </p:sp>
      <p:sp>
        <p:nvSpPr>
          <p:cNvPr id="1041" name="Google Shape;1041;p6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42" name="Google Shape;1042;p6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43" name="Google Shape;1043;p60"/>
          <p:cNvSpPr txBox="1"/>
          <p:nvPr/>
        </p:nvSpPr>
        <p:spPr>
          <a:xfrm>
            <a:off x="247825" y="829025"/>
            <a:ext cx="8428500" cy="1557600"/>
          </a:xfrm>
          <a:prstGeom prst="rect">
            <a:avLst/>
          </a:prstGeom>
          <a:noFill/>
          <a:ln>
            <a:noFill/>
          </a:ln>
        </p:spPr>
        <p:txBody>
          <a:bodyPr anchorCtr="0" anchor="t" bIns="91425" lIns="91425" spcFirstLastPara="1" rIns="91425" wrap="square" tIns="91425">
            <a:spAutoFit/>
          </a:bodyPr>
          <a:lstStyle/>
          <a:p>
            <a:pPr indent="-368300" lvl="0" marL="457200" rtl="0" algn="l">
              <a:lnSpc>
                <a:spcPct val="90000"/>
              </a:lnSpc>
              <a:spcBef>
                <a:spcPts val="120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8x1 Mux.</a:t>
            </a:r>
            <a:endParaRPr sz="2200">
              <a:solidFill>
                <a:schemeClr val="dk1"/>
              </a:solidFill>
              <a:latin typeface="Lexend"/>
              <a:ea typeface="Lexend"/>
              <a:cs typeface="Lexend"/>
              <a:sym typeface="Lexend"/>
            </a:endParaRPr>
          </a:p>
          <a:p>
            <a:pPr indent="-368300" lvl="0" marL="457200" rtl="0" algn="l">
              <a:lnSpc>
                <a:spcPct val="90000"/>
              </a:lnSpc>
              <a:spcBef>
                <a:spcPts val="0"/>
              </a:spcBef>
              <a:spcAft>
                <a:spcPts val="0"/>
              </a:spcAft>
              <a:buClr>
                <a:schemeClr val="dk1"/>
              </a:buClr>
              <a:buSzPts val="2200"/>
              <a:buFont typeface="Lexend"/>
              <a:buAutoNum type="alphaLcPeriod"/>
            </a:pPr>
            <a:r>
              <a:rPr lang="en" sz="2200">
                <a:solidFill>
                  <a:schemeClr val="dk1"/>
                </a:solidFill>
                <a:latin typeface="Lexend"/>
                <a:ea typeface="Lexend"/>
                <a:cs typeface="Lexend"/>
                <a:sym typeface="Lexend"/>
              </a:rPr>
              <a:t>Implement the below function using a 4x16 decoder and OR gates</a:t>
            </a:r>
            <a:endParaRPr sz="22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200">
                <a:solidFill>
                  <a:schemeClr val="dk1"/>
                </a:solidFill>
                <a:latin typeface="Lexend"/>
                <a:ea typeface="Lexend"/>
                <a:cs typeface="Lexend"/>
                <a:sym typeface="Lexend"/>
              </a:rPr>
              <a:t>F(A,B,C,D) = ∑ ( 0,1,3,4,8,9,15)</a:t>
            </a:r>
            <a:endParaRPr sz="2200">
              <a:solidFill>
                <a:schemeClr val="dk1"/>
              </a:solidFill>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61"/>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49" name="Google Shape;1049;p6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50" name="Google Shape;1050;p61"/>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51" name="Google Shape;1051;p61"/>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52" name="Google Shape;1052;p61"/>
          <p:cNvGrpSpPr/>
          <p:nvPr/>
        </p:nvGrpSpPr>
        <p:grpSpPr>
          <a:xfrm>
            <a:off x="50480" y="122879"/>
            <a:ext cx="277873" cy="68400"/>
            <a:chOff x="411700" y="2416840"/>
            <a:chExt cx="277873" cy="68400"/>
          </a:xfrm>
        </p:grpSpPr>
        <p:sp>
          <p:nvSpPr>
            <p:cNvPr id="1053" name="Google Shape;1053;p6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6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5" name="Google Shape;1055;p6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56" name="Google Shape;1056;p61"/>
          <p:cNvSpPr txBox="1"/>
          <p:nvPr/>
        </p:nvSpPr>
        <p:spPr>
          <a:xfrm>
            <a:off x="209775" y="163775"/>
            <a:ext cx="90459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
                <a:solidFill>
                  <a:schemeClr val="dk1"/>
                </a:solidFill>
                <a:latin typeface="Lexend"/>
                <a:ea typeface="Lexend"/>
                <a:cs typeface="Lexend"/>
                <a:sym typeface="Lexend"/>
              </a:rPr>
              <a:t>Solution</a:t>
            </a:r>
            <a:endParaRPr sz="3000">
              <a:solidFill>
                <a:schemeClr val="dk1"/>
              </a:solidFill>
              <a:latin typeface="Lexend"/>
              <a:ea typeface="Lexend"/>
              <a:cs typeface="Lexend"/>
              <a:sym typeface="Lexend"/>
            </a:endParaRPr>
          </a:p>
        </p:txBody>
      </p:sp>
      <p:sp>
        <p:nvSpPr>
          <p:cNvPr id="1057" name="Google Shape;1057;p6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58" name="Google Shape;1058;p6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59" name="Google Shape;1059;p61"/>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200">
                <a:solidFill>
                  <a:schemeClr val="dk1"/>
                </a:solidFill>
                <a:latin typeface="Lexend"/>
                <a:ea typeface="Lexend"/>
                <a:cs typeface="Lexend"/>
                <a:sym typeface="Lexend"/>
              </a:rPr>
              <a:t>a. </a:t>
            </a:r>
            <a:endParaRPr sz="2200">
              <a:solidFill>
                <a:schemeClr val="dk1"/>
              </a:solidFill>
              <a:latin typeface="Lexend"/>
              <a:ea typeface="Lexend"/>
              <a:cs typeface="Lexend"/>
              <a:sym typeface="Lexend"/>
            </a:endParaRPr>
          </a:p>
        </p:txBody>
      </p:sp>
      <p:pic>
        <p:nvPicPr>
          <p:cNvPr id="1060" name="Google Shape;1060;p61"/>
          <p:cNvPicPr preferRelativeResize="0"/>
          <p:nvPr/>
        </p:nvPicPr>
        <p:blipFill rotWithShape="1">
          <a:blip r:embed="rId4">
            <a:alphaModFix/>
          </a:blip>
          <a:srcRect b="0" l="0" r="0" t="0"/>
          <a:stretch/>
        </p:blipFill>
        <p:spPr>
          <a:xfrm>
            <a:off x="662401" y="930275"/>
            <a:ext cx="8071917" cy="3819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6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66" name="Google Shape;1066;p6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67" name="Google Shape;1067;p6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68" name="Google Shape;1068;p62"/>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069" name="Google Shape;1069;p62"/>
          <p:cNvGrpSpPr/>
          <p:nvPr/>
        </p:nvGrpSpPr>
        <p:grpSpPr>
          <a:xfrm>
            <a:off x="50480" y="122879"/>
            <a:ext cx="277873" cy="68400"/>
            <a:chOff x="411700" y="2416840"/>
            <a:chExt cx="277873" cy="68400"/>
          </a:xfrm>
        </p:grpSpPr>
        <p:sp>
          <p:nvSpPr>
            <p:cNvPr id="1070" name="Google Shape;1070;p6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1" name="Google Shape;1071;p6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2" name="Google Shape;1072;p6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73" name="Google Shape;1073;p62"/>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Home-task: Try it yourself</a:t>
            </a:r>
            <a:endParaRPr sz="3600">
              <a:solidFill>
                <a:schemeClr val="dk1"/>
              </a:solidFill>
              <a:latin typeface="Lexend"/>
              <a:ea typeface="Lexend"/>
              <a:cs typeface="Lexend"/>
              <a:sym typeface="Lexend"/>
            </a:endParaRPr>
          </a:p>
        </p:txBody>
      </p:sp>
      <p:sp>
        <p:nvSpPr>
          <p:cNvPr id="1074" name="Google Shape;1074;p6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75" name="Google Shape;1075;p6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76" name="Google Shape;1076;p62"/>
          <p:cNvSpPr txBox="1"/>
          <p:nvPr/>
        </p:nvSpPr>
        <p:spPr>
          <a:xfrm>
            <a:off x="247825" y="1164175"/>
            <a:ext cx="8428500" cy="366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2500">
              <a:solidFill>
                <a:schemeClr val="dk1"/>
              </a:solidFill>
              <a:latin typeface="Lexend"/>
              <a:ea typeface="Lexend"/>
              <a:cs typeface="Lexend"/>
              <a:sym typeface="Lexend"/>
            </a:endParaRPr>
          </a:p>
          <a:p>
            <a:pPr indent="0" lvl="0" marL="0" rtl="0" algn="l">
              <a:lnSpc>
                <a:spcPct val="90000"/>
              </a:lnSpc>
              <a:spcBef>
                <a:spcPts val="0"/>
              </a:spcBef>
              <a:spcAft>
                <a:spcPts val="0"/>
              </a:spcAft>
              <a:buClr>
                <a:schemeClr val="dk1"/>
              </a:buClr>
              <a:buSzPts val="2800"/>
              <a:buFont typeface="Arial"/>
              <a:buNone/>
            </a:pPr>
            <a:r>
              <a:rPr lang="en" sz="2500">
                <a:solidFill>
                  <a:schemeClr val="dk1"/>
                </a:solidFill>
                <a:latin typeface="Lexend"/>
                <a:ea typeface="Lexend"/>
                <a:cs typeface="Lexend"/>
                <a:sym typeface="Lexend"/>
              </a:rPr>
              <a:t>Using 2:1 MUX  design </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AND gate</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OR gate</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NOT gate</a:t>
            </a:r>
            <a:endParaRPr sz="2500">
              <a:solidFill>
                <a:schemeClr val="dk1"/>
              </a:solidFill>
              <a:latin typeface="Lexend"/>
              <a:ea typeface="Lexend"/>
              <a:cs typeface="Lexend"/>
              <a:sym typeface="Lexend"/>
            </a:endParaRPr>
          </a:p>
          <a:p>
            <a:pPr indent="-50800" lvl="0" marL="228600" rtl="0" algn="l">
              <a:lnSpc>
                <a:spcPct val="90000"/>
              </a:lnSpc>
              <a:spcBef>
                <a:spcPts val="1000"/>
              </a:spcBef>
              <a:spcAft>
                <a:spcPts val="0"/>
              </a:spcAft>
              <a:buClr>
                <a:schemeClr val="dk1"/>
              </a:buClr>
              <a:buSzPts val="2800"/>
              <a:buFont typeface="Arial"/>
              <a:buNone/>
            </a:pPr>
            <a:r>
              <a:t/>
            </a:r>
            <a:endParaRPr sz="2500">
              <a:solidFill>
                <a:schemeClr val="dk1"/>
              </a:solidFill>
              <a:latin typeface="Lexend"/>
              <a:ea typeface="Lexend"/>
              <a:cs typeface="Lexend"/>
              <a:sym typeface="Lexend"/>
            </a:endParaRPr>
          </a:p>
          <a:p>
            <a:pPr indent="-209550" lvl="0" marL="228600" rtl="0" algn="l">
              <a:lnSpc>
                <a:spcPct val="90000"/>
              </a:lnSpc>
              <a:spcBef>
                <a:spcPts val="1000"/>
              </a:spcBef>
              <a:spcAft>
                <a:spcPts val="0"/>
              </a:spcAft>
              <a:buClr>
                <a:schemeClr val="dk1"/>
              </a:buClr>
              <a:buSzPts val="2500"/>
              <a:buFont typeface="Lexend"/>
              <a:buChar char="•"/>
            </a:pPr>
            <a:r>
              <a:rPr lang="en" sz="2500">
                <a:solidFill>
                  <a:schemeClr val="dk1"/>
                </a:solidFill>
                <a:latin typeface="Lexend"/>
                <a:ea typeface="Lexend"/>
                <a:cs typeface="Lexend"/>
                <a:sym typeface="Lexend"/>
              </a:rPr>
              <a:t>Solution: Try YOUTUBE</a:t>
            </a:r>
            <a:endParaRPr sz="25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t/>
            </a:r>
            <a:endParaRPr sz="1900">
              <a:solidFill>
                <a:schemeClr val="dk1"/>
              </a:solidFill>
              <a:latin typeface="Lexend"/>
              <a:ea typeface="Lexend"/>
              <a:cs typeface="Lexend"/>
              <a:sym typeface="Lexen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63"/>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2" name="Google Shape;1082;p6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083" name="Google Shape;1083;p63"/>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084" name="Google Shape;1084;p63"/>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sp>
        <p:nvSpPr>
          <p:cNvPr id="1085" name="Google Shape;1085;p63"/>
          <p:cNvSpPr/>
          <p:nvPr/>
        </p:nvSpPr>
        <p:spPr>
          <a:xfrm>
            <a:off x="1270000" y="3416575"/>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086" name="Google Shape;1086;p63"/>
          <p:cNvGrpSpPr/>
          <p:nvPr/>
        </p:nvGrpSpPr>
        <p:grpSpPr>
          <a:xfrm>
            <a:off x="50480" y="122879"/>
            <a:ext cx="277873" cy="68400"/>
            <a:chOff x="411700" y="2416840"/>
            <a:chExt cx="277873" cy="68400"/>
          </a:xfrm>
        </p:grpSpPr>
        <p:sp>
          <p:nvSpPr>
            <p:cNvPr id="1087" name="Google Shape;1087;p6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8" name="Google Shape;1088;p6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6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90" name="Google Shape;1090;p63"/>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4 variables with 4x1 Mux</a:t>
            </a:r>
            <a:endParaRPr sz="3600">
              <a:solidFill>
                <a:schemeClr val="dk1"/>
              </a:solidFill>
              <a:latin typeface="Lexend"/>
              <a:ea typeface="Lexend"/>
              <a:cs typeface="Lexend"/>
              <a:sym typeface="Lexend"/>
            </a:endParaRPr>
          </a:p>
        </p:txBody>
      </p:sp>
      <p:sp>
        <p:nvSpPr>
          <p:cNvPr id="1091" name="Google Shape;1091;p6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092" name="Google Shape;1092;p6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093" name="Google Shape;1093;p63"/>
          <p:cNvSpPr txBox="1"/>
          <p:nvPr/>
        </p:nvSpPr>
        <p:spPr>
          <a:xfrm>
            <a:off x="247825" y="829025"/>
            <a:ext cx="8428500" cy="475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F(A,B,C,D) = ∑ ( 1,3,4,11,12,13,14,15)</a:t>
            </a:r>
            <a:endParaRPr sz="2200">
              <a:solidFill>
                <a:schemeClr val="dk1"/>
              </a:solidFill>
              <a:latin typeface="Lexend"/>
              <a:ea typeface="Lexend"/>
              <a:cs typeface="Lexend"/>
              <a:sym typeface="Lexend"/>
            </a:endParaRPr>
          </a:p>
        </p:txBody>
      </p:sp>
      <p:graphicFrame>
        <p:nvGraphicFramePr>
          <p:cNvPr id="1094" name="Google Shape;1094;p63"/>
          <p:cNvGraphicFramePr/>
          <p:nvPr/>
        </p:nvGraphicFramePr>
        <p:xfrm>
          <a:off x="6248650" y="590326"/>
          <a:ext cx="3000000" cy="3000000"/>
        </p:xfrm>
        <a:graphic>
          <a:graphicData uri="http://schemas.openxmlformats.org/drawingml/2006/table">
            <a:tbl>
              <a:tblPr>
                <a:noFill/>
                <a:tableStyleId>{A6579D49-83E5-4EAA-99B0-B4FCA156BC75}</a:tableStyleId>
              </a:tblPr>
              <a:tblGrid>
                <a:gridCol w="497750"/>
                <a:gridCol w="507850"/>
                <a:gridCol w="498425"/>
                <a:gridCol w="498425"/>
                <a:gridCol w="464800"/>
              </a:tblGrid>
              <a:tr h="263400">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A</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B</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C</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D</a:t>
                      </a:r>
                      <a:endParaRPr b="1" baseline="-25000" sz="1100" u="none" cap="none" strike="noStrike">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55000"/>
                        </a:lnSpc>
                        <a:spcBef>
                          <a:spcPts val="0"/>
                        </a:spcBef>
                        <a:spcAft>
                          <a:spcPts val="0"/>
                        </a:spcAft>
                        <a:buClr>
                          <a:srgbClr val="000000"/>
                        </a:buClr>
                        <a:buSzPts val="1100"/>
                        <a:buFont typeface="Arial"/>
                        <a:buNone/>
                      </a:pPr>
                      <a:r>
                        <a:rPr b="1" lang="en" sz="1100">
                          <a:solidFill>
                            <a:schemeClr val="dk1"/>
                          </a:solidFill>
                          <a:latin typeface="Lexend"/>
                          <a:ea typeface="Lexend"/>
                          <a:cs typeface="Lexend"/>
                          <a:sym typeface="Lexend"/>
                        </a:rPr>
                        <a:t>min</a:t>
                      </a:r>
                      <a:endParaRPr b="1" sz="1100" u="none" cap="none" strike="noStrike">
                        <a:solidFill>
                          <a:schemeClr val="dk1"/>
                        </a:solidFill>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2</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3</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4</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5</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6</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7</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8</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9</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10</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11</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12</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13</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0</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14</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lang="en" sz="1100" u="none" cap="none" strike="noStrike">
                          <a:latin typeface="Lexend"/>
                          <a:ea typeface="Lexend"/>
                          <a:cs typeface="Lexend"/>
                          <a:sym typeface="Lexend"/>
                        </a:rPr>
                        <a:t>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Clr>
                          <a:srgbClr val="000000"/>
                        </a:buClr>
                        <a:buSzPts val="1000"/>
                        <a:buFont typeface="Arial"/>
                        <a:buNone/>
                      </a:pPr>
                      <a:r>
                        <a:rPr b="1" lang="en" sz="1100">
                          <a:latin typeface="Lexend"/>
                          <a:ea typeface="Lexend"/>
                          <a:cs typeface="Lexend"/>
                          <a:sym typeface="Lexend"/>
                        </a:rPr>
                        <a:t>15</a:t>
                      </a:r>
                      <a:endParaRPr b="1" sz="1100" u="none" cap="none" strike="noStrike">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sp>
        <p:nvSpPr>
          <p:cNvPr id="1095" name="Google Shape;1095;p63"/>
          <p:cNvSpPr/>
          <p:nvPr/>
        </p:nvSpPr>
        <p:spPr>
          <a:xfrm>
            <a:off x="1270000" y="2520150"/>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63"/>
          <p:cNvSpPr/>
          <p:nvPr/>
        </p:nvSpPr>
        <p:spPr>
          <a:xfrm>
            <a:off x="2229375" y="25333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7" name="Google Shape;1097;p63"/>
          <p:cNvSpPr/>
          <p:nvPr/>
        </p:nvSpPr>
        <p:spPr>
          <a:xfrm>
            <a:off x="781050" y="28268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63"/>
          <p:cNvSpPr/>
          <p:nvPr/>
        </p:nvSpPr>
        <p:spPr>
          <a:xfrm>
            <a:off x="2229375" y="31387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9" name="Google Shape;1099;p63"/>
          <p:cNvSpPr/>
          <p:nvPr/>
        </p:nvSpPr>
        <p:spPr>
          <a:xfrm>
            <a:off x="2229375"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0" name="Google Shape;1100;p63"/>
          <p:cNvSpPr/>
          <p:nvPr/>
        </p:nvSpPr>
        <p:spPr>
          <a:xfrm>
            <a:off x="1734350"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1" name="Google Shape;1101;p63"/>
          <p:cNvSpPr/>
          <p:nvPr/>
        </p:nvSpPr>
        <p:spPr>
          <a:xfrm>
            <a:off x="781050" y="3416579"/>
            <a:ext cx="277800" cy="277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1102" name="Google Shape;1102;p63"/>
          <p:cNvGraphicFramePr/>
          <p:nvPr/>
        </p:nvGraphicFramePr>
        <p:xfrm>
          <a:off x="209775" y="2224401"/>
          <a:ext cx="3000000" cy="3000000"/>
        </p:xfrm>
        <a:graphic>
          <a:graphicData uri="http://schemas.openxmlformats.org/drawingml/2006/table">
            <a:tbl>
              <a:tblPr>
                <a:noFill/>
                <a:tableStyleId>{A6579D49-83E5-4EAA-99B0-B4FCA156BC75}</a:tableStyleId>
              </a:tblPr>
              <a:tblGrid>
                <a:gridCol w="476225"/>
                <a:gridCol w="485900"/>
                <a:gridCol w="476900"/>
                <a:gridCol w="476900"/>
                <a:gridCol w="476900"/>
              </a:tblGrid>
              <a:tr h="263400">
                <a:tc>
                  <a:txBody>
                    <a:bodyPr/>
                    <a:lstStyle/>
                    <a:p>
                      <a:pPr indent="0" lvl="0" marL="0" rtl="0" algn="ctr">
                        <a:spcBef>
                          <a:spcPts val="0"/>
                        </a:spcBef>
                        <a:spcAft>
                          <a:spcPts val="0"/>
                        </a:spcAft>
                        <a:buNone/>
                      </a:pPr>
                      <a:r>
                        <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I</a:t>
                      </a:r>
                      <a:r>
                        <a:rPr baseline="-25000" lang="en" sz="1100">
                          <a:latin typeface="Lexend"/>
                          <a:ea typeface="Lexend"/>
                          <a:cs typeface="Lexend"/>
                          <a:sym typeface="Lexend"/>
                        </a:rPr>
                        <a:t>0</a:t>
                      </a:r>
                      <a:endParaRPr baseline="-25000" sz="1100">
                        <a:latin typeface="Lexend"/>
                        <a:ea typeface="Lexend"/>
                        <a:cs typeface="Lexend"/>
                        <a:sym typeface="Lexend"/>
                      </a:endParaRPr>
                    </a:p>
                  </a:txBody>
                  <a:tcPr marT="63500" marB="63500" marR="63500" marL="63500">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1</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2</a:t>
                      </a:r>
                      <a:endParaRPr sz="1100">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Lexend"/>
                          <a:ea typeface="Lexend"/>
                          <a:cs typeface="Lexend"/>
                          <a:sym typeface="Lexend"/>
                        </a:rPr>
                        <a:t>I</a:t>
                      </a:r>
                      <a:r>
                        <a:rPr baseline="-25000" lang="en" sz="1100">
                          <a:solidFill>
                            <a:schemeClr val="dk1"/>
                          </a:solidFill>
                          <a:latin typeface="Lexend"/>
                          <a:ea typeface="Lexend"/>
                          <a:cs typeface="Lexend"/>
                          <a:sym typeface="Lexend"/>
                        </a:rPr>
                        <a:t>3</a:t>
                      </a:r>
                      <a:endParaRPr b="1" sz="1100">
                        <a:solidFill>
                          <a:schemeClr val="dk1"/>
                        </a:solidFill>
                        <a:latin typeface="Lexend"/>
                        <a:ea typeface="Lexend"/>
                        <a:cs typeface="Lexend"/>
                        <a:sym typeface="Lexend"/>
                      </a:endParaRPr>
                    </a:p>
                  </a:txBody>
                  <a:tcPr marT="63500" marB="63500" marR="63500" marL="63500">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chemeClr val="dk1"/>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0</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2</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3</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4</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5</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6</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7</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8</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9</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10</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11</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12</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13</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14</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15</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r h="252425">
                <a:tc>
                  <a:txBody>
                    <a:bodyPr/>
                    <a:lstStyle/>
                    <a:p>
                      <a:pPr indent="0" lvl="0" marL="0" rtl="0" algn="ctr">
                        <a:spcBef>
                          <a:spcPts val="0"/>
                        </a:spcBef>
                        <a:spcAft>
                          <a:spcPts val="0"/>
                        </a:spcAft>
                        <a:buNone/>
                      </a:pPr>
                      <a:r>
                        <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B</a:t>
                      </a:r>
                      <a:endParaRPr sz="1100">
                        <a:latin typeface="Lexend"/>
                        <a:ea typeface="Lexend"/>
                        <a:cs typeface="Lexend"/>
                        <a:sym typeface="Lexend"/>
                      </a:endParaRPr>
                    </a:p>
                  </a:txBody>
                  <a:tcPr marT="63500" marB="63500" marR="63500" marL="63500" anchor="ctr">
                    <a:lnL cap="flat" cmpd="sng" w="12700">
                      <a:solidFill>
                        <a:schemeClr val="dk1"/>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Lexend"/>
                          <a:ea typeface="Lexend"/>
                          <a:cs typeface="Lexend"/>
                          <a:sym typeface="Lexend"/>
                        </a:rPr>
                        <a:t>AB</a:t>
                      </a:r>
                      <a:endParaRPr sz="1100">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rgbClr val="DCDFFE"/>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c>
                  <a:txBody>
                    <a:bodyPr/>
                    <a:lstStyle/>
                    <a:p>
                      <a:pPr indent="0" lvl="0" marL="0" marR="0" rtl="0" algn="ctr">
                        <a:lnSpc>
                          <a:spcPct val="50000"/>
                        </a:lnSpc>
                        <a:spcBef>
                          <a:spcPts val="0"/>
                        </a:spcBef>
                        <a:spcAft>
                          <a:spcPts val="0"/>
                        </a:spcAft>
                        <a:buNone/>
                      </a:pPr>
                      <a:r>
                        <a:rPr lang="en" sz="1100">
                          <a:latin typeface="Lexend"/>
                          <a:ea typeface="Lexend"/>
                          <a:cs typeface="Lexend"/>
                          <a:sym typeface="Lexend"/>
                        </a:rPr>
                        <a:t>A+B’</a:t>
                      </a:r>
                      <a:endParaRPr sz="1100" u="none" cap="none" strike="noStrike">
                        <a:latin typeface="Lexend"/>
                        <a:ea typeface="Lexend"/>
                        <a:cs typeface="Lexend"/>
                        <a:sym typeface="Lexend"/>
                      </a:endParaRPr>
                    </a:p>
                  </a:txBody>
                  <a:tcPr marT="63500" marB="63500" marR="63500" marL="63500" anchor="ctr">
                    <a:lnL cap="flat" cmpd="sng" w="12700">
                      <a:solidFill>
                        <a:srgbClr val="DCDFFE"/>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DCDFFE"/>
                      </a:solidFill>
                      <a:prstDash val="solid"/>
                      <a:round/>
                      <a:headEnd len="sm" w="sm" type="none"/>
                      <a:tailEnd len="sm" w="sm" type="none"/>
                    </a:lnT>
                    <a:lnB cap="flat" cmpd="sng" w="12700">
                      <a:solidFill>
                        <a:srgbClr val="DCDFFE"/>
                      </a:solidFill>
                      <a:prstDash val="solid"/>
                      <a:round/>
                      <a:headEnd len="sm" w="sm" type="none"/>
                      <a:tailEnd len="sm" w="sm" type="none"/>
                    </a:lnB>
                  </a:tcPr>
                </a:tc>
              </a:tr>
            </a:tbl>
          </a:graphicData>
        </a:graphic>
      </p:graphicFrame>
      <p:pic>
        <p:nvPicPr>
          <p:cNvPr id="1103" name="Google Shape;1103;p63"/>
          <p:cNvPicPr preferRelativeResize="0"/>
          <p:nvPr/>
        </p:nvPicPr>
        <p:blipFill rotWithShape="1">
          <a:blip r:embed="rId4">
            <a:alphaModFix/>
          </a:blip>
          <a:srcRect b="0" l="0" r="0" t="0"/>
          <a:stretch/>
        </p:blipFill>
        <p:spPr>
          <a:xfrm>
            <a:off x="2880200" y="1724388"/>
            <a:ext cx="3163750" cy="2482775"/>
          </a:xfrm>
          <a:prstGeom prst="rect">
            <a:avLst/>
          </a:prstGeom>
          <a:noFill/>
          <a:ln>
            <a:noFill/>
          </a:ln>
        </p:spPr>
      </p:pic>
      <p:sp>
        <p:nvSpPr>
          <p:cNvPr id="1104" name="Google Shape;1104;p63"/>
          <p:cNvSpPr txBox="1"/>
          <p:nvPr/>
        </p:nvSpPr>
        <p:spPr>
          <a:xfrm>
            <a:off x="247825" y="4307763"/>
            <a:ext cx="8428500" cy="364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300" u="sng">
                <a:solidFill>
                  <a:schemeClr val="hlink"/>
                </a:solidFill>
                <a:latin typeface="Lexend"/>
                <a:ea typeface="Lexend"/>
                <a:cs typeface="Lexend"/>
                <a:sym typeface="Lexend"/>
                <a:hlinkClick r:id="rId5"/>
              </a:rPr>
              <a:t>https://www.youtube.com/watch?v=c8lhlAX2JMk</a:t>
            </a:r>
            <a:endParaRPr sz="1300">
              <a:solidFill>
                <a:schemeClr val="dk1"/>
              </a:solidFill>
              <a:latin typeface="Lexend"/>
              <a:ea typeface="Lexend"/>
              <a:cs typeface="Lexend"/>
              <a:sym typeface="Lexen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6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10" name="Google Shape;1110;p6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11" name="Google Shape;1111;p6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12" name="Google Shape;1112;p64"/>
          <p:cNvSpPr txBox="1"/>
          <p:nvPr/>
        </p:nvSpPr>
        <p:spPr>
          <a:xfrm>
            <a:off x="247825" y="829025"/>
            <a:ext cx="8428500" cy="489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t/>
            </a:r>
            <a:endParaRPr sz="2200">
              <a:solidFill>
                <a:schemeClr val="dk1"/>
              </a:solidFill>
              <a:latin typeface="Lexend"/>
              <a:ea typeface="Lexend"/>
              <a:cs typeface="Lexend"/>
              <a:sym typeface="Lexend"/>
            </a:endParaRPr>
          </a:p>
        </p:txBody>
      </p:sp>
      <p:grpSp>
        <p:nvGrpSpPr>
          <p:cNvPr id="1113" name="Google Shape;1113;p64"/>
          <p:cNvGrpSpPr/>
          <p:nvPr/>
        </p:nvGrpSpPr>
        <p:grpSpPr>
          <a:xfrm>
            <a:off x="50480" y="122879"/>
            <a:ext cx="277873" cy="68400"/>
            <a:chOff x="411700" y="2416840"/>
            <a:chExt cx="277873" cy="68400"/>
          </a:xfrm>
        </p:grpSpPr>
        <p:sp>
          <p:nvSpPr>
            <p:cNvPr id="1114" name="Google Shape;1114;p6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5" name="Google Shape;1115;p6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6" name="Google Shape;1116;p6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17" name="Google Shape;1117;p64"/>
          <p:cNvSpPr txBox="1"/>
          <p:nvPr/>
        </p:nvSpPr>
        <p:spPr>
          <a:xfrm>
            <a:off x="209775" y="163775"/>
            <a:ext cx="9045900" cy="683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600">
                <a:solidFill>
                  <a:schemeClr val="dk1"/>
                </a:solidFill>
                <a:latin typeface="Lexend"/>
                <a:ea typeface="Lexend"/>
                <a:cs typeface="Lexend"/>
                <a:sym typeface="Lexend"/>
              </a:rPr>
              <a:t>Try it yourself</a:t>
            </a:r>
            <a:endParaRPr sz="3600">
              <a:solidFill>
                <a:schemeClr val="dk1"/>
              </a:solidFill>
              <a:latin typeface="Lexend"/>
              <a:ea typeface="Lexend"/>
              <a:cs typeface="Lexend"/>
              <a:sym typeface="Lexend"/>
            </a:endParaRPr>
          </a:p>
        </p:txBody>
      </p:sp>
      <p:sp>
        <p:nvSpPr>
          <p:cNvPr id="1118" name="Google Shape;1118;p6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19" name="Google Shape;1119;p6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
        <p:nvSpPr>
          <p:cNvPr id="1120" name="Google Shape;1120;p64"/>
          <p:cNvSpPr txBox="1"/>
          <p:nvPr/>
        </p:nvSpPr>
        <p:spPr>
          <a:xfrm>
            <a:off x="247825" y="829025"/>
            <a:ext cx="8428500" cy="1211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Implement the boolean function using two 4:1 MUX(s) and one 2:1 MUX.</a:t>
            </a:r>
            <a:endParaRPr sz="2100">
              <a:solidFill>
                <a:schemeClr val="dk1"/>
              </a:solidFill>
              <a:latin typeface="Lexend"/>
              <a:ea typeface="Lexend"/>
              <a:cs typeface="Lexend"/>
              <a:sym typeface="Lexend"/>
            </a:endParaRPr>
          </a:p>
          <a:p>
            <a:pPr indent="0" lvl="0" marL="0" rtl="0" algn="l">
              <a:lnSpc>
                <a:spcPct val="90000"/>
              </a:lnSpc>
              <a:spcBef>
                <a:spcPts val="1200"/>
              </a:spcBef>
              <a:spcAft>
                <a:spcPts val="0"/>
              </a:spcAft>
              <a:buNone/>
            </a:pPr>
            <a:r>
              <a:rPr lang="en" sz="2100">
                <a:solidFill>
                  <a:schemeClr val="dk1"/>
                </a:solidFill>
                <a:latin typeface="Lexend"/>
                <a:ea typeface="Lexend"/>
                <a:cs typeface="Lexend"/>
                <a:sym typeface="Lexend"/>
              </a:rPr>
              <a:t>F(A,B,C,D) = ∑ (0,1,4,5,9,14,15)</a:t>
            </a:r>
            <a:endParaRPr sz="2200">
              <a:solidFill>
                <a:schemeClr val="dk1"/>
              </a:solidFill>
              <a:latin typeface="Lexend"/>
              <a:ea typeface="Lexend"/>
              <a:cs typeface="Lexend"/>
              <a:sym typeface="Lexend"/>
            </a:endParaRPr>
          </a:p>
        </p:txBody>
      </p:sp>
      <p:pic>
        <p:nvPicPr>
          <p:cNvPr id="1121" name="Google Shape;1121;p64"/>
          <p:cNvPicPr preferRelativeResize="0"/>
          <p:nvPr/>
        </p:nvPicPr>
        <p:blipFill rotWithShape="1">
          <a:blip r:embed="rId4">
            <a:alphaModFix/>
          </a:blip>
          <a:srcRect b="0" l="6574" r="11149" t="0"/>
          <a:stretch/>
        </p:blipFill>
        <p:spPr>
          <a:xfrm>
            <a:off x="4152375" y="2321625"/>
            <a:ext cx="5062200" cy="2060400"/>
          </a:xfrm>
          <a:prstGeom prst="rect">
            <a:avLst/>
          </a:prstGeom>
          <a:noFill/>
          <a:ln>
            <a:noFill/>
          </a:ln>
        </p:spPr>
      </p:pic>
      <p:pic>
        <p:nvPicPr>
          <p:cNvPr id="1122" name="Google Shape;1122;p64"/>
          <p:cNvPicPr preferRelativeResize="0"/>
          <p:nvPr/>
        </p:nvPicPr>
        <p:blipFill rotWithShape="1">
          <a:blip r:embed="rId5">
            <a:alphaModFix/>
          </a:blip>
          <a:srcRect b="0" l="0" r="0" t="0"/>
          <a:stretch/>
        </p:blipFill>
        <p:spPr>
          <a:xfrm>
            <a:off x="0" y="2118225"/>
            <a:ext cx="4462650" cy="26807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id="1127" name="Google Shape;1127;p65"/>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28" name="Google Shape;1128;p65"/>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29" name="Google Shape;1129;p65"/>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30" name="Google Shape;1130;p65"/>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31" name="Google Shape;1131;p65"/>
          <p:cNvGrpSpPr/>
          <p:nvPr/>
        </p:nvGrpSpPr>
        <p:grpSpPr>
          <a:xfrm>
            <a:off x="55863" y="1096534"/>
            <a:ext cx="7362874" cy="1618375"/>
            <a:chOff x="5351018" y="4955476"/>
            <a:chExt cx="4003085" cy="885422"/>
          </a:xfrm>
        </p:grpSpPr>
        <p:sp>
          <p:nvSpPr>
            <p:cNvPr id="1132" name="Google Shape;1132;p65"/>
            <p:cNvSpPr/>
            <p:nvPr/>
          </p:nvSpPr>
          <p:spPr>
            <a:xfrm>
              <a:off x="5411982" y="5018979"/>
              <a:ext cx="3885217" cy="761341"/>
            </a:xfrm>
            <a:custGeom>
              <a:rect b="b" l="l" r="r" t="t"/>
              <a:pathLst>
                <a:path extrusionOk="0" h="1253236" w="2932239">
                  <a:moveTo>
                    <a:pt x="0" y="0"/>
                  </a:moveTo>
                  <a:lnTo>
                    <a:pt x="2932240" y="0"/>
                  </a:lnTo>
                  <a:lnTo>
                    <a:pt x="2932240" y="1253236"/>
                  </a:lnTo>
                  <a:lnTo>
                    <a:pt x="0" y="1253236"/>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3" name="Google Shape;1133;p65"/>
            <p:cNvSpPr/>
            <p:nvPr/>
          </p:nvSpPr>
          <p:spPr>
            <a:xfrm>
              <a:off x="5351018" y="4955476"/>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4" name="Google Shape;1134;p65"/>
            <p:cNvSpPr/>
            <p:nvPr/>
          </p:nvSpPr>
          <p:spPr>
            <a:xfrm>
              <a:off x="5351018" y="5713898"/>
              <a:ext cx="121920" cy="127000"/>
            </a:xfrm>
            <a:custGeom>
              <a:rect b="b" l="l" r="r" t="t"/>
              <a:pathLst>
                <a:path extrusionOk="0" h="127000" w="121920">
                  <a:moveTo>
                    <a:pt x="0" y="0"/>
                  </a:moveTo>
                  <a:lnTo>
                    <a:pt x="121920" y="0"/>
                  </a:lnTo>
                  <a:lnTo>
                    <a:pt x="121920"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5" name="Google Shape;1135;p65"/>
            <p:cNvSpPr/>
            <p:nvPr/>
          </p:nvSpPr>
          <p:spPr>
            <a:xfrm>
              <a:off x="9232183" y="4955476"/>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sp>
          <p:nvSpPr>
            <p:cNvPr id="1136" name="Google Shape;1136;p65"/>
            <p:cNvSpPr/>
            <p:nvPr/>
          </p:nvSpPr>
          <p:spPr>
            <a:xfrm>
              <a:off x="9232183" y="5713898"/>
              <a:ext cx="121920" cy="127000"/>
            </a:xfrm>
            <a:custGeom>
              <a:rect b="b" l="l" r="r" t="t"/>
              <a:pathLst>
                <a:path extrusionOk="0" h="127000" w="121920">
                  <a:moveTo>
                    <a:pt x="0" y="0"/>
                  </a:moveTo>
                  <a:lnTo>
                    <a:pt x="121919" y="0"/>
                  </a:lnTo>
                  <a:lnTo>
                    <a:pt x="121919" y="127000"/>
                  </a:lnTo>
                  <a:lnTo>
                    <a:pt x="0" y="127000"/>
                  </a:lnTo>
                  <a:close/>
                </a:path>
              </a:pathLst>
            </a:custGeom>
            <a:solidFill>
              <a:srgbClr val="FFFFFF"/>
            </a:solidFill>
            <a:ln cap="flat" cmpd="sng" w="9525">
              <a:solidFill>
                <a:srgbClr val="28C840"/>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solidFill>
                  <a:srgbClr val="000000"/>
                </a:solidFill>
              </a:endParaRPr>
            </a:p>
          </p:txBody>
        </p:sp>
      </p:grpSp>
      <p:sp>
        <p:nvSpPr>
          <p:cNvPr id="1137" name="Google Shape;1137;p65"/>
          <p:cNvSpPr/>
          <p:nvPr/>
        </p:nvSpPr>
        <p:spPr>
          <a:xfrm>
            <a:off x="4883091" y="2459986"/>
            <a:ext cx="263412" cy="324213"/>
          </a:xfrm>
          <a:custGeom>
            <a:rect b="b" l="l" r="r" t="t"/>
            <a:pathLst>
              <a:path extrusionOk="0" h="19170" w="15575">
                <a:moveTo>
                  <a:pt x="0" y="0"/>
                </a:moveTo>
                <a:lnTo>
                  <a:pt x="3354" y="19170"/>
                </a:lnTo>
                <a:lnTo>
                  <a:pt x="7668" y="11502"/>
                </a:lnTo>
                <a:lnTo>
                  <a:pt x="15575" y="8866"/>
                </a:lnTo>
                <a:close/>
              </a:path>
            </a:pathLst>
          </a:custGeom>
          <a:solidFill>
            <a:srgbClr val="F4F2F2"/>
          </a:solidFill>
          <a:ln cap="flat" cmpd="sng" w="9525">
            <a:solidFill>
              <a:srgbClr val="28C840"/>
            </a:solidFill>
            <a:prstDash val="solid"/>
            <a:round/>
            <a:headEnd len="med" w="med" type="none"/>
            <a:tailEnd len="med" w="med" type="none"/>
          </a:ln>
        </p:spPr>
      </p:sp>
      <p:sp>
        <p:nvSpPr>
          <p:cNvPr id="1138" name="Google Shape;1138;p65"/>
          <p:cNvSpPr txBox="1"/>
          <p:nvPr/>
        </p:nvSpPr>
        <p:spPr>
          <a:xfrm>
            <a:off x="156075" y="1314563"/>
            <a:ext cx="7070400" cy="118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lang="en" sz="3200">
                <a:latin typeface="Lexend"/>
                <a:ea typeface="Lexend"/>
                <a:cs typeface="Lexend"/>
                <a:sym typeface="Lexend"/>
              </a:rPr>
              <a:t>Combining MSI to build Combinational Design Circuit</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a:p>
            <a:pPr indent="0" lvl="0" marL="0" rtl="0" algn="l">
              <a:lnSpc>
                <a:spcPct val="90000"/>
              </a:lnSpc>
              <a:spcBef>
                <a:spcPts val="0"/>
              </a:spcBef>
              <a:spcAft>
                <a:spcPts val="0"/>
              </a:spcAft>
              <a:buClr>
                <a:schemeClr val="dk1"/>
              </a:buClr>
              <a:buSzPts val="1100"/>
              <a:buFont typeface="Arial"/>
              <a:buNone/>
            </a:pPr>
            <a:r>
              <a:t/>
            </a:r>
            <a:endParaRPr sz="3200">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66"/>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44" name="Google Shape;1144;p66"/>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45" name="Google Shape;1145;p66"/>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46" name="Google Shape;1146;p66"/>
          <p:cNvSpPr txBox="1"/>
          <p:nvPr/>
        </p:nvSpPr>
        <p:spPr>
          <a:xfrm>
            <a:off x="256650" y="972850"/>
            <a:ext cx="84285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BCD to Excess 3 code converter using ‘4x16’ decoder and ‘16x4’ encoder</a:t>
            </a:r>
            <a:endParaRPr sz="1900">
              <a:solidFill>
                <a:schemeClr val="dk1"/>
              </a:solidFill>
              <a:latin typeface="Lexend"/>
              <a:ea typeface="Lexend"/>
              <a:cs typeface="Lexend"/>
              <a:sym typeface="Lexend"/>
            </a:endParaRPr>
          </a:p>
        </p:txBody>
      </p:sp>
      <p:grpSp>
        <p:nvGrpSpPr>
          <p:cNvPr id="1147" name="Google Shape;1147;p66"/>
          <p:cNvGrpSpPr/>
          <p:nvPr/>
        </p:nvGrpSpPr>
        <p:grpSpPr>
          <a:xfrm>
            <a:off x="50480" y="122879"/>
            <a:ext cx="277873" cy="68400"/>
            <a:chOff x="411700" y="2416840"/>
            <a:chExt cx="277873" cy="68400"/>
          </a:xfrm>
        </p:grpSpPr>
        <p:sp>
          <p:nvSpPr>
            <p:cNvPr id="1148" name="Google Shape;1148;p66"/>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9" name="Google Shape;1149;p66"/>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0" name="Google Shape;1150;p66"/>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51" name="Google Shape;1151;p66"/>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152" name="Google Shape;1152;p66"/>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53" name="Google Shape;1153;p66"/>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67"/>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9" name="Google Shape;1159;p67"/>
          <p:cNvPicPr preferRelativeResize="0"/>
          <p:nvPr/>
        </p:nvPicPr>
        <p:blipFill rotWithShape="1">
          <a:blip r:embed="rId3">
            <a:alphaModFix/>
          </a:blip>
          <a:srcRect b="16674" l="0" r="0" t="0"/>
          <a:stretch/>
        </p:blipFill>
        <p:spPr>
          <a:xfrm>
            <a:off x="868237" y="382350"/>
            <a:ext cx="7407514" cy="4494451"/>
          </a:xfrm>
          <a:prstGeom prst="rect">
            <a:avLst/>
          </a:prstGeom>
          <a:noFill/>
          <a:ln>
            <a:noFill/>
          </a:ln>
        </p:spPr>
      </p:pic>
      <p:pic>
        <p:nvPicPr>
          <p:cNvPr id="1160" name="Google Shape;1160;p67"/>
          <p:cNvPicPr preferRelativeResize="0"/>
          <p:nvPr/>
        </p:nvPicPr>
        <p:blipFill>
          <a:blip r:embed="rId4">
            <a:alphaModFix/>
          </a:blip>
          <a:stretch>
            <a:fillRect/>
          </a:stretch>
        </p:blipFill>
        <p:spPr>
          <a:xfrm>
            <a:off x="8507451" y="76200"/>
            <a:ext cx="560349" cy="514126"/>
          </a:xfrm>
          <a:prstGeom prst="rect">
            <a:avLst/>
          </a:prstGeom>
          <a:noFill/>
          <a:ln>
            <a:noFill/>
          </a:ln>
        </p:spPr>
      </p:pic>
      <p:sp>
        <p:nvSpPr>
          <p:cNvPr id="1161" name="Google Shape;1161;p67"/>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62" name="Google Shape;1162;p67"/>
          <p:cNvGrpSpPr/>
          <p:nvPr/>
        </p:nvGrpSpPr>
        <p:grpSpPr>
          <a:xfrm>
            <a:off x="50480" y="122879"/>
            <a:ext cx="277873" cy="68400"/>
            <a:chOff x="411700" y="2416840"/>
            <a:chExt cx="277873" cy="68400"/>
          </a:xfrm>
        </p:grpSpPr>
        <p:sp>
          <p:nvSpPr>
            <p:cNvPr id="1163" name="Google Shape;1163;p67"/>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4" name="Google Shape;1164;p67"/>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5" name="Google Shape;1165;p67"/>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66" name="Google Shape;1166;p67"/>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67" name="Google Shape;1167;p67"/>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68" name="Google Shape;1168;p67"/>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68"/>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74" name="Google Shape;1174;p68"/>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75" name="Google Shape;1175;p6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176" name="Google Shape;1176;p68"/>
          <p:cNvSpPr txBox="1"/>
          <p:nvPr/>
        </p:nvSpPr>
        <p:spPr>
          <a:xfrm>
            <a:off x="256650" y="972850"/>
            <a:ext cx="8428500" cy="44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full adder using ‘3x8’ decoder and ‘4x2’ encoder</a:t>
            </a:r>
            <a:endParaRPr sz="1900">
              <a:solidFill>
                <a:schemeClr val="dk1"/>
              </a:solidFill>
              <a:latin typeface="Lexend"/>
              <a:ea typeface="Lexend"/>
              <a:cs typeface="Lexend"/>
              <a:sym typeface="Lexend"/>
            </a:endParaRPr>
          </a:p>
        </p:txBody>
      </p:sp>
      <p:grpSp>
        <p:nvGrpSpPr>
          <p:cNvPr id="1177" name="Google Shape;1177;p68"/>
          <p:cNvGrpSpPr/>
          <p:nvPr/>
        </p:nvGrpSpPr>
        <p:grpSpPr>
          <a:xfrm>
            <a:off x="50480" y="122879"/>
            <a:ext cx="277873" cy="68400"/>
            <a:chOff x="411700" y="2416840"/>
            <a:chExt cx="277873" cy="68400"/>
          </a:xfrm>
        </p:grpSpPr>
        <p:sp>
          <p:nvSpPr>
            <p:cNvPr id="1178" name="Google Shape;1178;p68"/>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9" name="Google Shape;1179;p68"/>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0" name="Google Shape;1180;p68"/>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81" name="Google Shape;1181;p68"/>
          <p:cNvSpPr txBox="1"/>
          <p:nvPr/>
        </p:nvSpPr>
        <p:spPr>
          <a:xfrm>
            <a:off x="209775" y="163775"/>
            <a:ext cx="9045900" cy="1403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4400">
              <a:solidFill>
                <a:schemeClr val="dk1"/>
              </a:solidFill>
              <a:latin typeface="Calibri"/>
              <a:ea typeface="Calibri"/>
              <a:cs typeface="Calibri"/>
              <a:sym typeface="Calibri"/>
            </a:endParaRPr>
          </a:p>
        </p:txBody>
      </p:sp>
      <p:sp>
        <p:nvSpPr>
          <p:cNvPr id="1182" name="Google Shape;1182;p68"/>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83" name="Google Shape;1183;p68"/>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69"/>
          <p:cNvSpPr/>
          <p:nvPr/>
        </p:nvSpPr>
        <p:spPr>
          <a:xfrm>
            <a:off x="-25500" y="-610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89" name="Google Shape;1189;p69"/>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190" name="Google Shape;1190;p69"/>
          <p:cNvSpPr txBox="1"/>
          <p:nvPr/>
        </p:nvSpPr>
        <p:spPr>
          <a:xfrm>
            <a:off x="8472258" y="457176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191" name="Google Shape;1191;p69"/>
          <p:cNvGrpSpPr/>
          <p:nvPr/>
        </p:nvGrpSpPr>
        <p:grpSpPr>
          <a:xfrm>
            <a:off x="50480" y="122879"/>
            <a:ext cx="277873" cy="68400"/>
            <a:chOff x="411700" y="2416840"/>
            <a:chExt cx="277873" cy="68400"/>
          </a:xfrm>
        </p:grpSpPr>
        <p:sp>
          <p:nvSpPr>
            <p:cNvPr id="1192" name="Google Shape;1192;p69"/>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3" name="Google Shape;1193;p69"/>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4" name="Google Shape;1194;p69"/>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95" name="Google Shape;1195;p69"/>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196" name="Google Shape;1196;p69"/>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197" name="Google Shape;1197;p69"/>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grpSp>
        <p:nvGrpSpPr>
          <p:cNvPr id="1198" name="Google Shape;1198;p69"/>
          <p:cNvGrpSpPr/>
          <p:nvPr/>
        </p:nvGrpSpPr>
        <p:grpSpPr>
          <a:xfrm>
            <a:off x="3510195" y="1353898"/>
            <a:ext cx="5510761" cy="2680336"/>
            <a:chOff x="1371600" y="2590800"/>
            <a:chExt cx="7108825" cy="3200401"/>
          </a:xfrm>
        </p:grpSpPr>
        <p:pic>
          <p:nvPicPr>
            <p:cNvPr descr="http://upload.wikimedia.org/wikipedia/commons/thumb/6/66/3x8_decoder_symbol.svg/512px-3x8_decoder_symbol.svg.png" id="1199" name="Google Shape;1199;p69"/>
            <p:cNvPicPr preferRelativeResize="0"/>
            <p:nvPr/>
          </p:nvPicPr>
          <p:blipFill rotWithShape="1">
            <a:blip r:embed="rId4">
              <a:alphaModFix/>
            </a:blip>
            <a:srcRect b="0" l="0" r="0" t="0"/>
            <a:stretch/>
          </p:blipFill>
          <p:spPr>
            <a:xfrm>
              <a:off x="1371600" y="2590800"/>
              <a:ext cx="3200401" cy="3200401"/>
            </a:xfrm>
            <a:prstGeom prst="rect">
              <a:avLst/>
            </a:prstGeom>
            <a:noFill/>
            <a:ln>
              <a:noFill/>
            </a:ln>
          </p:spPr>
        </p:pic>
        <p:pic>
          <p:nvPicPr>
            <p:cNvPr id="1200" name="Google Shape;1200;p69"/>
            <p:cNvPicPr preferRelativeResize="0"/>
            <p:nvPr/>
          </p:nvPicPr>
          <p:blipFill rotWithShape="1">
            <a:blip r:embed="rId5">
              <a:alphaModFix/>
            </a:blip>
            <a:srcRect b="0" l="0" r="0" t="0"/>
            <a:stretch/>
          </p:blipFill>
          <p:spPr>
            <a:xfrm>
              <a:off x="5867400" y="3200400"/>
              <a:ext cx="2613025" cy="1733550"/>
            </a:xfrm>
            <a:prstGeom prst="rect">
              <a:avLst/>
            </a:prstGeom>
            <a:noFill/>
            <a:ln>
              <a:noFill/>
            </a:ln>
          </p:spPr>
        </p:pic>
      </p:grpSp>
      <p:cxnSp>
        <p:nvCxnSpPr>
          <p:cNvPr id="1201" name="Google Shape;1201;p69"/>
          <p:cNvCxnSpPr/>
          <p:nvPr/>
        </p:nvCxnSpPr>
        <p:spPr>
          <a:xfrm>
            <a:off x="5843760" y="1746969"/>
            <a:ext cx="1181700" cy="383100"/>
          </a:xfrm>
          <a:prstGeom prst="straightConnector1">
            <a:avLst/>
          </a:prstGeom>
          <a:noFill/>
          <a:ln cap="flat" cmpd="sng" w="9525">
            <a:solidFill>
              <a:srgbClr val="5B9BD5"/>
            </a:solidFill>
            <a:prstDash val="solid"/>
            <a:miter lim="800000"/>
            <a:headEnd len="sm" w="sm" type="none"/>
            <a:tailEnd len="sm" w="sm" type="none"/>
          </a:ln>
        </p:spPr>
      </p:cxnSp>
      <p:cxnSp>
        <p:nvCxnSpPr>
          <p:cNvPr id="1202" name="Google Shape;1202;p69"/>
          <p:cNvCxnSpPr/>
          <p:nvPr/>
        </p:nvCxnSpPr>
        <p:spPr>
          <a:xfrm>
            <a:off x="5755152" y="2002236"/>
            <a:ext cx="1240500" cy="383100"/>
          </a:xfrm>
          <a:prstGeom prst="straightConnector1">
            <a:avLst/>
          </a:prstGeom>
          <a:noFill/>
          <a:ln cap="flat" cmpd="sng" w="9525">
            <a:solidFill>
              <a:srgbClr val="5B9BD5"/>
            </a:solidFill>
            <a:prstDash val="solid"/>
            <a:miter lim="800000"/>
            <a:headEnd len="sm" w="sm" type="none"/>
            <a:tailEnd len="sm" w="sm" type="none"/>
          </a:ln>
        </p:spPr>
      </p:cxnSp>
      <p:cxnSp>
        <p:nvCxnSpPr>
          <p:cNvPr id="1203" name="Google Shape;1203;p69"/>
          <p:cNvCxnSpPr/>
          <p:nvPr/>
        </p:nvCxnSpPr>
        <p:spPr>
          <a:xfrm>
            <a:off x="5784688" y="2321320"/>
            <a:ext cx="1240500" cy="64200"/>
          </a:xfrm>
          <a:prstGeom prst="straightConnector1">
            <a:avLst/>
          </a:prstGeom>
          <a:noFill/>
          <a:ln cap="flat" cmpd="sng" w="9525">
            <a:solidFill>
              <a:srgbClr val="5B9BD5"/>
            </a:solidFill>
            <a:prstDash val="solid"/>
            <a:miter lim="800000"/>
            <a:headEnd len="sm" w="sm" type="none"/>
            <a:tailEnd len="sm" w="sm" type="none"/>
          </a:ln>
        </p:spPr>
      </p:cxnSp>
      <p:cxnSp>
        <p:nvCxnSpPr>
          <p:cNvPr id="1204" name="Google Shape;1204;p69"/>
          <p:cNvCxnSpPr/>
          <p:nvPr/>
        </p:nvCxnSpPr>
        <p:spPr>
          <a:xfrm>
            <a:off x="5799456" y="2528180"/>
            <a:ext cx="1181700" cy="191700"/>
          </a:xfrm>
          <a:prstGeom prst="straightConnector1">
            <a:avLst/>
          </a:prstGeom>
          <a:noFill/>
          <a:ln cap="flat" cmpd="sng" w="9525">
            <a:solidFill>
              <a:srgbClr val="5B9BD5"/>
            </a:solidFill>
            <a:prstDash val="solid"/>
            <a:miter lim="800000"/>
            <a:headEnd len="sm" w="sm" type="none"/>
            <a:tailEnd len="sm" w="sm" type="none"/>
          </a:ln>
        </p:spPr>
      </p:cxnSp>
      <p:cxnSp>
        <p:nvCxnSpPr>
          <p:cNvPr id="1205" name="Google Shape;1205;p69"/>
          <p:cNvCxnSpPr/>
          <p:nvPr/>
        </p:nvCxnSpPr>
        <p:spPr>
          <a:xfrm flipH="1" rot="10800000">
            <a:off x="5784688" y="2385154"/>
            <a:ext cx="1210800" cy="446700"/>
          </a:xfrm>
          <a:prstGeom prst="straightConnector1">
            <a:avLst/>
          </a:prstGeom>
          <a:noFill/>
          <a:ln cap="flat" cmpd="sng" w="9525">
            <a:solidFill>
              <a:srgbClr val="5B9BD5"/>
            </a:solidFill>
            <a:prstDash val="solid"/>
            <a:miter lim="800000"/>
            <a:headEnd len="sm" w="sm" type="none"/>
            <a:tailEnd len="sm" w="sm" type="none"/>
          </a:ln>
        </p:spPr>
      </p:cxnSp>
      <p:cxnSp>
        <p:nvCxnSpPr>
          <p:cNvPr id="1206" name="Google Shape;1206;p69"/>
          <p:cNvCxnSpPr/>
          <p:nvPr/>
        </p:nvCxnSpPr>
        <p:spPr>
          <a:xfrm flipH="1" rot="10800000">
            <a:off x="5799456" y="2751530"/>
            <a:ext cx="1181700" cy="351000"/>
          </a:xfrm>
          <a:prstGeom prst="straightConnector1">
            <a:avLst/>
          </a:prstGeom>
          <a:noFill/>
          <a:ln cap="flat" cmpd="sng" w="9525">
            <a:solidFill>
              <a:srgbClr val="5B9BD5"/>
            </a:solidFill>
            <a:prstDash val="solid"/>
            <a:miter lim="800000"/>
            <a:headEnd len="sm" w="sm" type="none"/>
            <a:tailEnd len="sm" w="sm" type="none"/>
          </a:ln>
        </p:spPr>
      </p:cxnSp>
      <p:cxnSp>
        <p:nvCxnSpPr>
          <p:cNvPr id="1207" name="Google Shape;1207;p69"/>
          <p:cNvCxnSpPr/>
          <p:nvPr/>
        </p:nvCxnSpPr>
        <p:spPr>
          <a:xfrm flipH="1" rot="10800000">
            <a:off x="5769920" y="2751743"/>
            <a:ext cx="1210800" cy="590100"/>
          </a:xfrm>
          <a:prstGeom prst="straightConnector1">
            <a:avLst/>
          </a:prstGeom>
          <a:noFill/>
          <a:ln cap="flat" cmpd="sng" w="9525">
            <a:solidFill>
              <a:srgbClr val="5B9BD5"/>
            </a:solidFill>
            <a:prstDash val="solid"/>
            <a:miter lim="800000"/>
            <a:headEnd len="sm" w="sm" type="none"/>
            <a:tailEnd len="sm" w="sm" type="none"/>
          </a:ln>
        </p:spPr>
      </p:cxnSp>
      <p:cxnSp>
        <p:nvCxnSpPr>
          <p:cNvPr id="1208" name="Google Shape;1208;p69"/>
          <p:cNvCxnSpPr/>
          <p:nvPr/>
        </p:nvCxnSpPr>
        <p:spPr>
          <a:xfrm flipH="1" rot="10800000">
            <a:off x="5769920" y="3134456"/>
            <a:ext cx="1210800" cy="446700"/>
          </a:xfrm>
          <a:prstGeom prst="straightConnector1">
            <a:avLst/>
          </a:prstGeom>
          <a:noFill/>
          <a:ln cap="flat" cmpd="sng" w="9525">
            <a:solidFill>
              <a:srgbClr val="5B9BD5"/>
            </a:solidFill>
            <a:prstDash val="solid"/>
            <a:miter lim="800000"/>
            <a:headEnd len="sm" w="sm" type="none"/>
            <a:tailEnd len="sm" w="sm" type="none"/>
          </a:ln>
        </p:spPr>
      </p:cxnSp>
      <p:graphicFrame>
        <p:nvGraphicFramePr>
          <p:cNvPr id="1209" name="Google Shape;1209;p69"/>
          <p:cNvGraphicFramePr/>
          <p:nvPr/>
        </p:nvGraphicFramePr>
        <p:xfrm>
          <a:off x="328350" y="1312863"/>
          <a:ext cx="3000000" cy="3000000"/>
        </p:xfrm>
        <a:graphic>
          <a:graphicData uri="http://schemas.openxmlformats.org/drawingml/2006/table">
            <a:tbl>
              <a:tblPr>
                <a:noFill/>
                <a:tableStyleId>{89043D2A-02A2-4C3A-B289-3E6D6C1B2619}</a:tableStyleId>
              </a:tblPr>
              <a:tblGrid>
                <a:gridCol w="523650"/>
                <a:gridCol w="523650"/>
                <a:gridCol w="523650"/>
                <a:gridCol w="523650"/>
                <a:gridCol w="523650"/>
              </a:tblGrid>
              <a:tr h="309275">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X</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Y</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Z</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C</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S</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19050">
                      <a:solidFill>
                        <a:srgbClr val="A9B0FE"/>
                      </a:solidFill>
                      <a:prstDash val="solid"/>
                      <a:round/>
                      <a:headEnd len="sm" w="sm" type="none"/>
                      <a:tailEnd len="sm" w="sm" type="none"/>
                    </a:lnB>
                    <a:solidFill>
                      <a:srgbClr val="FFFFFF"/>
                    </a:solidFill>
                  </a:tcPr>
                </a:tc>
              </a:tr>
              <a:tr h="309275">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19050">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3092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a:latin typeface="Lexend Medium"/>
                          <a:ea typeface="Lexend Medium"/>
                          <a:cs typeface="Lexend Medium"/>
                          <a:sym typeface="Lexend Medium"/>
                        </a:rPr>
                        <a:t>0</a:t>
                      </a:r>
                      <a:endParaRPr>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0</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r h="292075">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19050">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19050">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 sz="1300">
                          <a:latin typeface="Lexend Medium"/>
                          <a:ea typeface="Lexend Medium"/>
                          <a:cs typeface="Lexend Medium"/>
                          <a:sym typeface="Lexend Medium"/>
                        </a:rPr>
                        <a:t>1</a:t>
                      </a:r>
                      <a:endParaRPr sz="1300">
                        <a:latin typeface="Lexend Medium"/>
                        <a:ea typeface="Lexend Medium"/>
                        <a:cs typeface="Lexend Medium"/>
                        <a:sym typeface="Lexend Medium"/>
                      </a:endParaRPr>
                    </a:p>
                  </a:txBody>
                  <a:tcPr marT="45700" marB="45700" marR="91450" marL="91450">
                    <a:lnL cap="flat" cmpd="sng" w="9525">
                      <a:solidFill>
                        <a:srgbClr val="A9B0FE"/>
                      </a:solidFill>
                      <a:prstDash val="solid"/>
                      <a:round/>
                      <a:headEnd len="sm" w="sm" type="none"/>
                      <a:tailEnd len="sm" w="sm" type="none"/>
                    </a:lnL>
                    <a:lnR cap="flat" cmpd="sng" w="9525">
                      <a:solidFill>
                        <a:srgbClr val="A9B0FE"/>
                      </a:solidFill>
                      <a:prstDash val="solid"/>
                      <a:round/>
                      <a:headEnd len="sm" w="sm" type="none"/>
                      <a:tailEnd len="sm" w="sm" type="none"/>
                    </a:lnR>
                    <a:lnT cap="flat" cmpd="sng" w="9525">
                      <a:solidFill>
                        <a:srgbClr val="A9B0FE"/>
                      </a:solidFill>
                      <a:prstDash val="solid"/>
                      <a:round/>
                      <a:headEnd len="sm" w="sm" type="none"/>
                      <a:tailEnd len="sm" w="sm" type="none"/>
                    </a:lnT>
                    <a:lnB cap="flat" cmpd="sng" w="9525">
                      <a:solidFill>
                        <a:srgbClr val="A9B0F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70"/>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15" name="Google Shape;1215;p70"/>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16" name="Google Shape;1216;p70"/>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17" name="Google Shape;1217;p70"/>
          <p:cNvSpPr txBox="1"/>
          <p:nvPr/>
        </p:nvSpPr>
        <p:spPr>
          <a:xfrm>
            <a:off x="256650" y="972850"/>
            <a:ext cx="8428500" cy="71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2-bit parallel adder where you have to use appropriate encoders and decoders to build the internal circuit.</a:t>
            </a:r>
            <a:endParaRPr sz="1900">
              <a:solidFill>
                <a:schemeClr val="dk1"/>
              </a:solidFill>
              <a:latin typeface="Lexend"/>
              <a:ea typeface="Lexend"/>
              <a:cs typeface="Lexend"/>
              <a:sym typeface="Lexend"/>
            </a:endParaRPr>
          </a:p>
        </p:txBody>
      </p:sp>
      <p:grpSp>
        <p:nvGrpSpPr>
          <p:cNvPr id="1218" name="Google Shape;1218;p70"/>
          <p:cNvGrpSpPr/>
          <p:nvPr/>
        </p:nvGrpSpPr>
        <p:grpSpPr>
          <a:xfrm>
            <a:off x="50480" y="122879"/>
            <a:ext cx="277873" cy="68400"/>
            <a:chOff x="411700" y="2416840"/>
            <a:chExt cx="277873" cy="68400"/>
          </a:xfrm>
        </p:grpSpPr>
        <p:sp>
          <p:nvSpPr>
            <p:cNvPr id="1219" name="Google Shape;1219;p70"/>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0" name="Google Shape;1220;p70"/>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1" name="Google Shape;1221;p70"/>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22" name="Google Shape;1222;p70"/>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23" name="Google Shape;1223;p70"/>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24" name="Google Shape;1224;p70"/>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71"/>
          <p:cNvSpPr/>
          <p:nvPr/>
        </p:nvSpPr>
        <p:spPr>
          <a:xfrm>
            <a:off x="10375" y="-292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0" name="Google Shape;1230;p71"/>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31" name="Google Shape;1231;p71"/>
          <p:cNvSpPr txBox="1"/>
          <p:nvPr/>
        </p:nvSpPr>
        <p:spPr>
          <a:xfrm>
            <a:off x="8472458" y="4622342"/>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232" name="Google Shape;1232;p71"/>
          <p:cNvGrpSpPr/>
          <p:nvPr/>
        </p:nvGrpSpPr>
        <p:grpSpPr>
          <a:xfrm>
            <a:off x="50480" y="122879"/>
            <a:ext cx="277873" cy="68400"/>
            <a:chOff x="411700" y="2416840"/>
            <a:chExt cx="277873" cy="68400"/>
          </a:xfrm>
        </p:grpSpPr>
        <p:sp>
          <p:nvSpPr>
            <p:cNvPr id="1233" name="Google Shape;1233;p71"/>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4" name="Google Shape;1234;p71"/>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5" name="Google Shape;1235;p71"/>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36" name="Google Shape;1236;p71"/>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37" name="Google Shape;1237;p71"/>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38" name="Google Shape;1238;p71"/>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39" name="Google Shape;1239;p71" title="B6E8F9D6-CAC0-47AB-90C5-4A9171CAFC30.jpeg"/>
          <p:cNvPicPr preferRelativeResize="0"/>
          <p:nvPr/>
        </p:nvPicPr>
        <p:blipFill rotWithShape="1">
          <a:blip r:embed="rId4">
            <a:alphaModFix/>
          </a:blip>
          <a:srcRect b="4451" l="0" r="0" t="5255"/>
          <a:stretch/>
        </p:blipFill>
        <p:spPr>
          <a:xfrm>
            <a:off x="2401825" y="0"/>
            <a:ext cx="5102374" cy="4746401"/>
          </a:xfrm>
          <a:prstGeom prst="rect">
            <a:avLst/>
          </a:prstGeom>
          <a:noFill/>
          <a:ln>
            <a:noFill/>
          </a:ln>
        </p:spPr>
      </p:pic>
      <p:sp>
        <p:nvSpPr>
          <p:cNvPr id="1240" name="Google Shape;1240;p71"/>
          <p:cNvSpPr txBox="1"/>
          <p:nvPr/>
        </p:nvSpPr>
        <p:spPr>
          <a:xfrm>
            <a:off x="5383075" y="15981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1241" name="Google Shape;1241;p71"/>
          <p:cNvSpPr txBox="1"/>
          <p:nvPr/>
        </p:nvSpPr>
        <p:spPr>
          <a:xfrm>
            <a:off x="5612975" y="15981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42" name="Google Shape;1242;p71"/>
          <p:cNvSpPr txBox="1"/>
          <p:nvPr/>
        </p:nvSpPr>
        <p:spPr>
          <a:xfrm>
            <a:off x="5593250" y="3383750"/>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43" name="Google Shape;1243;p71"/>
          <p:cNvSpPr txBox="1"/>
          <p:nvPr/>
        </p:nvSpPr>
        <p:spPr>
          <a:xfrm>
            <a:off x="5370400" y="3383750"/>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p72"/>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49" name="Google Shape;1249;p72"/>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50" name="Google Shape;1250;p72"/>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51" name="Google Shape;1251;p72"/>
          <p:cNvSpPr txBox="1"/>
          <p:nvPr/>
        </p:nvSpPr>
        <p:spPr>
          <a:xfrm>
            <a:off x="256650" y="972850"/>
            <a:ext cx="8428500" cy="9744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7 person voting system using encoder(s) and decoder(s) and parallel adder(s). You can not use full adders. Meaning, for the inputs, you MUST use encoder(s) and decoder(s) as required. </a:t>
            </a:r>
            <a:endParaRPr sz="1900">
              <a:solidFill>
                <a:schemeClr val="dk1"/>
              </a:solidFill>
              <a:latin typeface="Lexend"/>
              <a:ea typeface="Lexend"/>
              <a:cs typeface="Lexend"/>
              <a:sym typeface="Lexend"/>
            </a:endParaRPr>
          </a:p>
        </p:txBody>
      </p:sp>
      <p:grpSp>
        <p:nvGrpSpPr>
          <p:cNvPr id="1252" name="Google Shape;1252;p72"/>
          <p:cNvGrpSpPr/>
          <p:nvPr/>
        </p:nvGrpSpPr>
        <p:grpSpPr>
          <a:xfrm>
            <a:off x="50480" y="122879"/>
            <a:ext cx="277873" cy="68400"/>
            <a:chOff x="411700" y="2416840"/>
            <a:chExt cx="277873" cy="68400"/>
          </a:xfrm>
        </p:grpSpPr>
        <p:sp>
          <p:nvSpPr>
            <p:cNvPr id="1253" name="Google Shape;1253;p72"/>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4" name="Google Shape;1254;p72"/>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5" name="Google Shape;1255;p72"/>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56" name="Google Shape;1256;p72"/>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Exercise time!</a:t>
            </a:r>
            <a:endParaRPr sz="4400">
              <a:solidFill>
                <a:schemeClr val="dk1"/>
              </a:solidFill>
              <a:latin typeface="Calibri"/>
              <a:ea typeface="Calibri"/>
              <a:cs typeface="Calibri"/>
              <a:sym typeface="Calibri"/>
            </a:endParaRPr>
          </a:p>
        </p:txBody>
      </p:sp>
      <p:sp>
        <p:nvSpPr>
          <p:cNvPr id="1257" name="Google Shape;1257;p72"/>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58" name="Google Shape;1258;p72"/>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73"/>
          <p:cNvSpPr/>
          <p:nvPr/>
        </p:nvSpPr>
        <p:spPr>
          <a:xfrm>
            <a:off x="10375" y="-29225"/>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4" name="Google Shape;1264;p73"/>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65" name="Google Shape;1265;p73"/>
          <p:cNvSpPr txBox="1"/>
          <p:nvPr/>
        </p:nvSpPr>
        <p:spPr>
          <a:xfrm>
            <a:off x="8472458" y="4622342"/>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grpSp>
        <p:nvGrpSpPr>
          <p:cNvPr id="1266" name="Google Shape;1266;p73"/>
          <p:cNvGrpSpPr/>
          <p:nvPr/>
        </p:nvGrpSpPr>
        <p:grpSpPr>
          <a:xfrm>
            <a:off x="50480" y="122879"/>
            <a:ext cx="277873" cy="68400"/>
            <a:chOff x="411700" y="2416840"/>
            <a:chExt cx="277873" cy="68400"/>
          </a:xfrm>
        </p:grpSpPr>
        <p:sp>
          <p:nvSpPr>
            <p:cNvPr id="1267" name="Google Shape;1267;p73"/>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8" name="Google Shape;1268;p73"/>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9" name="Google Shape;1269;p73"/>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70" name="Google Shape;1270;p73"/>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Solution</a:t>
            </a:r>
            <a:endParaRPr sz="4400">
              <a:solidFill>
                <a:schemeClr val="dk1"/>
              </a:solidFill>
              <a:latin typeface="Calibri"/>
              <a:ea typeface="Calibri"/>
              <a:cs typeface="Calibri"/>
              <a:sym typeface="Calibri"/>
            </a:endParaRPr>
          </a:p>
        </p:txBody>
      </p:sp>
      <p:sp>
        <p:nvSpPr>
          <p:cNvPr id="1271" name="Google Shape;1271;p73"/>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72" name="Google Shape;1272;p73"/>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pic>
        <p:nvPicPr>
          <p:cNvPr id="1273" name="Google Shape;1273;p73" title="253B1B5E-4815-4BD3-ACA1-4F89DF189E72.jpeg"/>
          <p:cNvPicPr preferRelativeResize="0"/>
          <p:nvPr/>
        </p:nvPicPr>
        <p:blipFill>
          <a:blip r:embed="rId4">
            <a:alphaModFix/>
          </a:blip>
          <a:stretch>
            <a:fillRect/>
          </a:stretch>
        </p:blipFill>
        <p:spPr>
          <a:xfrm>
            <a:off x="10375" y="969111"/>
            <a:ext cx="9144001" cy="3744053"/>
          </a:xfrm>
          <a:prstGeom prst="rect">
            <a:avLst/>
          </a:prstGeom>
          <a:noFill/>
          <a:ln>
            <a:noFill/>
          </a:ln>
        </p:spPr>
      </p:pic>
      <p:sp>
        <p:nvSpPr>
          <p:cNvPr id="1274" name="Google Shape;1274;p73"/>
          <p:cNvSpPr txBox="1"/>
          <p:nvPr/>
        </p:nvSpPr>
        <p:spPr>
          <a:xfrm>
            <a:off x="2408875" y="16662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
        <p:nvSpPr>
          <p:cNvPr id="1275" name="Google Shape;1275;p73"/>
          <p:cNvSpPr txBox="1"/>
          <p:nvPr/>
        </p:nvSpPr>
        <p:spPr>
          <a:xfrm>
            <a:off x="2626500" y="166622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76" name="Google Shape;1276;p73"/>
          <p:cNvSpPr txBox="1"/>
          <p:nvPr/>
        </p:nvSpPr>
        <p:spPr>
          <a:xfrm>
            <a:off x="2566475" y="317007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2</a:t>
            </a:r>
            <a:endParaRPr sz="1200">
              <a:solidFill>
                <a:schemeClr val="dk2"/>
              </a:solidFill>
            </a:endParaRPr>
          </a:p>
        </p:txBody>
      </p:sp>
      <p:sp>
        <p:nvSpPr>
          <p:cNvPr id="1277" name="Google Shape;1277;p73"/>
          <p:cNvSpPr txBox="1"/>
          <p:nvPr/>
        </p:nvSpPr>
        <p:spPr>
          <a:xfrm>
            <a:off x="2371050" y="3170075"/>
            <a:ext cx="320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4</a:t>
            </a:r>
            <a:endParaRPr sz="1200">
              <a:solidFill>
                <a:schemeClr val="dk2"/>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74"/>
          <p:cNvSpPr/>
          <p:nvPr/>
        </p:nvSpPr>
        <p:spPr>
          <a:xfrm>
            <a:off x="0" y="25350"/>
            <a:ext cx="9144000" cy="4906800"/>
          </a:xfrm>
          <a:prstGeom prst="roundRect">
            <a:avLst>
              <a:gd fmla="val 2852" name="adj"/>
            </a:avLst>
          </a:prstGeom>
          <a:solidFill>
            <a:srgbClr val="FFFFFF"/>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83" name="Google Shape;1283;p74"/>
          <p:cNvPicPr preferRelativeResize="0"/>
          <p:nvPr/>
        </p:nvPicPr>
        <p:blipFill>
          <a:blip r:embed="rId3">
            <a:alphaModFix/>
          </a:blip>
          <a:stretch>
            <a:fillRect/>
          </a:stretch>
        </p:blipFill>
        <p:spPr>
          <a:xfrm>
            <a:off x="8507451" y="76200"/>
            <a:ext cx="560349" cy="514126"/>
          </a:xfrm>
          <a:prstGeom prst="rect">
            <a:avLst/>
          </a:prstGeom>
          <a:noFill/>
          <a:ln>
            <a:noFill/>
          </a:ln>
        </p:spPr>
      </p:pic>
      <p:sp>
        <p:nvSpPr>
          <p:cNvPr id="1284" name="Google Shape;1284;p74"/>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rgbClr val="595959"/>
                </a:solidFill>
              </a:rPr>
              <a:t>‹#›</a:t>
            </a:fld>
            <a:endParaRPr sz="1000">
              <a:solidFill>
                <a:srgbClr val="595959"/>
              </a:solidFill>
            </a:endParaRPr>
          </a:p>
        </p:txBody>
      </p:sp>
      <p:sp>
        <p:nvSpPr>
          <p:cNvPr id="1285" name="Google Shape;1285;p74"/>
          <p:cNvSpPr txBox="1"/>
          <p:nvPr/>
        </p:nvSpPr>
        <p:spPr>
          <a:xfrm>
            <a:off x="256650" y="972850"/>
            <a:ext cx="8428500" cy="12375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 sz="1900">
                <a:solidFill>
                  <a:schemeClr val="dk1"/>
                </a:solidFill>
                <a:latin typeface="Lexend"/>
                <a:ea typeface="Lexend"/>
                <a:cs typeface="Lexend"/>
                <a:sym typeface="Lexend"/>
              </a:rPr>
              <a:t>Design a 19 person voting system using encoder(s) and decoder(s) and parallel adder(s). You can not use full adders. Meaning, for the inputs, you MUST use encoder(s) and decoder(s) as required. Make sure your circuit is optimized.</a:t>
            </a:r>
            <a:endParaRPr sz="1900">
              <a:solidFill>
                <a:schemeClr val="dk1"/>
              </a:solidFill>
              <a:latin typeface="Lexend"/>
              <a:ea typeface="Lexend"/>
              <a:cs typeface="Lexend"/>
              <a:sym typeface="Lexend"/>
            </a:endParaRPr>
          </a:p>
        </p:txBody>
      </p:sp>
      <p:grpSp>
        <p:nvGrpSpPr>
          <p:cNvPr id="1286" name="Google Shape;1286;p74"/>
          <p:cNvGrpSpPr/>
          <p:nvPr/>
        </p:nvGrpSpPr>
        <p:grpSpPr>
          <a:xfrm>
            <a:off x="50480" y="122879"/>
            <a:ext cx="277873" cy="68400"/>
            <a:chOff x="411700" y="2416840"/>
            <a:chExt cx="277873" cy="68400"/>
          </a:xfrm>
        </p:grpSpPr>
        <p:sp>
          <p:nvSpPr>
            <p:cNvPr id="1287" name="Google Shape;1287;p74"/>
            <p:cNvSpPr/>
            <p:nvPr/>
          </p:nvSpPr>
          <p:spPr>
            <a:xfrm>
              <a:off x="411700" y="2416840"/>
              <a:ext cx="68400" cy="68400"/>
            </a:xfrm>
            <a:prstGeom prst="ellipse">
              <a:avLst/>
            </a:prstGeom>
            <a:solidFill>
              <a:srgbClr val="FF6B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8" name="Google Shape;1288;p74"/>
            <p:cNvSpPr/>
            <p:nvPr/>
          </p:nvSpPr>
          <p:spPr>
            <a:xfrm>
              <a:off x="516436" y="2416840"/>
              <a:ext cx="68400" cy="68400"/>
            </a:xfrm>
            <a:prstGeom prst="ellipse">
              <a:avLst/>
            </a:prstGeom>
            <a:solidFill>
              <a:srgbClr val="FFC6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9" name="Google Shape;1289;p74"/>
            <p:cNvSpPr/>
            <p:nvPr/>
          </p:nvSpPr>
          <p:spPr>
            <a:xfrm>
              <a:off x="621173" y="2416840"/>
              <a:ext cx="68400" cy="68400"/>
            </a:xfrm>
            <a:prstGeom prst="ellipse">
              <a:avLst/>
            </a:prstGeom>
            <a:solidFill>
              <a:srgbClr val="28C84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90" name="Google Shape;1290;p74"/>
          <p:cNvSpPr txBox="1"/>
          <p:nvPr/>
        </p:nvSpPr>
        <p:spPr>
          <a:xfrm>
            <a:off x="209775" y="163775"/>
            <a:ext cx="9045900" cy="79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4400">
                <a:solidFill>
                  <a:schemeClr val="dk1"/>
                </a:solidFill>
                <a:latin typeface="Calibri"/>
                <a:ea typeface="Calibri"/>
                <a:cs typeface="Calibri"/>
                <a:sym typeface="Calibri"/>
              </a:rPr>
              <a:t>Try Yourself</a:t>
            </a:r>
            <a:r>
              <a:rPr lang="en" sz="4400">
                <a:solidFill>
                  <a:schemeClr val="dk1"/>
                </a:solidFill>
                <a:latin typeface="Calibri"/>
                <a:ea typeface="Calibri"/>
                <a:cs typeface="Calibri"/>
                <a:sym typeface="Calibri"/>
              </a:rPr>
              <a:t>!</a:t>
            </a:r>
            <a:endParaRPr sz="4400">
              <a:solidFill>
                <a:schemeClr val="dk1"/>
              </a:solidFill>
              <a:latin typeface="Calibri"/>
              <a:ea typeface="Calibri"/>
              <a:cs typeface="Calibri"/>
              <a:sym typeface="Calibri"/>
            </a:endParaRPr>
          </a:p>
        </p:txBody>
      </p:sp>
      <p:sp>
        <p:nvSpPr>
          <p:cNvPr id="1291" name="Google Shape;1291;p74"/>
          <p:cNvSpPr txBox="1"/>
          <p:nvPr/>
        </p:nvSpPr>
        <p:spPr>
          <a:xfrm>
            <a:off x="0" y="4876800"/>
            <a:ext cx="5062200" cy="3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4F4F4F"/>
                </a:solidFill>
                <a:latin typeface="Lexend Light"/>
                <a:ea typeface="Lexend Light"/>
                <a:cs typeface="Lexend Light"/>
                <a:sym typeface="Lexend Light"/>
              </a:rPr>
              <a:t>Department of Computer Science and Engineering</a:t>
            </a:r>
            <a:endParaRPr b="1" sz="900">
              <a:solidFill>
                <a:srgbClr val="4F4F4F"/>
              </a:solidFill>
              <a:latin typeface="Lexend"/>
              <a:ea typeface="Lexend"/>
              <a:cs typeface="Lexend"/>
              <a:sym typeface="Lexend"/>
            </a:endParaRPr>
          </a:p>
        </p:txBody>
      </p:sp>
      <p:sp>
        <p:nvSpPr>
          <p:cNvPr id="1292" name="Google Shape;1292;p74"/>
          <p:cNvSpPr txBox="1"/>
          <p:nvPr/>
        </p:nvSpPr>
        <p:spPr>
          <a:xfrm>
            <a:off x="2946600" y="4883850"/>
            <a:ext cx="32508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900">
                <a:solidFill>
                  <a:srgbClr val="4F4F4F"/>
                </a:solidFill>
                <a:latin typeface="Lexend"/>
                <a:ea typeface="Lexend"/>
                <a:cs typeface="Lexend"/>
                <a:sym typeface="Lexend"/>
              </a:rPr>
              <a:t>CSE260 - Digital Logic Design</a:t>
            </a:r>
            <a:endParaRPr sz="900">
              <a:solidFill>
                <a:srgbClr val="4F4F4F"/>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